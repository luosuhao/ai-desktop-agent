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5.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16667973" r:id="rId3"/>
    <p:sldId id="16667974" r:id="rId4"/>
    <p:sldId id="16667975" r:id="rId5"/>
    <p:sldId id="16667976" r:id="rId6"/>
    <p:sldId id="16667977" r:id="rId7"/>
    <p:sldId id="16667979" r:id="rId8"/>
    <p:sldId id="16667978" r:id="rId9"/>
    <p:sldId id="16667980" r:id="rId10"/>
    <p:sldId id="16667981" r:id="rId11"/>
    <p:sldId id="16667982" r:id="rId12"/>
    <p:sldId id="16667983" r:id="rId13"/>
    <p:sldId id="16667984" r:id="rId14"/>
    <p:sldId id="16667985" r:id="rId15"/>
    <p:sldId id="16667986" r:id="rId16"/>
    <p:sldId id="16667987" r:id="rId17"/>
    <p:sldId id="16667988" r:id="rId18"/>
    <p:sldId id="16667989" r:id="rId19"/>
    <p:sldId id="16667990" r:id="rId20"/>
    <p:sldId id="16667991" r:id="rId21"/>
    <p:sldId id="16667992" r:id="rId22"/>
    <p:sldId id="16667993" r:id="rId23"/>
    <p:sldId id="16667994" r:id="rId24"/>
    <p:sldId id="16667995" r:id="rId25"/>
    <p:sldId id="16667996" r:id="rId26"/>
    <p:sldId id="16667997" r:id="rId27"/>
    <p:sldId id="16667998" r:id="rId28"/>
    <p:sldId id="16667999"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93" userDrawn="1">
          <p15:clr>
            <a:srgbClr val="A4A3A4"/>
          </p15:clr>
        </p15:guide>
        <p15:guide id="2" pos="7265" userDrawn="1">
          <p15:clr>
            <a:srgbClr val="A4A3A4"/>
          </p15:clr>
        </p15:guide>
        <p15:guide id="3" orient="horz" pos="648" userDrawn="1">
          <p15:clr>
            <a:srgbClr val="A4A3A4"/>
          </p15:clr>
        </p15:guide>
        <p15:guide id="4" orient="horz" pos="712" userDrawn="1">
          <p15:clr>
            <a:srgbClr val="A4A3A4"/>
          </p15:clr>
        </p15:guide>
        <p15:guide id="5" orient="horz" pos="3929" userDrawn="1">
          <p15:clr>
            <a:srgbClr val="A4A3A4"/>
          </p15:clr>
        </p15:guide>
        <p15:guide id="6" orient="horz" pos="386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蒙思" initials="王蒙思"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0117"/>
    <a:srgbClr val="B5B5B5"/>
    <a:srgbClr val="8F8E8F"/>
    <a:srgbClr val="7D373C"/>
    <a:srgbClr val="9E0116"/>
    <a:srgbClr val="D9D9D9"/>
    <a:srgbClr val="898989"/>
    <a:srgbClr val="F2F2F2"/>
    <a:srgbClr val="A3B4DC"/>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640" autoAdjust="0"/>
  </p:normalViewPr>
  <p:slideViewPr>
    <p:cSldViewPr snapToGrid="0" showGuides="1">
      <p:cViewPr>
        <p:scale>
          <a:sx n="100" d="100"/>
          <a:sy n="100" d="100"/>
        </p:scale>
        <p:origin x="260" y="-124"/>
      </p:cViewPr>
      <p:guideLst>
        <p:guide pos="393"/>
        <p:guide pos="7265"/>
        <p:guide orient="horz" pos="648"/>
        <p:guide orient="horz" pos="712"/>
        <p:guide orient="horz" pos="3929"/>
        <p:guide orient="horz" pos="3861"/>
      </p:guideLst>
    </p:cSldViewPr>
  </p:slideViewPr>
  <p:outlineViewPr>
    <p:cViewPr>
      <p:scale>
        <a:sx n="33" d="100"/>
        <a:sy n="33" d="100"/>
      </p:scale>
      <p:origin x="0" y="-468"/>
    </p:cViewPr>
  </p:outlineViewPr>
  <p:notesTextViewPr>
    <p:cViewPr>
      <p:scale>
        <a:sx n="1" d="1"/>
        <a:sy n="1" d="1"/>
      </p:scale>
      <p:origin x="0" y="0"/>
    </p:cViewPr>
  </p:notesTextViewPr>
  <p:sorterViewPr>
    <p:cViewPr varScale="1">
      <p:scale>
        <a:sx n="1" d="1"/>
        <a:sy n="1" d="1"/>
      </p:scale>
      <p:origin x="0" y="-1118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commentAuthors" Target="commentAuthors.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582A3D24-6083-4546-8C6D-DEE86BAAAE49}" type="datetimeFigureOut">
              <a:rPr lang="zh-CN" altLang="en-US" smtClean="0"/>
            </a:fld>
            <a:endParaRPr lang="zh-CN" alt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A3ED8765-8EF3-408C-9341-152904E414ED}"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svg"/><Relationship Id="rId7" Type="http://schemas.openxmlformats.org/officeDocument/2006/relationships/image" Target="../media/image6.png"/><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svg"/><Relationship Id="rId7" Type="http://schemas.openxmlformats.org/officeDocument/2006/relationships/image" Target="../media/image6.png"/><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image" Target="../media/image10.png"/><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7" Type="http://schemas.openxmlformats.org/officeDocument/2006/relationships/image" Target="../media/image8.png"/><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image" Target="../media/image19.jpe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0"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封面">
    <p:spTree>
      <p:nvGrpSpPr>
        <p:cNvPr id="1" name=""/>
        <p:cNvGrpSpPr/>
        <p:nvPr/>
      </p:nvGrpSpPr>
      <p:grpSpPr>
        <a:xfrm>
          <a:off x="0" y="0"/>
          <a:ext cx="0" cy="0"/>
          <a:chOff x="0" y="0"/>
          <a:chExt cx="0" cy="0"/>
        </a:xfrm>
      </p:grpSpPr>
      <p:pic>
        <p:nvPicPr>
          <p:cNvPr id="82" name="图片 81"/>
          <p:cNvPicPr>
            <a:picLocks noChangeAspect="1"/>
          </p:cNvPicPr>
          <p:nvPr userDrawn="1"/>
        </p:nvPicPr>
        <p:blipFill rotWithShape="1">
          <a:blip r:embed="rId2"/>
          <a:srcRect b="32181"/>
          <a:stretch>
            <a:fillRect/>
          </a:stretch>
        </p:blipFill>
        <p:spPr>
          <a:xfrm>
            <a:off x="8953126" y="4278003"/>
            <a:ext cx="1103472" cy="2579997"/>
          </a:xfrm>
          <a:prstGeom prst="rect">
            <a:avLst/>
          </a:prstGeom>
        </p:spPr>
      </p:pic>
      <p:pic>
        <p:nvPicPr>
          <p:cNvPr id="49" name="图片 48"/>
          <p:cNvPicPr>
            <a:picLocks noChangeAspect="1"/>
          </p:cNvPicPr>
          <p:nvPr userDrawn="1"/>
        </p:nvPicPr>
        <p:blipFill>
          <a:blip r:embed="rId3"/>
          <a:srcRect b="51003"/>
          <a:stretch>
            <a:fillRect/>
          </a:stretch>
        </p:blipFill>
        <p:spPr>
          <a:xfrm>
            <a:off x="9758754" y="6141093"/>
            <a:ext cx="2432515" cy="716907"/>
          </a:xfrm>
          <a:custGeom>
            <a:avLst/>
            <a:gdLst>
              <a:gd name="connsiteX0" fmla="*/ 0 w 2432515"/>
              <a:gd name="connsiteY0" fmla="*/ 0 h 716907"/>
              <a:gd name="connsiteX1" fmla="*/ 2432515 w 2432515"/>
              <a:gd name="connsiteY1" fmla="*/ 0 h 716907"/>
              <a:gd name="connsiteX2" fmla="*/ 2432515 w 2432515"/>
              <a:gd name="connsiteY2" fmla="*/ 716907 h 716907"/>
              <a:gd name="connsiteX3" fmla="*/ 0 w 2432515"/>
              <a:gd name="connsiteY3" fmla="*/ 716907 h 716907"/>
            </a:gdLst>
            <a:ahLst/>
            <a:cxnLst>
              <a:cxn ang="0">
                <a:pos x="connsiteX0" y="connsiteY0"/>
              </a:cxn>
              <a:cxn ang="0">
                <a:pos x="connsiteX1" y="connsiteY1"/>
              </a:cxn>
              <a:cxn ang="0">
                <a:pos x="connsiteX2" y="connsiteY2"/>
              </a:cxn>
              <a:cxn ang="0">
                <a:pos x="connsiteX3" y="connsiteY3"/>
              </a:cxn>
            </a:cxnLst>
            <a:rect l="l" t="t" r="r" b="b"/>
            <a:pathLst>
              <a:path w="2432515" h="716907">
                <a:moveTo>
                  <a:pt x="0" y="0"/>
                </a:moveTo>
                <a:lnTo>
                  <a:pt x="2432515" y="0"/>
                </a:lnTo>
                <a:lnTo>
                  <a:pt x="2432515" y="716907"/>
                </a:lnTo>
                <a:lnTo>
                  <a:pt x="0" y="716907"/>
                </a:lnTo>
                <a:close/>
              </a:path>
            </a:pathLst>
          </a:custGeom>
        </p:spPr>
      </p:pic>
      <p:pic>
        <p:nvPicPr>
          <p:cNvPr id="43" name="图片 42"/>
          <p:cNvPicPr>
            <a:picLocks noChangeAspect="1"/>
          </p:cNvPicPr>
          <p:nvPr userDrawn="1"/>
        </p:nvPicPr>
        <p:blipFill rotWithShape="1">
          <a:blip r:embed="rId4"/>
          <a:srcRect l="61" t="46981" b="36176"/>
          <a:stretch>
            <a:fillRect/>
          </a:stretch>
        </p:blipFill>
        <p:spPr>
          <a:xfrm>
            <a:off x="0" y="6134078"/>
            <a:ext cx="12191765" cy="723922"/>
          </a:xfrm>
          <a:custGeom>
            <a:avLst/>
            <a:gdLst>
              <a:gd name="connsiteX0" fmla="*/ 0 w 12191765"/>
              <a:gd name="connsiteY0" fmla="*/ 0 h 2743202"/>
              <a:gd name="connsiteX1" fmla="*/ 12191765 w 12191765"/>
              <a:gd name="connsiteY1" fmla="*/ 0 h 2743202"/>
              <a:gd name="connsiteX2" fmla="*/ 12191765 w 12191765"/>
              <a:gd name="connsiteY2" fmla="*/ 2743202 h 2743202"/>
              <a:gd name="connsiteX3" fmla="*/ 0 w 12191765"/>
              <a:gd name="connsiteY3" fmla="*/ 2743202 h 2743202"/>
            </a:gdLst>
            <a:ahLst/>
            <a:cxnLst>
              <a:cxn ang="0">
                <a:pos x="connsiteX0" y="connsiteY0"/>
              </a:cxn>
              <a:cxn ang="0">
                <a:pos x="connsiteX1" y="connsiteY1"/>
              </a:cxn>
              <a:cxn ang="0">
                <a:pos x="connsiteX2" y="connsiteY2"/>
              </a:cxn>
              <a:cxn ang="0">
                <a:pos x="connsiteX3" y="connsiteY3"/>
              </a:cxn>
            </a:cxnLst>
            <a:rect l="l" t="t" r="r" b="b"/>
            <a:pathLst>
              <a:path w="12191765" h="2743202">
                <a:moveTo>
                  <a:pt x="0" y="0"/>
                </a:moveTo>
                <a:lnTo>
                  <a:pt x="12191765" y="0"/>
                </a:lnTo>
                <a:lnTo>
                  <a:pt x="12191765" y="2743202"/>
                </a:lnTo>
                <a:lnTo>
                  <a:pt x="0" y="2743202"/>
                </a:lnTo>
                <a:close/>
              </a:path>
            </a:pathLst>
          </a:custGeom>
        </p:spPr>
      </p:pic>
      <p:sp>
        <p:nvSpPr>
          <p:cNvPr id="40" name="Subtitle 2"/>
          <p:cNvSpPr>
            <a:spLocks noGrp="1"/>
          </p:cNvSpPr>
          <p:nvPr>
            <p:ph type="subTitle" idx="1" hasCustomPrompt="1"/>
          </p:nvPr>
        </p:nvSpPr>
        <p:spPr>
          <a:xfrm>
            <a:off x="1010923" y="3232633"/>
            <a:ext cx="8414494" cy="451268"/>
          </a:xfrm>
        </p:spPr>
        <p:txBody>
          <a:bodyPr vert="horz" lIns="91440" tIns="72000" rIns="91440" bIns="45720" rtlCol="0" anchor="t" anchorCtr="0">
            <a:spAutoFit/>
          </a:bodyPr>
          <a:lstStyle>
            <a:lvl1pPr marL="0" indent="0" algn="l" defTabSz="914400" rtl="0" eaLnBrk="1" latinLnBrk="0" hangingPunct="1">
              <a:lnSpc>
                <a:spcPct val="90000"/>
              </a:lnSpc>
              <a:spcBef>
                <a:spcPts val="1000"/>
              </a:spcBef>
              <a:buFont typeface="Arial" panose="020B0604020202020204" pitchFamily="34" charset="0"/>
              <a:buNone/>
              <a:defRPr lang="en-US" altLang="zh-CN" sz="2400" kern="1200" dirty="0">
                <a:solidFill>
                  <a:schemeClr val="tx1"/>
                </a:solidFill>
                <a:latin typeface="+mn-lt"/>
                <a:ea typeface="+mn-ea"/>
                <a:cs typeface="+mn-cs"/>
              </a:defRPr>
            </a:lvl1pPr>
          </a:lstStyle>
          <a:p>
            <a:pPr marL="0" indent="0">
              <a:buNone/>
            </a:pPr>
            <a:r>
              <a:rPr lang="zh-CN" altLang="en-US" sz="2400" dirty="0"/>
              <a:t>单击此处添加副标题 </a:t>
            </a:r>
            <a:r>
              <a:rPr lang="en-US" altLang="zh-CN" sz="2400" dirty="0"/>
              <a:t>-24pt</a:t>
            </a:r>
            <a:endParaRPr lang="en-US" altLang="zh-CN" sz="2400" dirty="0"/>
          </a:p>
        </p:txBody>
      </p:sp>
      <p:pic>
        <p:nvPicPr>
          <p:cNvPr id="63" name="图形 62"/>
          <p:cNvPicPr>
            <a:picLocks noChangeAspect="1"/>
          </p:cNvPicPr>
          <p:nvPr userDrawn="1"/>
        </p:nvPicPr>
        <p:blipFill>
          <a:blip r:embed="rId5">
            <a:alphaModFix amt="50000"/>
            <a:extLst>
              <a:ext uri="{96DAC541-7B7A-43D3-8B79-37D633B846F1}">
                <asvg:svgBlip xmlns:asvg="http://schemas.microsoft.com/office/drawing/2016/SVG/main" r:embed="rId6"/>
              </a:ext>
            </a:extLst>
          </a:blip>
          <a:stretch>
            <a:fillRect/>
          </a:stretch>
        </p:blipFill>
        <p:spPr>
          <a:xfrm>
            <a:off x="9758024" y="4758622"/>
            <a:ext cx="2433975" cy="1464098"/>
          </a:xfrm>
          <a:prstGeom prst="rect">
            <a:avLst/>
          </a:prstGeom>
        </p:spPr>
      </p:pic>
      <p:pic>
        <p:nvPicPr>
          <p:cNvPr id="64" name="图形 63"/>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619" y="3965767"/>
            <a:ext cx="8964636" cy="2270897"/>
          </a:xfrm>
          <a:prstGeom prst="rect">
            <a:avLst/>
          </a:prstGeom>
        </p:spPr>
      </p:pic>
      <p:sp>
        <p:nvSpPr>
          <p:cNvPr id="65" name="矩形 64"/>
          <p:cNvSpPr/>
          <p:nvPr userDrawn="1"/>
        </p:nvSpPr>
        <p:spPr>
          <a:xfrm>
            <a:off x="835661" y="1670164"/>
            <a:ext cx="72000" cy="198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占位符 5"/>
          <p:cNvSpPr>
            <a:spLocks noGrp="1"/>
          </p:cNvSpPr>
          <p:nvPr>
            <p:ph type="body" sz="quarter" idx="19" hasCustomPrompt="1"/>
          </p:nvPr>
        </p:nvSpPr>
        <p:spPr>
          <a:xfrm>
            <a:off x="1010923" y="1668046"/>
            <a:ext cx="8414494" cy="1478799"/>
          </a:xfrm>
        </p:spPr>
        <p:txBody>
          <a:bodyPr anchor="b" anchorCtr="0">
            <a:noAutofit/>
          </a:bodyPr>
          <a:lstStyle>
            <a:lvl1pPr marL="0" indent="0" algn="l" defTabSz="914400" rtl="0" eaLnBrk="1" latinLnBrk="0" hangingPunct="1">
              <a:lnSpc>
                <a:spcPct val="100000"/>
              </a:lnSpc>
              <a:buFontTx/>
              <a:buNone/>
              <a:defRPr lang="zh-CN" altLang="en-US" sz="4400" b="1" kern="1200" dirty="0">
                <a:solidFill>
                  <a:schemeClr val="accent1"/>
                </a:solidFill>
                <a:latin typeface="+mn-lt"/>
                <a:ea typeface="+mn-ea"/>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国泰基金管理有限公司</a:t>
            </a:r>
            <a:br>
              <a:rPr lang="zh-CN" altLang="en-US" dirty="0"/>
            </a:br>
            <a:r>
              <a:rPr lang="en-US" altLang="zh-CN" dirty="0"/>
              <a:t>PPT</a:t>
            </a:r>
            <a:r>
              <a:rPr lang="zh-CN" altLang="en-US" dirty="0"/>
              <a:t>应用标准模板</a:t>
            </a:r>
            <a:r>
              <a:rPr lang="en-US" altLang="zh-CN" dirty="0"/>
              <a:t>-44pt</a:t>
            </a:r>
            <a:endParaRPr lang="zh-CN" altLang="en-US" dirty="0"/>
          </a:p>
        </p:txBody>
      </p:sp>
      <p:sp>
        <p:nvSpPr>
          <p:cNvPr id="70" name="矩形 69"/>
          <p:cNvSpPr/>
          <p:nvPr userDrawn="1"/>
        </p:nvSpPr>
        <p:spPr>
          <a:xfrm>
            <a:off x="-7621" y="6177125"/>
            <a:ext cx="12199621" cy="680875"/>
          </a:xfrm>
          <a:prstGeom prst="rect">
            <a:avLst/>
          </a:prstGeom>
          <a:gradFill>
            <a:gsLst>
              <a:gs pos="77000">
                <a:schemeClr val="bg1"/>
              </a:gs>
              <a:gs pos="0">
                <a:schemeClr val="bg1">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userDrawn="1"/>
        </p:nvSpPr>
        <p:spPr>
          <a:xfrm>
            <a:off x="-3810" y="61340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黑暗中的标志&#10;&#10;描述已自动生成"/>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35661" y="539192"/>
            <a:ext cx="1744094" cy="48409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封面2">
    <p:spTree>
      <p:nvGrpSpPr>
        <p:cNvPr id="1" name=""/>
        <p:cNvGrpSpPr/>
        <p:nvPr/>
      </p:nvGrpSpPr>
      <p:grpSpPr>
        <a:xfrm>
          <a:off x="0" y="0"/>
          <a:ext cx="0" cy="0"/>
          <a:chOff x="0" y="0"/>
          <a:chExt cx="0" cy="0"/>
        </a:xfrm>
      </p:grpSpPr>
      <p:pic>
        <p:nvPicPr>
          <p:cNvPr id="82" name="图片 81"/>
          <p:cNvPicPr>
            <a:picLocks noChangeAspect="1"/>
          </p:cNvPicPr>
          <p:nvPr userDrawn="1"/>
        </p:nvPicPr>
        <p:blipFill rotWithShape="1">
          <a:blip r:embed="rId2"/>
          <a:srcRect b="32181"/>
          <a:stretch>
            <a:fillRect/>
          </a:stretch>
        </p:blipFill>
        <p:spPr>
          <a:xfrm>
            <a:off x="8953126" y="4278003"/>
            <a:ext cx="1103472" cy="2579997"/>
          </a:xfrm>
          <a:prstGeom prst="rect">
            <a:avLst/>
          </a:prstGeom>
        </p:spPr>
      </p:pic>
      <p:pic>
        <p:nvPicPr>
          <p:cNvPr id="49" name="图片 48"/>
          <p:cNvPicPr>
            <a:picLocks noChangeAspect="1"/>
          </p:cNvPicPr>
          <p:nvPr userDrawn="1"/>
        </p:nvPicPr>
        <p:blipFill>
          <a:blip r:embed="rId3"/>
          <a:srcRect b="51003"/>
          <a:stretch>
            <a:fillRect/>
          </a:stretch>
        </p:blipFill>
        <p:spPr>
          <a:xfrm>
            <a:off x="9758754" y="6141093"/>
            <a:ext cx="2432515" cy="716907"/>
          </a:xfrm>
          <a:custGeom>
            <a:avLst/>
            <a:gdLst>
              <a:gd name="connsiteX0" fmla="*/ 0 w 2432515"/>
              <a:gd name="connsiteY0" fmla="*/ 0 h 716907"/>
              <a:gd name="connsiteX1" fmla="*/ 2432515 w 2432515"/>
              <a:gd name="connsiteY1" fmla="*/ 0 h 716907"/>
              <a:gd name="connsiteX2" fmla="*/ 2432515 w 2432515"/>
              <a:gd name="connsiteY2" fmla="*/ 716907 h 716907"/>
              <a:gd name="connsiteX3" fmla="*/ 0 w 2432515"/>
              <a:gd name="connsiteY3" fmla="*/ 716907 h 716907"/>
            </a:gdLst>
            <a:ahLst/>
            <a:cxnLst>
              <a:cxn ang="0">
                <a:pos x="connsiteX0" y="connsiteY0"/>
              </a:cxn>
              <a:cxn ang="0">
                <a:pos x="connsiteX1" y="connsiteY1"/>
              </a:cxn>
              <a:cxn ang="0">
                <a:pos x="connsiteX2" y="connsiteY2"/>
              </a:cxn>
              <a:cxn ang="0">
                <a:pos x="connsiteX3" y="connsiteY3"/>
              </a:cxn>
            </a:cxnLst>
            <a:rect l="l" t="t" r="r" b="b"/>
            <a:pathLst>
              <a:path w="2432515" h="716907">
                <a:moveTo>
                  <a:pt x="0" y="0"/>
                </a:moveTo>
                <a:lnTo>
                  <a:pt x="2432515" y="0"/>
                </a:lnTo>
                <a:lnTo>
                  <a:pt x="2432515" y="716907"/>
                </a:lnTo>
                <a:lnTo>
                  <a:pt x="0" y="716907"/>
                </a:lnTo>
                <a:close/>
              </a:path>
            </a:pathLst>
          </a:custGeom>
        </p:spPr>
      </p:pic>
      <p:pic>
        <p:nvPicPr>
          <p:cNvPr id="43" name="图片 42"/>
          <p:cNvPicPr>
            <a:picLocks noChangeAspect="1"/>
          </p:cNvPicPr>
          <p:nvPr userDrawn="1"/>
        </p:nvPicPr>
        <p:blipFill rotWithShape="1">
          <a:blip r:embed="rId4"/>
          <a:srcRect l="61" t="46981" b="36176"/>
          <a:stretch>
            <a:fillRect/>
          </a:stretch>
        </p:blipFill>
        <p:spPr>
          <a:xfrm>
            <a:off x="0" y="6134078"/>
            <a:ext cx="12191765" cy="723922"/>
          </a:xfrm>
          <a:custGeom>
            <a:avLst/>
            <a:gdLst>
              <a:gd name="connsiteX0" fmla="*/ 0 w 12191765"/>
              <a:gd name="connsiteY0" fmla="*/ 0 h 2743202"/>
              <a:gd name="connsiteX1" fmla="*/ 12191765 w 12191765"/>
              <a:gd name="connsiteY1" fmla="*/ 0 h 2743202"/>
              <a:gd name="connsiteX2" fmla="*/ 12191765 w 12191765"/>
              <a:gd name="connsiteY2" fmla="*/ 2743202 h 2743202"/>
              <a:gd name="connsiteX3" fmla="*/ 0 w 12191765"/>
              <a:gd name="connsiteY3" fmla="*/ 2743202 h 2743202"/>
            </a:gdLst>
            <a:ahLst/>
            <a:cxnLst>
              <a:cxn ang="0">
                <a:pos x="connsiteX0" y="connsiteY0"/>
              </a:cxn>
              <a:cxn ang="0">
                <a:pos x="connsiteX1" y="connsiteY1"/>
              </a:cxn>
              <a:cxn ang="0">
                <a:pos x="connsiteX2" y="connsiteY2"/>
              </a:cxn>
              <a:cxn ang="0">
                <a:pos x="connsiteX3" y="connsiteY3"/>
              </a:cxn>
            </a:cxnLst>
            <a:rect l="l" t="t" r="r" b="b"/>
            <a:pathLst>
              <a:path w="12191765" h="2743202">
                <a:moveTo>
                  <a:pt x="0" y="0"/>
                </a:moveTo>
                <a:lnTo>
                  <a:pt x="12191765" y="0"/>
                </a:lnTo>
                <a:lnTo>
                  <a:pt x="12191765" y="2743202"/>
                </a:lnTo>
                <a:lnTo>
                  <a:pt x="0" y="2743202"/>
                </a:lnTo>
                <a:close/>
              </a:path>
            </a:pathLst>
          </a:custGeom>
        </p:spPr>
      </p:pic>
      <p:pic>
        <p:nvPicPr>
          <p:cNvPr id="63" name="图形 62"/>
          <p:cNvPicPr>
            <a:picLocks noChangeAspect="1"/>
          </p:cNvPicPr>
          <p:nvPr userDrawn="1"/>
        </p:nvPicPr>
        <p:blipFill>
          <a:blip r:embed="rId5">
            <a:alphaModFix amt="50000"/>
            <a:extLst>
              <a:ext uri="{96DAC541-7B7A-43D3-8B79-37D633B846F1}">
                <asvg:svgBlip xmlns:asvg="http://schemas.microsoft.com/office/drawing/2016/SVG/main" r:embed="rId6"/>
              </a:ext>
            </a:extLst>
          </a:blip>
          <a:stretch>
            <a:fillRect/>
          </a:stretch>
        </p:blipFill>
        <p:spPr>
          <a:xfrm>
            <a:off x="9758024" y="4758622"/>
            <a:ext cx="2433975" cy="1464098"/>
          </a:xfrm>
          <a:prstGeom prst="rect">
            <a:avLst/>
          </a:prstGeom>
        </p:spPr>
      </p:pic>
      <p:pic>
        <p:nvPicPr>
          <p:cNvPr id="64" name="图形 63"/>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619" y="3965767"/>
            <a:ext cx="8964636" cy="2270897"/>
          </a:xfrm>
          <a:prstGeom prst="rect">
            <a:avLst/>
          </a:prstGeom>
        </p:spPr>
      </p:pic>
      <p:sp>
        <p:nvSpPr>
          <p:cNvPr id="67" name="文本占位符 5"/>
          <p:cNvSpPr>
            <a:spLocks noGrp="1"/>
          </p:cNvSpPr>
          <p:nvPr>
            <p:ph type="body" sz="quarter" idx="19" hasCustomPrompt="1"/>
          </p:nvPr>
        </p:nvSpPr>
        <p:spPr>
          <a:xfrm>
            <a:off x="660400" y="1621612"/>
            <a:ext cx="10858500" cy="1260000"/>
          </a:xfrm>
        </p:spPr>
        <p:txBody>
          <a:bodyPr anchor="ctr" anchorCtr="0">
            <a:noAutofit/>
          </a:bodyPr>
          <a:lstStyle>
            <a:lvl1pPr marL="0" indent="0" algn="l" defTabSz="914400" rtl="0" eaLnBrk="1" latinLnBrk="0" hangingPunct="1">
              <a:lnSpc>
                <a:spcPct val="100000"/>
              </a:lnSpc>
              <a:buFontTx/>
              <a:buNone/>
              <a:defRPr lang="zh-CN" altLang="en-US" sz="5400" b="1" kern="1200" dirty="0">
                <a:solidFill>
                  <a:schemeClr val="accent1"/>
                </a:solidFill>
                <a:latin typeface="+mn-lt"/>
                <a:ea typeface="+mn-ea"/>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国泰基金管理有限公司</a:t>
            </a:r>
            <a:r>
              <a:rPr lang="en-US" altLang="zh-CN" dirty="0"/>
              <a:t>-44pt</a:t>
            </a:r>
            <a:endParaRPr lang="zh-CN" altLang="en-US" dirty="0"/>
          </a:p>
        </p:txBody>
      </p:sp>
      <p:sp>
        <p:nvSpPr>
          <p:cNvPr id="70" name="矩形 69"/>
          <p:cNvSpPr/>
          <p:nvPr userDrawn="1"/>
        </p:nvSpPr>
        <p:spPr>
          <a:xfrm>
            <a:off x="-7621" y="6177125"/>
            <a:ext cx="12199621" cy="680875"/>
          </a:xfrm>
          <a:prstGeom prst="rect">
            <a:avLst/>
          </a:prstGeom>
          <a:gradFill>
            <a:gsLst>
              <a:gs pos="77000">
                <a:schemeClr val="bg1"/>
              </a:gs>
              <a:gs pos="0">
                <a:schemeClr val="bg1">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userDrawn="1"/>
        </p:nvSpPr>
        <p:spPr>
          <a:xfrm>
            <a:off x="-3810" y="61340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黑暗中的标志&#10;&#10;描述已自动生成"/>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660400" y="507694"/>
            <a:ext cx="1744094" cy="48409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34" name="矩形 33"/>
          <p:cNvSpPr/>
          <p:nvPr userDrawn="1"/>
        </p:nvSpPr>
        <p:spPr>
          <a:xfrm>
            <a:off x="0" y="1"/>
            <a:ext cx="5424488" cy="62106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p:cNvPicPr>
            <a:picLocks noChangeAspect="1"/>
          </p:cNvPicPr>
          <p:nvPr userDrawn="1"/>
        </p:nvPicPr>
        <p:blipFill rotWithShape="1">
          <a:blip r:embed="rId2"/>
          <a:srcRect b="32181"/>
          <a:stretch>
            <a:fillRect/>
          </a:stretch>
        </p:blipFill>
        <p:spPr>
          <a:xfrm>
            <a:off x="2422533" y="4278003"/>
            <a:ext cx="1103472" cy="2579997"/>
          </a:xfrm>
          <a:prstGeom prst="rect">
            <a:avLst/>
          </a:prstGeom>
        </p:spPr>
      </p:pic>
      <p:pic>
        <p:nvPicPr>
          <p:cNvPr id="91" name="图片 90"/>
          <p:cNvPicPr>
            <a:picLocks noChangeAspect="1"/>
          </p:cNvPicPr>
          <p:nvPr userDrawn="1"/>
        </p:nvPicPr>
        <p:blipFill rotWithShape="1">
          <a:blip r:embed="rId3"/>
          <a:srcRect l="388" r="31460" b="30866"/>
          <a:stretch>
            <a:fillRect/>
          </a:stretch>
        </p:blipFill>
        <p:spPr>
          <a:xfrm>
            <a:off x="0" y="4114166"/>
            <a:ext cx="2409825" cy="2743834"/>
          </a:xfrm>
          <a:custGeom>
            <a:avLst/>
            <a:gdLst>
              <a:gd name="connsiteX0" fmla="*/ 0 w 3522220"/>
              <a:gd name="connsiteY0" fmla="*/ 0 h 2743834"/>
              <a:gd name="connsiteX1" fmla="*/ 3522220 w 3522220"/>
              <a:gd name="connsiteY1" fmla="*/ 0 h 2743834"/>
              <a:gd name="connsiteX2" fmla="*/ 3522220 w 3522220"/>
              <a:gd name="connsiteY2" fmla="*/ 2743834 h 2743834"/>
              <a:gd name="connsiteX3" fmla="*/ 0 w 3522220"/>
              <a:gd name="connsiteY3" fmla="*/ 2743834 h 2743834"/>
            </a:gdLst>
            <a:ahLst/>
            <a:cxnLst>
              <a:cxn ang="0">
                <a:pos x="connsiteX0" y="connsiteY0"/>
              </a:cxn>
              <a:cxn ang="0">
                <a:pos x="connsiteX1" y="connsiteY1"/>
              </a:cxn>
              <a:cxn ang="0">
                <a:pos x="connsiteX2" y="connsiteY2"/>
              </a:cxn>
              <a:cxn ang="0">
                <a:pos x="connsiteX3" y="connsiteY3"/>
              </a:cxn>
            </a:cxnLst>
            <a:rect l="l" t="t" r="r" b="b"/>
            <a:pathLst>
              <a:path w="3522220" h="2743834">
                <a:moveTo>
                  <a:pt x="0" y="0"/>
                </a:moveTo>
                <a:lnTo>
                  <a:pt x="3522220" y="0"/>
                </a:lnTo>
                <a:lnTo>
                  <a:pt x="3522220" y="2743834"/>
                </a:lnTo>
                <a:lnTo>
                  <a:pt x="0" y="2743834"/>
                </a:lnTo>
                <a:close/>
              </a:path>
            </a:pathLst>
          </a:custGeom>
        </p:spPr>
      </p:pic>
      <p:sp>
        <p:nvSpPr>
          <p:cNvPr id="35" name="矩形 34"/>
          <p:cNvSpPr/>
          <p:nvPr userDrawn="1"/>
        </p:nvSpPr>
        <p:spPr>
          <a:xfrm>
            <a:off x="660400" y="0"/>
            <a:ext cx="72000" cy="15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Content Placeholder 2"/>
          <p:cNvSpPr>
            <a:spLocks noGrp="1"/>
          </p:cNvSpPr>
          <p:nvPr>
            <p:ph type="body" sz="quarter" idx="28" hasCustomPrompt="1"/>
          </p:nvPr>
        </p:nvSpPr>
        <p:spPr>
          <a:xfrm>
            <a:off x="5795318" y="2046858"/>
            <a:ext cx="4320000" cy="432000"/>
          </a:xfrm>
        </p:spPr>
        <p:txBody>
          <a:bodyPr vert="horz" lIns="91440" tIns="90000" rIns="91440" bIns="90000" rtlCol="0" anchor="ctr" anchorCtr="0">
            <a:spAutoFit/>
          </a:bodyPr>
          <a:lstStyle>
            <a:lvl1pPr marL="228600" indent="0" algn="l" defTabSz="914400" rtl="0" eaLnBrk="1" latinLnBrk="0" hangingPunct="1">
              <a:lnSpc>
                <a:spcPct val="90000"/>
              </a:lnSpc>
              <a:spcBef>
                <a:spcPts val="1000"/>
              </a:spcBef>
              <a:buFont typeface="Arial" panose="020B0604020202020204" pitchFamily="34" charset="0"/>
              <a:buNone/>
              <a:defRPr lang="en-US" altLang="zh-CN" sz="1800" kern="1200" dirty="0">
                <a:solidFill>
                  <a:schemeClr val="tx1"/>
                </a:solidFill>
                <a:latin typeface="+mn-lt"/>
                <a:ea typeface="+mn-ea"/>
                <a:cs typeface="+mn-cs"/>
              </a:defRPr>
            </a:lvl1pPr>
          </a:lstStyle>
          <a:p>
            <a:pPr marL="0" lvl="0" indent="0">
              <a:lnSpc>
                <a:spcPct val="100000"/>
              </a:lnSpc>
              <a:spcBef>
                <a:spcPts val="0"/>
              </a:spcBef>
              <a:buFont typeface="+mj-lt"/>
              <a:buNone/>
            </a:pPr>
            <a:r>
              <a:rPr lang="zh-CN" altLang="en-US" dirty="0"/>
              <a:t>点击此处添加目录</a:t>
            </a:r>
            <a:r>
              <a:rPr lang="en-US" altLang="zh-CN" dirty="0"/>
              <a:t>-18pt</a:t>
            </a:r>
            <a:endParaRPr lang="en-US" altLang="zh-CN" dirty="0"/>
          </a:p>
        </p:txBody>
      </p:sp>
      <p:sp>
        <p:nvSpPr>
          <p:cNvPr id="40" name="文本占位符 10"/>
          <p:cNvSpPr>
            <a:spLocks noGrp="1"/>
          </p:cNvSpPr>
          <p:nvPr>
            <p:ph type="body" sz="quarter" idx="29" hasCustomPrompt="1"/>
          </p:nvPr>
        </p:nvSpPr>
        <p:spPr>
          <a:xfrm>
            <a:off x="5148840" y="2046858"/>
            <a:ext cx="540000" cy="432000"/>
          </a:xfrm>
          <a:solidFill>
            <a:schemeClr val="accent1"/>
          </a:solidFill>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2000" kern="1200" dirty="0">
                <a:solidFill>
                  <a:schemeClr val="bg1"/>
                </a:solidFill>
                <a:latin typeface="+mn-lt"/>
                <a:ea typeface="+mn-ea"/>
                <a:cs typeface="+mn-cs"/>
              </a:defRPr>
            </a:lvl1pPr>
          </a:lstStyle>
          <a:p>
            <a:pPr lvl="0"/>
            <a:r>
              <a:rPr lang="en-US" altLang="zh-CN" dirty="0"/>
              <a:t>01</a:t>
            </a:r>
            <a:endParaRPr lang="zh-CN" altLang="en-US" dirty="0"/>
          </a:p>
        </p:txBody>
      </p:sp>
      <p:sp>
        <p:nvSpPr>
          <p:cNvPr id="41" name="文本占位符 10"/>
          <p:cNvSpPr>
            <a:spLocks noGrp="1"/>
          </p:cNvSpPr>
          <p:nvPr>
            <p:ph type="body" sz="quarter" idx="30" hasCustomPrompt="1"/>
          </p:nvPr>
        </p:nvSpPr>
        <p:spPr>
          <a:xfrm>
            <a:off x="825232" y="1077944"/>
            <a:ext cx="1381413" cy="535531"/>
          </a:xfrm>
        </p:spPr>
        <p:txBody>
          <a:bodyPr anchor="b" anchorCtr="0">
            <a:sp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3200" b="1" kern="1200" dirty="0">
                <a:solidFill>
                  <a:schemeClr val="tx1"/>
                </a:solidFill>
                <a:latin typeface="+mn-lt"/>
                <a:ea typeface="+mn-ea"/>
                <a:cs typeface="+mn-cs"/>
              </a:defRPr>
            </a:lvl1pPr>
          </a:lstStyle>
          <a:p>
            <a:r>
              <a:rPr lang="zh-CN" altLang="en-US" sz="3200" b="1" dirty="0"/>
              <a:t>目 录</a:t>
            </a:r>
            <a:endParaRPr lang="zh-CN" altLang="en-US" sz="3200" b="1" dirty="0"/>
          </a:p>
        </p:txBody>
      </p:sp>
      <p:sp>
        <p:nvSpPr>
          <p:cNvPr id="44" name="文本占位符 4"/>
          <p:cNvSpPr>
            <a:spLocks noGrp="1"/>
          </p:cNvSpPr>
          <p:nvPr>
            <p:ph type="body" sz="quarter" idx="31" hasCustomPrompt="1"/>
          </p:nvPr>
        </p:nvSpPr>
        <p:spPr>
          <a:xfrm>
            <a:off x="1999733" y="1305698"/>
            <a:ext cx="2229367" cy="347957"/>
          </a:xfrm>
        </p:spPr>
        <p:txBody>
          <a:bodyPr vert="horz" wrap="square" lIns="91440" tIns="90000" rIns="91440" bIns="90000" rtlCol="0" anchor="ctr" anchorCtr="0">
            <a:spAutoFit/>
          </a:bodyPr>
          <a:lstStyle>
            <a:lvl1pPr marL="0" indent="0">
              <a:buNone/>
              <a:defRPr lang="en-US" altLang="zh-CN" sz="1200" spc="600" dirty="0">
                <a:solidFill>
                  <a:schemeClr val="bg1">
                    <a:lumMod val="65000"/>
                  </a:schemeClr>
                </a:solidFill>
              </a:defRPr>
            </a:lvl1pPr>
          </a:lstStyle>
          <a:p>
            <a:r>
              <a:rPr lang="en-US" altLang="zh-CN" sz="1200" spc="600" dirty="0">
                <a:solidFill>
                  <a:schemeClr val="bg1">
                    <a:lumMod val="65000"/>
                  </a:schemeClr>
                </a:solidFill>
              </a:rPr>
              <a:t>Contents</a:t>
            </a:r>
            <a:endParaRPr lang="zh-CN" altLang="en-US" sz="1200" spc="600" dirty="0">
              <a:solidFill>
                <a:schemeClr val="bg1">
                  <a:lumMod val="65000"/>
                </a:schemeClr>
              </a:solidFill>
            </a:endParaRPr>
          </a:p>
        </p:txBody>
      </p:sp>
      <p:sp>
        <p:nvSpPr>
          <p:cNvPr id="45" name="Content Placeholder 2"/>
          <p:cNvSpPr>
            <a:spLocks noGrp="1"/>
          </p:cNvSpPr>
          <p:nvPr>
            <p:ph type="body" sz="quarter" idx="32" hasCustomPrompt="1"/>
          </p:nvPr>
        </p:nvSpPr>
        <p:spPr>
          <a:xfrm>
            <a:off x="5795318" y="2777381"/>
            <a:ext cx="4320000" cy="432000"/>
          </a:xfrm>
        </p:spPr>
        <p:txBody>
          <a:bodyPr vert="horz" lIns="91440" tIns="90000" rIns="91440" bIns="90000" rtlCol="0" anchor="ctr" anchorCtr="0">
            <a:spAutoFit/>
          </a:bodyPr>
          <a:lstStyle>
            <a:lvl1pPr marL="228600" indent="0" algn="l" defTabSz="914400" rtl="0" eaLnBrk="1" latinLnBrk="0" hangingPunct="1">
              <a:lnSpc>
                <a:spcPct val="90000"/>
              </a:lnSpc>
              <a:spcBef>
                <a:spcPts val="1000"/>
              </a:spcBef>
              <a:buFont typeface="Arial" panose="020B0604020202020204" pitchFamily="34" charset="0"/>
              <a:buNone/>
              <a:defRPr lang="en-US" altLang="zh-CN" sz="1800" kern="1200" dirty="0">
                <a:solidFill>
                  <a:schemeClr val="tx1"/>
                </a:solidFill>
                <a:latin typeface="+mn-lt"/>
                <a:ea typeface="+mn-ea"/>
                <a:cs typeface="+mn-cs"/>
              </a:defRPr>
            </a:lvl1pPr>
          </a:lstStyle>
          <a:p>
            <a:pPr marL="0" lvl="0" indent="0">
              <a:lnSpc>
                <a:spcPct val="100000"/>
              </a:lnSpc>
              <a:spcBef>
                <a:spcPts val="0"/>
              </a:spcBef>
              <a:buFont typeface="+mj-lt"/>
              <a:buNone/>
            </a:pPr>
            <a:r>
              <a:rPr lang="zh-CN" altLang="en-US" dirty="0"/>
              <a:t>点击此处添加目录</a:t>
            </a:r>
            <a:r>
              <a:rPr lang="en-US" altLang="zh-CN" dirty="0"/>
              <a:t>-18pt</a:t>
            </a:r>
            <a:endParaRPr lang="en-US" altLang="zh-CN" dirty="0"/>
          </a:p>
        </p:txBody>
      </p:sp>
      <p:sp>
        <p:nvSpPr>
          <p:cNvPr id="48" name="文本占位符 10"/>
          <p:cNvSpPr>
            <a:spLocks noGrp="1"/>
          </p:cNvSpPr>
          <p:nvPr>
            <p:ph type="body" sz="quarter" idx="33" hasCustomPrompt="1"/>
          </p:nvPr>
        </p:nvSpPr>
        <p:spPr>
          <a:xfrm>
            <a:off x="5148840" y="2777381"/>
            <a:ext cx="540000" cy="432000"/>
          </a:xfrm>
          <a:solidFill>
            <a:schemeClr val="accent1"/>
          </a:solidFill>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2000" kern="1200" dirty="0">
                <a:solidFill>
                  <a:schemeClr val="bg1"/>
                </a:solidFill>
                <a:latin typeface="+mn-lt"/>
                <a:ea typeface="+mn-ea"/>
                <a:cs typeface="+mn-cs"/>
              </a:defRPr>
            </a:lvl1pPr>
          </a:lstStyle>
          <a:p>
            <a:pPr lvl="0"/>
            <a:r>
              <a:rPr lang="en-US" altLang="zh-CN" dirty="0"/>
              <a:t>02</a:t>
            </a:r>
            <a:endParaRPr lang="zh-CN" altLang="en-US" dirty="0"/>
          </a:p>
        </p:txBody>
      </p:sp>
      <p:sp>
        <p:nvSpPr>
          <p:cNvPr id="49" name="Content Placeholder 2"/>
          <p:cNvSpPr>
            <a:spLocks noGrp="1"/>
          </p:cNvSpPr>
          <p:nvPr>
            <p:ph type="body" sz="quarter" idx="34" hasCustomPrompt="1"/>
          </p:nvPr>
        </p:nvSpPr>
        <p:spPr>
          <a:xfrm>
            <a:off x="5795318" y="3507904"/>
            <a:ext cx="4320000" cy="432000"/>
          </a:xfrm>
        </p:spPr>
        <p:txBody>
          <a:bodyPr vert="horz" lIns="91440" tIns="90000" rIns="91440" bIns="90000" rtlCol="0" anchor="ctr" anchorCtr="0">
            <a:spAutoFit/>
          </a:bodyPr>
          <a:lstStyle>
            <a:lvl1pPr marL="228600" indent="0" algn="l" defTabSz="914400" rtl="0" eaLnBrk="1" latinLnBrk="0" hangingPunct="1">
              <a:lnSpc>
                <a:spcPct val="90000"/>
              </a:lnSpc>
              <a:spcBef>
                <a:spcPts val="1000"/>
              </a:spcBef>
              <a:buFont typeface="Arial" panose="020B0604020202020204" pitchFamily="34" charset="0"/>
              <a:buNone/>
              <a:defRPr lang="en-US" altLang="zh-CN" sz="1800" kern="1200" dirty="0">
                <a:solidFill>
                  <a:schemeClr val="tx1"/>
                </a:solidFill>
                <a:latin typeface="+mn-lt"/>
                <a:ea typeface="+mn-ea"/>
                <a:cs typeface="+mn-cs"/>
              </a:defRPr>
            </a:lvl1pPr>
          </a:lstStyle>
          <a:p>
            <a:pPr marL="0" lvl="0" indent="0">
              <a:lnSpc>
                <a:spcPct val="100000"/>
              </a:lnSpc>
              <a:spcBef>
                <a:spcPts val="0"/>
              </a:spcBef>
              <a:buFont typeface="+mj-lt"/>
              <a:buNone/>
            </a:pPr>
            <a:r>
              <a:rPr lang="zh-CN" altLang="en-US" dirty="0"/>
              <a:t>点击此处添加目录</a:t>
            </a:r>
            <a:r>
              <a:rPr lang="en-US" altLang="zh-CN" dirty="0"/>
              <a:t>-18pt</a:t>
            </a:r>
            <a:endParaRPr lang="en-US" altLang="zh-CN" dirty="0"/>
          </a:p>
        </p:txBody>
      </p:sp>
      <p:sp>
        <p:nvSpPr>
          <p:cNvPr id="51" name="文本占位符 10"/>
          <p:cNvSpPr>
            <a:spLocks noGrp="1"/>
          </p:cNvSpPr>
          <p:nvPr>
            <p:ph type="body" sz="quarter" idx="35" hasCustomPrompt="1"/>
          </p:nvPr>
        </p:nvSpPr>
        <p:spPr>
          <a:xfrm>
            <a:off x="5148840" y="3507904"/>
            <a:ext cx="540000" cy="432000"/>
          </a:xfrm>
          <a:solidFill>
            <a:schemeClr val="accent1"/>
          </a:solidFill>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2000" kern="1200" dirty="0">
                <a:solidFill>
                  <a:schemeClr val="bg1"/>
                </a:solidFill>
                <a:latin typeface="+mn-lt"/>
                <a:ea typeface="+mn-ea"/>
                <a:cs typeface="+mn-cs"/>
              </a:defRPr>
            </a:lvl1pPr>
          </a:lstStyle>
          <a:p>
            <a:pPr lvl="0"/>
            <a:r>
              <a:rPr lang="en-US" altLang="zh-CN" dirty="0"/>
              <a:t>03</a:t>
            </a:r>
            <a:endParaRPr lang="zh-CN" altLang="en-US" dirty="0"/>
          </a:p>
        </p:txBody>
      </p:sp>
      <p:sp>
        <p:nvSpPr>
          <p:cNvPr id="52" name="Content Placeholder 2"/>
          <p:cNvSpPr>
            <a:spLocks noGrp="1"/>
          </p:cNvSpPr>
          <p:nvPr>
            <p:ph type="body" sz="quarter" idx="36" hasCustomPrompt="1"/>
          </p:nvPr>
        </p:nvSpPr>
        <p:spPr>
          <a:xfrm>
            <a:off x="5795318" y="4238427"/>
            <a:ext cx="4320000" cy="432000"/>
          </a:xfrm>
        </p:spPr>
        <p:txBody>
          <a:bodyPr vert="horz" lIns="91440" tIns="90000" rIns="91440" bIns="90000" rtlCol="0" anchor="ctr" anchorCtr="0">
            <a:spAutoFit/>
          </a:bodyPr>
          <a:lstStyle>
            <a:lvl1pPr marL="228600" indent="0" algn="l" defTabSz="914400" rtl="0" eaLnBrk="1" latinLnBrk="0" hangingPunct="1">
              <a:lnSpc>
                <a:spcPct val="90000"/>
              </a:lnSpc>
              <a:spcBef>
                <a:spcPts val="1000"/>
              </a:spcBef>
              <a:buFont typeface="Arial" panose="020B0604020202020204" pitchFamily="34" charset="0"/>
              <a:buNone/>
              <a:defRPr lang="en-US" altLang="zh-CN" sz="1800" kern="1200" dirty="0">
                <a:solidFill>
                  <a:schemeClr val="tx1"/>
                </a:solidFill>
                <a:latin typeface="+mn-lt"/>
                <a:ea typeface="+mn-ea"/>
                <a:cs typeface="+mn-cs"/>
              </a:defRPr>
            </a:lvl1pPr>
          </a:lstStyle>
          <a:p>
            <a:pPr marL="0" lvl="0" indent="0">
              <a:lnSpc>
                <a:spcPct val="100000"/>
              </a:lnSpc>
              <a:spcBef>
                <a:spcPts val="0"/>
              </a:spcBef>
              <a:buFont typeface="+mj-lt"/>
              <a:buNone/>
            </a:pPr>
            <a:r>
              <a:rPr lang="zh-CN" altLang="en-US" dirty="0"/>
              <a:t>点击此处添加目录</a:t>
            </a:r>
            <a:r>
              <a:rPr lang="en-US" altLang="zh-CN" dirty="0"/>
              <a:t>-18pt</a:t>
            </a:r>
            <a:endParaRPr lang="en-US" altLang="zh-CN" dirty="0"/>
          </a:p>
        </p:txBody>
      </p:sp>
      <p:sp>
        <p:nvSpPr>
          <p:cNvPr id="53" name="文本占位符 10"/>
          <p:cNvSpPr>
            <a:spLocks noGrp="1"/>
          </p:cNvSpPr>
          <p:nvPr>
            <p:ph type="body" sz="quarter" idx="37" hasCustomPrompt="1"/>
          </p:nvPr>
        </p:nvSpPr>
        <p:spPr>
          <a:xfrm>
            <a:off x="5148840" y="4238427"/>
            <a:ext cx="540000" cy="432000"/>
          </a:xfrm>
          <a:solidFill>
            <a:schemeClr val="accent1"/>
          </a:solidFill>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2000" kern="1200" dirty="0">
                <a:solidFill>
                  <a:schemeClr val="bg1"/>
                </a:solidFill>
                <a:latin typeface="+mn-lt"/>
                <a:ea typeface="+mn-ea"/>
                <a:cs typeface="+mn-cs"/>
              </a:defRPr>
            </a:lvl1pPr>
          </a:lstStyle>
          <a:p>
            <a:pPr lvl="0"/>
            <a:r>
              <a:rPr lang="en-US" altLang="zh-CN" dirty="0"/>
              <a:t>04</a:t>
            </a:r>
            <a:endParaRPr lang="zh-CN" altLang="en-US" dirty="0"/>
          </a:p>
        </p:txBody>
      </p:sp>
      <p:sp>
        <p:nvSpPr>
          <p:cNvPr id="54" name="Content Placeholder 2"/>
          <p:cNvSpPr>
            <a:spLocks noGrp="1"/>
          </p:cNvSpPr>
          <p:nvPr>
            <p:ph type="body" sz="quarter" idx="38" hasCustomPrompt="1"/>
          </p:nvPr>
        </p:nvSpPr>
        <p:spPr>
          <a:xfrm>
            <a:off x="5795318" y="4968950"/>
            <a:ext cx="4320000" cy="432000"/>
          </a:xfrm>
        </p:spPr>
        <p:txBody>
          <a:bodyPr vert="horz" lIns="91440" tIns="90000" rIns="91440" bIns="90000" rtlCol="0" anchor="ctr" anchorCtr="0">
            <a:spAutoFit/>
          </a:bodyPr>
          <a:lstStyle>
            <a:lvl1pPr marL="228600" indent="0" algn="l" defTabSz="914400" rtl="0" eaLnBrk="1" latinLnBrk="0" hangingPunct="1">
              <a:lnSpc>
                <a:spcPct val="90000"/>
              </a:lnSpc>
              <a:spcBef>
                <a:spcPts val="1000"/>
              </a:spcBef>
              <a:buFont typeface="Arial" panose="020B0604020202020204" pitchFamily="34" charset="0"/>
              <a:buNone/>
              <a:defRPr lang="en-US" altLang="zh-CN" sz="1800" kern="1200" dirty="0">
                <a:solidFill>
                  <a:schemeClr val="tx1"/>
                </a:solidFill>
                <a:latin typeface="+mn-lt"/>
                <a:ea typeface="+mn-ea"/>
                <a:cs typeface="+mn-cs"/>
              </a:defRPr>
            </a:lvl1pPr>
          </a:lstStyle>
          <a:p>
            <a:pPr marL="0" lvl="0" indent="0">
              <a:lnSpc>
                <a:spcPct val="100000"/>
              </a:lnSpc>
              <a:spcBef>
                <a:spcPts val="0"/>
              </a:spcBef>
              <a:buFont typeface="+mj-lt"/>
              <a:buNone/>
            </a:pPr>
            <a:r>
              <a:rPr lang="zh-CN" altLang="en-US" dirty="0"/>
              <a:t>点击此处添加目录</a:t>
            </a:r>
            <a:r>
              <a:rPr lang="en-US" altLang="zh-CN" dirty="0"/>
              <a:t>-18pt</a:t>
            </a:r>
            <a:endParaRPr lang="en-US" altLang="zh-CN" dirty="0"/>
          </a:p>
        </p:txBody>
      </p:sp>
      <p:sp>
        <p:nvSpPr>
          <p:cNvPr id="55" name="文本占位符 10"/>
          <p:cNvSpPr>
            <a:spLocks noGrp="1"/>
          </p:cNvSpPr>
          <p:nvPr>
            <p:ph type="body" sz="quarter" idx="39" hasCustomPrompt="1"/>
          </p:nvPr>
        </p:nvSpPr>
        <p:spPr>
          <a:xfrm>
            <a:off x="5148840" y="4968950"/>
            <a:ext cx="540000" cy="432000"/>
          </a:xfrm>
          <a:solidFill>
            <a:schemeClr val="accent1"/>
          </a:solidFill>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2000" kern="1200" dirty="0">
                <a:solidFill>
                  <a:schemeClr val="bg1"/>
                </a:solidFill>
                <a:latin typeface="+mn-lt"/>
                <a:ea typeface="+mn-ea"/>
                <a:cs typeface="+mn-cs"/>
              </a:defRPr>
            </a:lvl1pPr>
          </a:lstStyle>
          <a:p>
            <a:pPr lvl="0"/>
            <a:r>
              <a:rPr lang="en-US" altLang="zh-CN" dirty="0"/>
              <a:t>05</a:t>
            </a:r>
            <a:endParaRPr lang="zh-CN" altLang="en-US" dirty="0"/>
          </a:p>
        </p:txBody>
      </p:sp>
      <p:pic>
        <p:nvPicPr>
          <p:cNvPr id="86" name="图形 85"/>
          <p:cNvPicPr>
            <a:picLocks noChangeAspect="1"/>
          </p:cNvPicPr>
          <p:nvPr userDrawn="1"/>
        </p:nvPicPr>
        <p:blipFill rotWithShape="1">
          <a:blip r:embed="rId4">
            <a:alphaModFix amt="50000"/>
            <a:extLst>
              <a:ext uri="{96DAC541-7B7A-43D3-8B79-37D633B846F1}">
                <asvg:svgBlip xmlns:asvg="http://schemas.microsoft.com/office/drawing/2016/SVG/main" r:embed="rId5"/>
              </a:ext>
            </a:extLst>
          </a:blip>
          <a:srcRect r="841"/>
          <a:stretch>
            <a:fillRect/>
          </a:stretch>
        </p:blipFill>
        <p:spPr>
          <a:xfrm>
            <a:off x="-3660" y="4758622"/>
            <a:ext cx="2413486" cy="1464098"/>
          </a:xfrm>
          <a:prstGeom prst="rect">
            <a:avLst/>
          </a:prstGeom>
        </p:spPr>
      </p:pic>
      <p:sp>
        <p:nvSpPr>
          <p:cNvPr id="88" name="矩形 87"/>
          <p:cNvSpPr/>
          <p:nvPr userDrawn="1"/>
        </p:nvSpPr>
        <p:spPr>
          <a:xfrm>
            <a:off x="0" y="6210616"/>
            <a:ext cx="12199621" cy="647384"/>
          </a:xfrm>
          <a:prstGeom prst="rect">
            <a:avLst/>
          </a:prstGeom>
          <a:gradFill>
            <a:gsLst>
              <a:gs pos="77000">
                <a:schemeClr val="bg1"/>
              </a:gs>
              <a:gs pos="0">
                <a:schemeClr val="bg1">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p:cNvSpPr/>
          <p:nvPr userDrawn="1"/>
        </p:nvSpPr>
        <p:spPr>
          <a:xfrm>
            <a:off x="0" y="61340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p:nvPr userDrawn="1"/>
        </p:nvCxnSpPr>
        <p:spPr>
          <a:xfrm>
            <a:off x="11531608" y="6522424"/>
            <a:ext cx="0" cy="180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Slide Number Placeholder 5"/>
          <p:cNvSpPr>
            <a:spLocks noGrp="1"/>
          </p:cNvSpPr>
          <p:nvPr>
            <p:ph type="sldNum" sz="quarter" idx="4"/>
          </p:nvPr>
        </p:nvSpPr>
        <p:spPr>
          <a:xfrm>
            <a:off x="11518900" y="6504474"/>
            <a:ext cx="673099" cy="215900"/>
          </a:xfrm>
          <a:prstGeom prst="rect">
            <a:avLst/>
          </a:prstGeom>
          <a:noFill/>
        </p:spPr>
        <p:txBody>
          <a:bodyPr anchor="ctr" anchorCtr="0"/>
          <a:lstStyle>
            <a:lvl1pPr marL="0" algn="l" defTabSz="914400" rtl="0" eaLnBrk="1" latinLnBrk="0" hangingPunct="1">
              <a:defRPr lang="en-US" altLang="zh-CN" sz="1000" kern="1200" smtClean="0">
                <a:solidFill>
                  <a:schemeClr val="tx2"/>
                </a:solidFill>
                <a:latin typeface="+mn-lt"/>
                <a:ea typeface="+mn-ea"/>
                <a:cs typeface="+mn-cs"/>
              </a:defRPr>
            </a:lvl1pPr>
          </a:lstStyle>
          <a:p>
            <a:fld id="{7F65B630-C7FF-41C0-9923-C5E5E29EED81}" type="slidenum">
              <a:rPr lang="de-DE" smtClean="0"/>
            </a:fld>
            <a:endParaRPr lang="de-DE" dirty="0"/>
          </a:p>
        </p:txBody>
      </p:sp>
      <p:pic>
        <p:nvPicPr>
          <p:cNvPr id="26" name="图片 25" descr="黑暗中的标志&#10;&#10;描述已自动生成"/>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745928" y="397821"/>
            <a:ext cx="1182485" cy="32821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章节页">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a:srcRect l="80" b="67282"/>
          <a:stretch>
            <a:fillRect/>
          </a:stretch>
        </p:blipFill>
        <p:spPr>
          <a:xfrm>
            <a:off x="0" y="6139918"/>
            <a:ext cx="8650130" cy="718082"/>
          </a:xfrm>
          <a:custGeom>
            <a:avLst/>
            <a:gdLst>
              <a:gd name="connsiteX0" fmla="*/ 0 w 8650130"/>
              <a:gd name="connsiteY0" fmla="*/ 0 h 718082"/>
              <a:gd name="connsiteX1" fmla="*/ 8650130 w 8650130"/>
              <a:gd name="connsiteY1" fmla="*/ 0 h 718082"/>
              <a:gd name="connsiteX2" fmla="*/ 8650130 w 8650130"/>
              <a:gd name="connsiteY2" fmla="*/ 718082 h 718082"/>
              <a:gd name="connsiteX3" fmla="*/ 0 w 8650130"/>
              <a:gd name="connsiteY3" fmla="*/ 718082 h 718082"/>
            </a:gdLst>
            <a:ahLst/>
            <a:cxnLst>
              <a:cxn ang="0">
                <a:pos x="connsiteX0" y="connsiteY0"/>
              </a:cxn>
              <a:cxn ang="0">
                <a:pos x="connsiteX1" y="connsiteY1"/>
              </a:cxn>
              <a:cxn ang="0">
                <a:pos x="connsiteX2" y="connsiteY2"/>
              </a:cxn>
              <a:cxn ang="0">
                <a:pos x="connsiteX3" y="connsiteY3"/>
              </a:cxn>
            </a:cxnLst>
            <a:rect l="l" t="t" r="r" b="b"/>
            <a:pathLst>
              <a:path w="8650130" h="718082">
                <a:moveTo>
                  <a:pt x="0" y="0"/>
                </a:moveTo>
                <a:lnTo>
                  <a:pt x="8650130" y="0"/>
                </a:lnTo>
                <a:lnTo>
                  <a:pt x="8650130" y="718082"/>
                </a:lnTo>
                <a:lnTo>
                  <a:pt x="0" y="718082"/>
                </a:lnTo>
                <a:close/>
              </a:path>
            </a:pathLst>
          </a:custGeom>
        </p:spPr>
      </p:pic>
      <p:sp>
        <p:nvSpPr>
          <p:cNvPr id="19" name="矩形 18"/>
          <p:cNvSpPr/>
          <p:nvPr userDrawn="1"/>
        </p:nvSpPr>
        <p:spPr>
          <a:xfrm flipH="1">
            <a:off x="3028950" y="1"/>
            <a:ext cx="9170670" cy="62106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形 21"/>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619" y="4043333"/>
            <a:ext cx="8658434" cy="2193331"/>
          </a:xfrm>
          <a:prstGeom prst="rect">
            <a:avLst/>
          </a:prstGeom>
        </p:spPr>
      </p:pic>
      <p:sp>
        <p:nvSpPr>
          <p:cNvPr id="23" name="矩形 22"/>
          <p:cNvSpPr/>
          <p:nvPr/>
        </p:nvSpPr>
        <p:spPr>
          <a:xfrm>
            <a:off x="-7621" y="6177125"/>
            <a:ext cx="12199621" cy="680875"/>
          </a:xfrm>
          <a:prstGeom prst="rect">
            <a:avLst/>
          </a:prstGeom>
          <a:gradFill>
            <a:gsLst>
              <a:gs pos="77000">
                <a:schemeClr val="bg1"/>
              </a:gs>
              <a:gs pos="0">
                <a:schemeClr val="bg1">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占位符 5"/>
          <p:cNvSpPr>
            <a:spLocks noGrp="1"/>
          </p:cNvSpPr>
          <p:nvPr userDrawn="1">
            <p:ph type="body" sz="quarter" idx="18" hasCustomPrompt="1"/>
          </p:nvPr>
        </p:nvSpPr>
        <p:spPr>
          <a:xfrm>
            <a:off x="2339706" y="2264208"/>
            <a:ext cx="1217882" cy="944166"/>
          </a:xfrm>
          <a:solidFill>
            <a:schemeClr val="accent1"/>
          </a:solidFill>
        </p:spPr>
        <p:txBody>
          <a:bodyPr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3200" b="1" kern="1200" dirty="0">
                <a:solidFill>
                  <a:schemeClr val="bg1"/>
                </a:solidFill>
                <a:latin typeface="+mn-lt"/>
                <a:ea typeface="+mn-ea"/>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01</a:t>
            </a:r>
            <a:endParaRPr lang="zh-CN" altLang="en-US" dirty="0"/>
          </a:p>
        </p:txBody>
      </p:sp>
      <p:sp>
        <p:nvSpPr>
          <p:cNvPr id="28" name="文本占位符 6"/>
          <p:cNvSpPr>
            <a:spLocks noGrp="1"/>
          </p:cNvSpPr>
          <p:nvPr userDrawn="1">
            <p:ph type="body" sz="quarter" idx="19" hasCustomPrompt="1"/>
          </p:nvPr>
        </p:nvSpPr>
        <p:spPr>
          <a:xfrm>
            <a:off x="4639171" y="3126382"/>
            <a:ext cx="6879729" cy="1566923"/>
          </a:xfrm>
        </p:spPr>
        <p:txBody>
          <a:bodyPr vert="horz" lIns="91440" tIns="45720" rIns="91440" bIns="45720" rtlCol="0">
            <a:noAutofit/>
          </a:bodyPr>
          <a:lstStyle>
            <a:lvl1pPr marL="0" indent="0">
              <a:buFont typeface="+mj-ea"/>
              <a:buAutoNum type="circleNumDbPlain"/>
              <a:defRPr lang="en-US" altLang="zh-CN" sz="1400" dirty="0"/>
            </a:lvl1pPr>
          </a:lstStyle>
          <a:p>
            <a:pPr marL="400050" lvl="0" indent="-400050" defTabSz="914400">
              <a:lnSpc>
                <a:spcPct val="120000"/>
              </a:lnSpc>
              <a:buFont typeface="+mj-ea"/>
              <a:buAutoNum type="ea1JpnChsDbPeriod"/>
            </a:pPr>
            <a:r>
              <a:rPr lang="zh-CN" altLang="en-US" dirty="0"/>
              <a:t>单击此处添加章节内容概况</a:t>
            </a:r>
            <a:r>
              <a:rPr lang="en-US" altLang="zh-CN" dirty="0"/>
              <a:t>-14pt</a:t>
            </a:r>
            <a:endParaRPr lang="zh-CN" altLang="en-US" dirty="0"/>
          </a:p>
          <a:p>
            <a:pPr marL="400050" lvl="0" indent="-400050" defTabSz="914400">
              <a:lnSpc>
                <a:spcPct val="120000"/>
              </a:lnSpc>
              <a:buFont typeface="+mj-ea"/>
              <a:buAutoNum type="ea1JpnChsDbPeriod"/>
            </a:pPr>
            <a:r>
              <a:rPr lang="zh-CN" altLang="en-US" dirty="0"/>
              <a:t>单击此处添加章节内容概况</a:t>
            </a:r>
            <a:endParaRPr lang="zh-CN" altLang="en-US" dirty="0"/>
          </a:p>
          <a:p>
            <a:pPr marL="400050" lvl="0" indent="-400050" defTabSz="914400">
              <a:lnSpc>
                <a:spcPct val="120000"/>
              </a:lnSpc>
              <a:buFont typeface="+mj-ea"/>
              <a:buAutoNum type="ea1JpnChsDbPeriod"/>
            </a:pPr>
            <a:r>
              <a:rPr lang="en-US" altLang="zh-CN" dirty="0"/>
              <a:t>……</a:t>
            </a:r>
            <a:endParaRPr lang="en-US" altLang="zh-CN" dirty="0"/>
          </a:p>
          <a:p>
            <a:pPr marL="400050" lvl="0" indent="-400050" defTabSz="914400">
              <a:lnSpc>
                <a:spcPct val="120000"/>
              </a:lnSpc>
              <a:buFont typeface="+mj-ea"/>
              <a:buAutoNum type="ea1JpnChsDbPeriod"/>
            </a:pPr>
            <a:endParaRPr lang="en-US" altLang="zh-CN" dirty="0"/>
          </a:p>
        </p:txBody>
      </p:sp>
      <p:sp>
        <p:nvSpPr>
          <p:cNvPr id="29" name="标题 1"/>
          <p:cNvSpPr>
            <a:spLocks noGrp="1"/>
          </p:cNvSpPr>
          <p:nvPr userDrawn="1">
            <p:ph type="title" hasCustomPrompt="1"/>
          </p:nvPr>
        </p:nvSpPr>
        <p:spPr>
          <a:xfrm>
            <a:off x="4639171" y="1959878"/>
            <a:ext cx="6879729" cy="1028700"/>
          </a:xfrm>
        </p:spPr>
        <p:txBody>
          <a:bodyPr vert="horz" lIns="72000" tIns="45720" rIns="91440" bIns="45720" rtlCol="0" anchor="b">
            <a:normAutofit/>
          </a:bodyPr>
          <a:lstStyle>
            <a:lvl1pPr marL="0" indent="0">
              <a:lnSpc>
                <a:spcPct val="100000"/>
              </a:lnSpc>
              <a:defRPr lang="zh-CN" altLang="en-US" sz="2000" dirty="0"/>
            </a:lvl1pPr>
          </a:lstStyle>
          <a:p>
            <a:pPr marL="268605" lvl="0" indent="-179705"/>
            <a:r>
              <a:rPr lang="zh-CN" altLang="en-US" dirty="0"/>
              <a:t>单击此处编辑标题样式</a:t>
            </a:r>
            <a:r>
              <a:rPr lang="en-US" altLang="zh-CN" dirty="0"/>
              <a:t>-20pt</a:t>
            </a:r>
            <a:endParaRPr lang="zh-CN" altLang="en-US" dirty="0"/>
          </a:p>
        </p:txBody>
      </p:sp>
      <p:cxnSp>
        <p:nvCxnSpPr>
          <p:cNvPr id="25" name="直接连接符 24"/>
          <p:cNvCxnSpPr/>
          <p:nvPr userDrawn="1"/>
        </p:nvCxnSpPr>
        <p:spPr>
          <a:xfrm>
            <a:off x="3550920" y="2988578"/>
            <a:ext cx="798068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98" name="矩形 4597"/>
          <p:cNvSpPr/>
          <p:nvPr userDrawn="1"/>
        </p:nvSpPr>
        <p:spPr>
          <a:xfrm>
            <a:off x="5868033" y="5463873"/>
            <a:ext cx="2963917" cy="1394127"/>
          </a:xfrm>
          <a:prstGeom prst="rect">
            <a:avLst/>
          </a:prstGeom>
          <a:gradFill>
            <a:gsLst>
              <a:gs pos="57000">
                <a:schemeClr val="bg1"/>
              </a:gs>
              <a:gs pos="54000">
                <a:srgbClr val="F2F2F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矩形 23"/>
          <p:cNvSpPr/>
          <p:nvPr/>
        </p:nvSpPr>
        <p:spPr>
          <a:xfrm>
            <a:off x="-3810" y="61340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userDrawn="1"/>
        </p:nvCxnSpPr>
        <p:spPr>
          <a:xfrm>
            <a:off x="11531608" y="6522424"/>
            <a:ext cx="0" cy="180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Slide Number Placeholder 5"/>
          <p:cNvSpPr>
            <a:spLocks noGrp="1"/>
          </p:cNvSpPr>
          <p:nvPr>
            <p:ph type="sldNum" sz="quarter" idx="4"/>
          </p:nvPr>
        </p:nvSpPr>
        <p:spPr>
          <a:xfrm>
            <a:off x="11518900" y="6504474"/>
            <a:ext cx="673099" cy="215900"/>
          </a:xfrm>
          <a:prstGeom prst="rect">
            <a:avLst/>
          </a:prstGeom>
          <a:noFill/>
        </p:spPr>
        <p:txBody>
          <a:bodyPr anchor="ctr" anchorCtr="0"/>
          <a:lstStyle>
            <a:lvl1pPr marL="0" algn="l" defTabSz="914400" rtl="0" eaLnBrk="1" latinLnBrk="0" hangingPunct="1">
              <a:defRPr lang="en-US" altLang="zh-CN" sz="1000" kern="1200" smtClean="0">
                <a:solidFill>
                  <a:schemeClr val="tx2"/>
                </a:solidFill>
                <a:latin typeface="+mn-lt"/>
                <a:ea typeface="+mn-ea"/>
                <a:cs typeface="+mn-cs"/>
              </a:defRPr>
            </a:lvl1pPr>
          </a:lstStyle>
          <a:p>
            <a:fld id="{7F65B630-C7FF-41C0-9923-C5E5E29EED81}" type="slidenum">
              <a:rPr lang="de-DE" smtClean="0"/>
            </a:fld>
            <a:endParaRPr lang="de-DE" dirty="0"/>
          </a:p>
        </p:txBody>
      </p:sp>
      <p:pic>
        <p:nvPicPr>
          <p:cNvPr id="15" name="图片 14" descr="黑暗中的标志&#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45928" y="397821"/>
            <a:ext cx="1182485" cy="328213"/>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空白">
    <p:spTree>
      <p:nvGrpSpPr>
        <p:cNvPr id="1" name=""/>
        <p:cNvGrpSpPr/>
        <p:nvPr/>
      </p:nvGrpSpPr>
      <p:grpSpPr>
        <a:xfrm>
          <a:off x="0" y="0"/>
          <a:ext cx="0" cy="0"/>
          <a:chOff x="0" y="0"/>
          <a:chExt cx="0" cy="0"/>
        </a:xfrm>
      </p:grpSpPr>
      <p:sp>
        <p:nvSpPr>
          <p:cNvPr id="9" name="矩形 8"/>
          <p:cNvSpPr/>
          <p:nvPr userDrawn="1"/>
        </p:nvSpPr>
        <p:spPr>
          <a:xfrm>
            <a:off x="-7621" y="6177125"/>
            <a:ext cx="12199621" cy="680875"/>
          </a:xfrm>
          <a:prstGeom prst="rect">
            <a:avLst/>
          </a:prstGeom>
          <a:gradFill>
            <a:gsLst>
              <a:gs pos="77000">
                <a:schemeClr val="bg1"/>
              </a:gs>
              <a:gs pos="0">
                <a:schemeClr val="bg1">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userDrawn="1"/>
        </p:nvCxnSpPr>
        <p:spPr>
          <a:xfrm>
            <a:off x="11531608" y="6522424"/>
            <a:ext cx="0" cy="180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5"/>
          <p:cNvSpPr>
            <a:spLocks noGrp="1"/>
          </p:cNvSpPr>
          <p:nvPr>
            <p:ph type="sldNum" sz="quarter" idx="4"/>
          </p:nvPr>
        </p:nvSpPr>
        <p:spPr>
          <a:xfrm>
            <a:off x="11518900" y="6504474"/>
            <a:ext cx="673099" cy="215900"/>
          </a:xfrm>
          <a:prstGeom prst="rect">
            <a:avLst/>
          </a:prstGeom>
          <a:noFill/>
        </p:spPr>
        <p:txBody>
          <a:bodyPr anchor="ctr" anchorCtr="0"/>
          <a:lstStyle>
            <a:lvl1pPr marL="0" algn="l" defTabSz="914400" rtl="0" eaLnBrk="1" latinLnBrk="0" hangingPunct="1">
              <a:defRPr lang="en-US" altLang="zh-CN" sz="1000" kern="1200" smtClean="0">
                <a:solidFill>
                  <a:schemeClr val="tx2"/>
                </a:solidFill>
                <a:latin typeface="+mn-lt"/>
                <a:ea typeface="+mn-ea"/>
                <a:cs typeface="+mn-cs"/>
              </a:defRPr>
            </a:lvl1pPr>
          </a:lstStyle>
          <a:p>
            <a:fld id="{7F65B630-C7FF-41C0-9923-C5E5E29EED81}" type="slidenum">
              <a:rPr lang="de-DE" smtClean="0"/>
            </a:fld>
            <a:endParaRPr lang="de-DE" dirty="0"/>
          </a:p>
        </p:txBody>
      </p:sp>
      <p:pic>
        <p:nvPicPr>
          <p:cNvPr id="6" name="图片 5" descr="黑暗中的标志&#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45928" y="397821"/>
            <a:ext cx="1182485" cy="328213"/>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空白2">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17" name="标题 1"/>
          <p:cNvSpPr>
            <a:spLocks noGrp="1"/>
          </p:cNvSpPr>
          <p:nvPr>
            <p:ph type="title" hasCustomPrompt="1"/>
          </p:nvPr>
        </p:nvSpPr>
        <p:spPr>
          <a:xfrm>
            <a:off x="669925" y="0"/>
            <a:ext cx="10848975" cy="1028700"/>
          </a:xfrm>
          <a:prstGeom prst="rect">
            <a:avLst/>
          </a:prstGeom>
        </p:spPr>
        <p:txBody>
          <a:bodyPr vert="horz" lIns="0" tIns="45720" rIns="91440" bIns="45720" rtlCol="0" anchor="b">
            <a:normAutofit/>
          </a:bodyPr>
          <a:lstStyle>
            <a:lvl1pPr>
              <a:defRPr lang="zh-CN" altLang="en-US" dirty="0"/>
            </a:lvl1pPr>
          </a:lstStyle>
          <a:p>
            <a:pPr lvl="0"/>
            <a:r>
              <a:rPr lang="zh-CN" altLang="en-US" dirty="0"/>
              <a:t>单击此处编辑标题样式</a:t>
            </a:r>
            <a:r>
              <a:rPr lang="en-US" altLang="zh-CN" dirty="0"/>
              <a:t>-24pt</a:t>
            </a:r>
            <a:endParaRPr lang="zh-CN" altLang="en-US" dirty="0"/>
          </a:p>
        </p:txBody>
      </p:sp>
      <p:sp>
        <p:nvSpPr>
          <p:cNvPr id="4" name="Slide Number Placeholder 5"/>
          <p:cNvSpPr>
            <a:spLocks noGrp="1"/>
          </p:cNvSpPr>
          <p:nvPr>
            <p:ph type="sldNum" sz="quarter" idx="4294967295"/>
          </p:nvPr>
        </p:nvSpPr>
        <p:spPr>
          <a:xfrm>
            <a:off x="11518900" y="6504474"/>
            <a:ext cx="673099" cy="215900"/>
          </a:xfrm>
          <a:prstGeom prst="rect">
            <a:avLst/>
          </a:prstGeom>
          <a:noFill/>
        </p:spPr>
        <p:txBody>
          <a:bodyPr anchor="ctr" anchorCtr="0"/>
          <a:lstStyle>
            <a:lvl1pPr>
              <a:defRPr lang="en-US" altLang="zh-CN" smtClean="0"/>
            </a:lvl1pPr>
          </a:lstStyle>
          <a:p>
            <a:fld id="{7F65B630-C7FF-41C0-9923-C5E5E29EED81}" type="slidenum">
              <a:rPr lang="en-US" altLang="zh-CN" smtClean="0"/>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重要观点1">
    <p:spTree>
      <p:nvGrpSpPr>
        <p:cNvPr id="1" name=""/>
        <p:cNvGrpSpPr/>
        <p:nvPr/>
      </p:nvGrpSpPr>
      <p:grpSpPr>
        <a:xfrm>
          <a:off x="0" y="0"/>
          <a:ext cx="0" cy="0"/>
          <a:chOff x="0" y="0"/>
          <a:chExt cx="0" cy="0"/>
        </a:xfrm>
      </p:grpSpPr>
      <p:sp>
        <p:nvSpPr>
          <p:cNvPr id="20" name="文本占位符 4"/>
          <p:cNvSpPr>
            <a:spLocks noGrp="1"/>
          </p:cNvSpPr>
          <p:nvPr>
            <p:ph type="body" sz="quarter" idx="13" hasCustomPrompt="1"/>
          </p:nvPr>
        </p:nvSpPr>
        <p:spPr>
          <a:xfrm>
            <a:off x="660400" y="1266657"/>
            <a:ext cx="10858500" cy="328551"/>
          </a:xfrm>
          <a:solidFill>
            <a:schemeClr val="bg1">
              <a:lumMod val="95000"/>
            </a:schemeClr>
          </a:solidFill>
        </p:spPr>
        <p:txBody>
          <a:bodyPr wrap="square">
            <a:spAutoFit/>
          </a:bodyPr>
          <a:lstStyle>
            <a:lvl1pPr marL="0" indent="0">
              <a:lnSpc>
                <a:spcPct val="120000"/>
              </a:lnSpc>
              <a:spcBef>
                <a:spcPts val="0"/>
              </a:spcBef>
              <a:buFontTx/>
              <a:buNone/>
              <a:defRPr sz="1400" b="1">
                <a:solidFill>
                  <a:schemeClr val="accent1"/>
                </a:solidFill>
              </a:defRPr>
            </a:lvl1pPr>
            <a:lvl2pPr marL="457200" indent="0">
              <a:buNone/>
              <a:defRPr/>
            </a:lvl2pPr>
          </a:lstStyle>
          <a:p>
            <a:pPr lvl="0"/>
            <a:r>
              <a:rPr lang="zh-CN" altLang="en-US" dirty="0"/>
              <a:t>此处添加本页重要观点</a:t>
            </a:r>
            <a:r>
              <a:rPr lang="en-US" altLang="zh-CN" dirty="0"/>
              <a:t>-14pt</a:t>
            </a:r>
            <a:endParaRPr lang="en-US" altLang="zh-CN" dirty="0"/>
          </a:p>
        </p:txBody>
      </p:sp>
      <p:sp>
        <p:nvSpPr>
          <p:cNvPr id="14" name="标题 1"/>
          <p:cNvSpPr>
            <a:spLocks noGrp="1"/>
          </p:cNvSpPr>
          <p:nvPr>
            <p:ph type="title" hasCustomPrompt="1"/>
          </p:nvPr>
        </p:nvSpPr>
        <p:spPr>
          <a:xfrm>
            <a:off x="669925" y="0"/>
            <a:ext cx="10848975" cy="1028700"/>
          </a:xfrm>
          <a:prstGeom prst="rect">
            <a:avLst/>
          </a:prstGeom>
        </p:spPr>
        <p:txBody>
          <a:bodyPr vert="horz" lIns="0" tIns="45720" rIns="91440" bIns="45720" rtlCol="0" anchor="b">
            <a:normAutofit/>
          </a:bodyPr>
          <a:lstStyle>
            <a:lvl1pPr>
              <a:defRPr lang="zh-CN" altLang="en-US" dirty="0"/>
            </a:lvl1pPr>
          </a:lstStyle>
          <a:p>
            <a:pPr lvl="0"/>
            <a:r>
              <a:rPr lang="zh-CN" altLang="en-US" dirty="0"/>
              <a:t>单击此处编辑标题样式</a:t>
            </a:r>
            <a:r>
              <a:rPr lang="en-US" altLang="zh-CN" dirty="0"/>
              <a:t>-24pt</a:t>
            </a:r>
            <a:endParaRPr lang="zh-CN" altLang="en-US" dirty="0"/>
          </a:p>
        </p:txBody>
      </p:sp>
      <p:sp>
        <p:nvSpPr>
          <p:cNvPr id="5" name="Slide Number Placeholder 5"/>
          <p:cNvSpPr>
            <a:spLocks noGrp="1"/>
          </p:cNvSpPr>
          <p:nvPr>
            <p:ph type="sldNum" sz="quarter" idx="4294967295"/>
          </p:nvPr>
        </p:nvSpPr>
        <p:spPr>
          <a:xfrm>
            <a:off x="11518900" y="6504474"/>
            <a:ext cx="673099" cy="215900"/>
          </a:xfrm>
          <a:prstGeom prst="rect">
            <a:avLst/>
          </a:prstGeom>
          <a:noFill/>
        </p:spPr>
        <p:txBody>
          <a:bodyPr anchor="ctr" anchorCtr="0"/>
          <a:lstStyle>
            <a:lvl1pPr>
              <a:defRPr lang="en-US" altLang="zh-CN" smtClean="0"/>
            </a:lvl1pPr>
          </a:lstStyle>
          <a:p>
            <a:fld id="{7F65B630-C7FF-41C0-9923-C5E5E29EED81}" type="slidenum">
              <a:rPr lang="en-US" altLang="zh-CN"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重要观点2">
    <p:spTree>
      <p:nvGrpSpPr>
        <p:cNvPr id="1" name=""/>
        <p:cNvGrpSpPr/>
        <p:nvPr/>
      </p:nvGrpSpPr>
      <p:grpSpPr>
        <a:xfrm>
          <a:off x="0" y="0"/>
          <a:ext cx="0" cy="0"/>
          <a:chOff x="0" y="0"/>
          <a:chExt cx="0" cy="0"/>
        </a:xfrm>
      </p:grpSpPr>
      <p:sp>
        <p:nvSpPr>
          <p:cNvPr id="17" name="文本占位符 4"/>
          <p:cNvSpPr>
            <a:spLocks noGrp="1"/>
          </p:cNvSpPr>
          <p:nvPr>
            <p:ph type="body" sz="quarter" idx="13" hasCustomPrompt="1"/>
          </p:nvPr>
        </p:nvSpPr>
        <p:spPr>
          <a:xfrm>
            <a:off x="660400" y="1266657"/>
            <a:ext cx="5341199" cy="328551"/>
          </a:xfrm>
          <a:solidFill>
            <a:schemeClr val="bg1">
              <a:lumMod val="95000"/>
            </a:schemeClr>
          </a:solidFill>
        </p:spPr>
        <p:txBody>
          <a:bodyPr wrap="square">
            <a:spAutoFit/>
          </a:bodyPr>
          <a:lstStyle>
            <a:lvl1pPr marL="0" indent="0">
              <a:lnSpc>
                <a:spcPct val="120000"/>
              </a:lnSpc>
              <a:spcBef>
                <a:spcPts val="0"/>
              </a:spcBef>
              <a:buFont typeface="Arial" panose="020B0604020202020204" pitchFamily="34" charset="0"/>
              <a:buNone/>
              <a:defRPr sz="1400" b="1">
                <a:solidFill>
                  <a:schemeClr val="accent1"/>
                </a:solidFill>
              </a:defRPr>
            </a:lvl1pPr>
            <a:lvl2pPr marL="457200" indent="0">
              <a:buNone/>
              <a:defRPr/>
            </a:lvl2pPr>
          </a:lstStyle>
          <a:p>
            <a:pPr lvl="0"/>
            <a:r>
              <a:rPr lang="zh-CN" altLang="en-US" dirty="0"/>
              <a:t>此处添加本页重要观点</a:t>
            </a:r>
            <a:r>
              <a:rPr lang="en-US" altLang="zh-CN" dirty="0"/>
              <a:t>-14pt</a:t>
            </a:r>
            <a:endParaRPr lang="en-US" altLang="zh-CN" dirty="0"/>
          </a:p>
        </p:txBody>
      </p:sp>
      <p:sp>
        <p:nvSpPr>
          <p:cNvPr id="18" name="文本占位符 4"/>
          <p:cNvSpPr>
            <a:spLocks noGrp="1"/>
          </p:cNvSpPr>
          <p:nvPr>
            <p:ph type="body" sz="quarter" idx="14" hasCustomPrompt="1"/>
          </p:nvPr>
        </p:nvSpPr>
        <p:spPr>
          <a:xfrm>
            <a:off x="6177701" y="1266657"/>
            <a:ext cx="5341199" cy="328551"/>
          </a:xfrm>
          <a:solidFill>
            <a:schemeClr val="bg1">
              <a:lumMod val="95000"/>
            </a:schemeClr>
          </a:solidFill>
        </p:spPr>
        <p:txBody>
          <a:bodyPr wrap="square">
            <a:spAutoFit/>
          </a:bodyPr>
          <a:lstStyle>
            <a:lvl1pPr marL="0" indent="0">
              <a:lnSpc>
                <a:spcPct val="120000"/>
              </a:lnSpc>
              <a:spcBef>
                <a:spcPts val="0"/>
              </a:spcBef>
              <a:buFont typeface="Arial" panose="020B0604020202020204" pitchFamily="34" charset="0"/>
              <a:buNone/>
              <a:defRPr sz="1400" b="1">
                <a:solidFill>
                  <a:schemeClr val="accent1"/>
                </a:solidFill>
              </a:defRPr>
            </a:lvl1pPr>
            <a:lvl2pPr marL="457200" indent="0">
              <a:buNone/>
              <a:defRPr/>
            </a:lvl2pPr>
          </a:lstStyle>
          <a:p>
            <a:pPr lvl="0"/>
            <a:r>
              <a:rPr lang="zh-CN" altLang="en-US" dirty="0"/>
              <a:t>此处添加本页重要观点</a:t>
            </a:r>
            <a:r>
              <a:rPr lang="en-US" altLang="zh-CN" dirty="0"/>
              <a:t>-14pt</a:t>
            </a:r>
            <a:endParaRPr lang="en-US" altLang="zh-CN" dirty="0"/>
          </a:p>
        </p:txBody>
      </p:sp>
      <p:sp>
        <p:nvSpPr>
          <p:cNvPr id="19" name="标题 1"/>
          <p:cNvSpPr>
            <a:spLocks noGrp="1"/>
          </p:cNvSpPr>
          <p:nvPr>
            <p:ph type="title" hasCustomPrompt="1"/>
          </p:nvPr>
        </p:nvSpPr>
        <p:spPr>
          <a:xfrm>
            <a:off x="669925" y="0"/>
            <a:ext cx="10848975" cy="1028700"/>
          </a:xfrm>
          <a:prstGeom prst="rect">
            <a:avLst/>
          </a:prstGeom>
        </p:spPr>
        <p:txBody>
          <a:bodyPr vert="horz" lIns="0" tIns="45720" rIns="91440" bIns="45720" rtlCol="0" anchor="b">
            <a:normAutofit/>
          </a:bodyPr>
          <a:lstStyle>
            <a:lvl1pPr>
              <a:defRPr lang="zh-CN" altLang="en-US" dirty="0"/>
            </a:lvl1pPr>
          </a:lstStyle>
          <a:p>
            <a:pPr lvl="0"/>
            <a:r>
              <a:rPr lang="zh-CN" altLang="en-US" dirty="0"/>
              <a:t>单击此处编辑标题样式</a:t>
            </a:r>
            <a:r>
              <a:rPr lang="en-US" altLang="zh-CN" dirty="0"/>
              <a:t>-24pt</a:t>
            </a:r>
            <a:endParaRPr lang="zh-CN" altLang="en-US" dirty="0"/>
          </a:p>
        </p:txBody>
      </p:sp>
      <p:sp>
        <p:nvSpPr>
          <p:cNvPr id="6" name="Slide Number Placeholder 5"/>
          <p:cNvSpPr>
            <a:spLocks noGrp="1"/>
          </p:cNvSpPr>
          <p:nvPr>
            <p:ph type="sldNum" sz="quarter" idx="4294967295"/>
          </p:nvPr>
        </p:nvSpPr>
        <p:spPr>
          <a:xfrm>
            <a:off x="11518900" y="6504474"/>
            <a:ext cx="673099" cy="215900"/>
          </a:xfrm>
          <a:prstGeom prst="rect">
            <a:avLst/>
          </a:prstGeom>
          <a:noFill/>
        </p:spPr>
        <p:txBody>
          <a:bodyPr anchor="ctr" anchorCtr="0"/>
          <a:lstStyle>
            <a:lvl1pPr>
              <a:defRPr lang="en-US" altLang="zh-CN" smtClean="0"/>
            </a:lvl1pPr>
          </a:lstStyle>
          <a:p>
            <a:fld id="{7F65B630-C7FF-41C0-9923-C5E5E29EED81}" type="slidenum">
              <a:rPr lang="en-US" altLang="zh-CN"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封底1">
    <p:spTree>
      <p:nvGrpSpPr>
        <p:cNvPr id="1" name=""/>
        <p:cNvGrpSpPr/>
        <p:nvPr/>
      </p:nvGrpSpPr>
      <p:grpSpPr>
        <a:xfrm>
          <a:off x="0" y="0"/>
          <a:ext cx="0" cy="0"/>
          <a:chOff x="0" y="0"/>
          <a:chExt cx="0" cy="0"/>
        </a:xfrm>
      </p:grpSpPr>
      <p:pic>
        <p:nvPicPr>
          <p:cNvPr id="9" name="图片 8"/>
          <p:cNvPicPr/>
          <p:nvPr userDrawn="1"/>
        </p:nvPicPr>
        <p:blipFill>
          <a:blip r:embed="rId2"/>
          <a:stretch>
            <a:fillRect/>
          </a:stretch>
        </p:blipFill>
        <p:spPr>
          <a:xfrm>
            <a:off x="0" y="2323598"/>
            <a:ext cx="12192000" cy="4310727"/>
          </a:xfrm>
          <a:prstGeom prst="rect">
            <a:avLst/>
          </a:prstGeom>
        </p:spPr>
      </p:pic>
      <p:sp>
        <p:nvSpPr>
          <p:cNvPr id="10" name="矩形 9"/>
          <p:cNvSpPr/>
          <p:nvPr userDrawn="1"/>
        </p:nvSpPr>
        <p:spPr>
          <a:xfrm>
            <a:off x="-3810" y="61340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userDrawn="1"/>
        </p:nvGrpSpPr>
        <p:grpSpPr>
          <a:xfrm>
            <a:off x="0" y="4278003"/>
            <a:ext cx="12275822" cy="2579997"/>
            <a:chOff x="144779" y="4430403"/>
            <a:chExt cx="12275822" cy="2579997"/>
          </a:xfrm>
        </p:grpSpPr>
        <p:pic>
          <p:nvPicPr>
            <p:cNvPr id="14" name="图片 13"/>
            <p:cNvPicPr>
              <a:picLocks noChangeAspect="1"/>
            </p:cNvPicPr>
            <p:nvPr userDrawn="1"/>
          </p:nvPicPr>
          <p:blipFill rotWithShape="1">
            <a:blip r:embed="rId3"/>
            <a:srcRect b="32181"/>
            <a:stretch>
              <a:fillRect/>
            </a:stretch>
          </p:blipFill>
          <p:spPr>
            <a:xfrm>
              <a:off x="9105526" y="4430403"/>
              <a:ext cx="1103472" cy="2579997"/>
            </a:xfrm>
            <a:prstGeom prst="rect">
              <a:avLst/>
            </a:prstGeom>
          </p:spPr>
        </p:pic>
        <p:pic>
          <p:nvPicPr>
            <p:cNvPr id="15" name="图形 14"/>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44779" y="4784550"/>
              <a:ext cx="12275822" cy="1515849"/>
            </a:xfrm>
            <a:prstGeom prst="rect">
              <a:avLst/>
            </a:prstGeom>
          </p:spPr>
        </p:pic>
        <p:pic>
          <p:nvPicPr>
            <p:cNvPr id="16" name="图片 15"/>
            <p:cNvPicPr>
              <a:picLocks noChangeAspect="1"/>
            </p:cNvPicPr>
            <p:nvPr userDrawn="1"/>
          </p:nvPicPr>
          <p:blipFill rotWithShape="1">
            <a:blip r:embed="rId6"/>
            <a:srcRect t="56329"/>
            <a:stretch>
              <a:fillRect/>
            </a:stretch>
          </p:blipFill>
          <p:spPr>
            <a:xfrm flipV="1">
              <a:off x="152400" y="6352124"/>
              <a:ext cx="12192000" cy="658276"/>
            </a:xfrm>
            <a:prstGeom prst="rect">
              <a:avLst/>
            </a:prstGeom>
          </p:spPr>
        </p:pic>
        <p:sp>
          <p:nvSpPr>
            <p:cNvPr id="17" name="矩形 16"/>
            <p:cNvSpPr/>
            <p:nvPr userDrawn="1"/>
          </p:nvSpPr>
          <p:spPr>
            <a:xfrm>
              <a:off x="144779" y="6329525"/>
              <a:ext cx="12199621" cy="680875"/>
            </a:xfrm>
            <a:prstGeom prst="rect">
              <a:avLst/>
            </a:prstGeom>
            <a:gradFill>
              <a:gsLst>
                <a:gs pos="77000">
                  <a:schemeClr val="bg1"/>
                </a:gs>
                <a:gs pos="0">
                  <a:schemeClr val="bg1">
                    <a:alpha val="7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48590" y="62864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0" name="组合 49"/>
          <p:cNvGrpSpPr/>
          <p:nvPr userDrawn="1"/>
        </p:nvGrpSpPr>
        <p:grpSpPr>
          <a:xfrm>
            <a:off x="835661" y="3670100"/>
            <a:ext cx="8128344" cy="1295484"/>
            <a:chOff x="835661" y="3670100"/>
            <a:chExt cx="8128344" cy="1295484"/>
          </a:xfrm>
        </p:grpSpPr>
        <p:sp>
          <p:nvSpPr>
            <p:cNvPr id="51" name="文本框 50"/>
            <p:cNvSpPr txBox="1"/>
            <p:nvPr/>
          </p:nvSpPr>
          <p:spPr>
            <a:xfrm>
              <a:off x="6395057" y="3848558"/>
              <a:ext cx="441147" cy="246221"/>
            </a:xfrm>
            <a:prstGeom prst="rect">
              <a:avLst/>
            </a:prstGeom>
            <a:noFill/>
          </p:spPr>
          <p:txBody>
            <a:bodyPr wrap="none" rtlCol="0">
              <a:spAutoFit/>
            </a:bodyPr>
            <a:lstStyle/>
            <a:p>
              <a:pPr algn="ctr"/>
              <a:r>
                <a:rPr lang="zh-CN" altLang="en-US" sz="1000" dirty="0"/>
                <a:t>北京</a:t>
              </a:r>
              <a:endParaRPr lang="zh-CN" altLang="en-US" sz="1000" dirty="0"/>
            </a:p>
          </p:txBody>
        </p:sp>
        <p:sp>
          <p:nvSpPr>
            <p:cNvPr id="52" name="文本框 51"/>
            <p:cNvSpPr txBox="1"/>
            <p:nvPr/>
          </p:nvSpPr>
          <p:spPr>
            <a:xfrm>
              <a:off x="8077064" y="4060065"/>
              <a:ext cx="441147" cy="246221"/>
            </a:xfrm>
            <a:prstGeom prst="rect">
              <a:avLst/>
            </a:prstGeom>
            <a:noFill/>
          </p:spPr>
          <p:txBody>
            <a:bodyPr wrap="none" rtlCol="0">
              <a:spAutoFit/>
            </a:bodyPr>
            <a:lstStyle/>
            <a:p>
              <a:pPr algn="ctr"/>
              <a:r>
                <a:rPr lang="zh-CN" altLang="en-US" sz="1000" dirty="0"/>
                <a:t>青岛</a:t>
              </a:r>
              <a:endParaRPr lang="zh-CN" altLang="en-US" sz="1000" dirty="0"/>
            </a:p>
          </p:txBody>
        </p:sp>
        <p:sp>
          <p:nvSpPr>
            <p:cNvPr id="53" name="文本框 52"/>
            <p:cNvSpPr txBox="1"/>
            <p:nvPr/>
          </p:nvSpPr>
          <p:spPr>
            <a:xfrm>
              <a:off x="8522858" y="4300510"/>
              <a:ext cx="441147" cy="246221"/>
            </a:xfrm>
            <a:prstGeom prst="rect">
              <a:avLst/>
            </a:prstGeom>
            <a:noFill/>
          </p:spPr>
          <p:txBody>
            <a:bodyPr wrap="none" rtlCol="0">
              <a:spAutoFit/>
            </a:bodyPr>
            <a:lstStyle/>
            <a:p>
              <a:pPr algn="ctr"/>
              <a:r>
                <a:rPr lang="zh-CN" altLang="en-US" sz="1000" dirty="0"/>
                <a:t>上海</a:t>
              </a:r>
              <a:endParaRPr lang="zh-CN" altLang="en-US" sz="1000" dirty="0"/>
            </a:p>
          </p:txBody>
        </p:sp>
        <p:sp>
          <p:nvSpPr>
            <p:cNvPr id="54" name="文本框 53"/>
            <p:cNvSpPr txBox="1"/>
            <p:nvPr/>
          </p:nvSpPr>
          <p:spPr>
            <a:xfrm>
              <a:off x="7397304" y="4264863"/>
              <a:ext cx="441147" cy="246221"/>
            </a:xfrm>
            <a:prstGeom prst="rect">
              <a:avLst/>
            </a:prstGeom>
            <a:noFill/>
          </p:spPr>
          <p:txBody>
            <a:bodyPr wrap="none" rtlCol="0">
              <a:spAutoFit/>
            </a:bodyPr>
            <a:lstStyle/>
            <a:p>
              <a:pPr algn="ctr"/>
              <a:r>
                <a:rPr lang="zh-CN" altLang="en-US" sz="1000" dirty="0"/>
                <a:t>南京</a:t>
              </a:r>
              <a:endParaRPr lang="zh-CN" altLang="en-US" sz="1000" dirty="0"/>
            </a:p>
          </p:txBody>
        </p:sp>
        <p:sp>
          <p:nvSpPr>
            <p:cNvPr id="55" name="文本框 54"/>
            <p:cNvSpPr txBox="1"/>
            <p:nvPr/>
          </p:nvSpPr>
          <p:spPr>
            <a:xfrm>
              <a:off x="5098774" y="4689065"/>
              <a:ext cx="441147" cy="246221"/>
            </a:xfrm>
            <a:prstGeom prst="rect">
              <a:avLst/>
            </a:prstGeom>
            <a:noFill/>
          </p:spPr>
          <p:txBody>
            <a:bodyPr wrap="none" rtlCol="0">
              <a:spAutoFit/>
            </a:bodyPr>
            <a:lstStyle/>
            <a:p>
              <a:pPr algn="ctr"/>
              <a:r>
                <a:rPr lang="zh-CN" altLang="en-US" sz="1000" dirty="0"/>
                <a:t>广州</a:t>
              </a:r>
              <a:endParaRPr lang="zh-CN" altLang="en-US" sz="1000" dirty="0"/>
            </a:p>
          </p:txBody>
        </p:sp>
        <p:sp>
          <p:nvSpPr>
            <p:cNvPr id="56" name="文本框 55"/>
            <p:cNvSpPr txBox="1"/>
            <p:nvPr/>
          </p:nvSpPr>
          <p:spPr>
            <a:xfrm>
              <a:off x="5544569" y="4719363"/>
              <a:ext cx="441147" cy="246221"/>
            </a:xfrm>
            <a:prstGeom prst="rect">
              <a:avLst/>
            </a:prstGeom>
            <a:noFill/>
          </p:spPr>
          <p:txBody>
            <a:bodyPr wrap="none" rtlCol="0">
              <a:spAutoFit/>
            </a:bodyPr>
            <a:lstStyle/>
            <a:p>
              <a:pPr algn="ctr"/>
              <a:r>
                <a:rPr lang="zh-CN" altLang="en-US" sz="1000" dirty="0"/>
                <a:t>深圳</a:t>
              </a:r>
              <a:endParaRPr lang="zh-CN" altLang="en-US" sz="1000" dirty="0"/>
            </a:p>
          </p:txBody>
        </p:sp>
        <p:sp>
          <p:nvSpPr>
            <p:cNvPr id="57" name="文本框 56"/>
            <p:cNvSpPr txBox="1"/>
            <p:nvPr/>
          </p:nvSpPr>
          <p:spPr>
            <a:xfrm>
              <a:off x="3450610" y="4538071"/>
              <a:ext cx="441147" cy="246221"/>
            </a:xfrm>
            <a:prstGeom prst="rect">
              <a:avLst/>
            </a:prstGeom>
            <a:noFill/>
          </p:spPr>
          <p:txBody>
            <a:bodyPr wrap="none" rtlCol="0">
              <a:spAutoFit/>
            </a:bodyPr>
            <a:lstStyle/>
            <a:p>
              <a:pPr algn="ctr"/>
              <a:r>
                <a:rPr lang="zh-CN" altLang="en-US" sz="1000" dirty="0"/>
                <a:t>成都</a:t>
              </a:r>
              <a:endParaRPr lang="zh-CN" altLang="en-US" sz="1000" dirty="0"/>
            </a:p>
          </p:txBody>
        </p:sp>
        <p:sp>
          <p:nvSpPr>
            <p:cNvPr id="58" name="文本框 57"/>
            <p:cNvSpPr txBox="1"/>
            <p:nvPr userDrawn="1"/>
          </p:nvSpPr>
          <p:spPr>
            <a:xfrm>
              <a:off x="835661" y="4502141"/>
              <a:ext cx="697628" cy="246221"/>
            </a:xfrm>
            <a:prstGeom prst="rect">
              <a:avLst/>
            </a:prstGeom>
            <a:noFill/>
          </p:spPr>
          <p:txBody>
            <a:bodyPr wrap="none" rtlCol="0">
              <a:spAutoFit/>
            </a:bodyPr>
            <a:lstStyle/>
            <a:p>
              <a:pPr algn="ctr"/>
              <a:r>
                <a:rPr lang="zh-CN" altLang="en-US" sz="1000" dirty="0"/>
                <a:t>乌鲁木齐</a:t>
              </a:r>
              <a:endParaRPr lang="zh-CN" altLang="en-US" sz="1000" dirty="0"/>
            </a:p>
          </p:txBody>
        </p:sp>
        <p:sp>
          <p:nvSpPr>
            <p:cNvPr id="59" name="文本框 58"/>
            <p:cNvSpPr txBox="1"/>
            <p:nvPr userDrawn="1"/>
          </p:nvSpPr>
          <p:spPr>
            <a:xfrm>
              <a:off x="5765143" y="4400605"/>
              <a:ext cx="441146" cy="246221"/>
            </a:xfrm>
            <a:prstGeom prst="rect">
              <a:avLst/>
            </a:prstGeom>
            <a:noFill/>
          </p:spPr>
          <p:txBody>
            <a:bodyPr wrap="none" rtlCol="0">
              <a:spAutoFit/>
            </a:bodyPr>
            <a:lstStyle/>
            <a:p>
              <a:pPr algn="ctr"/>
              <a:r>
                <a:rPr lang="zh-CN" altLang="en-US" sz="1000" dirty="0"/>
                <a:t>厦门</a:t>
              </a:r>
              <a:endParaRPr lang="zh-CN" altLang="en-US" sz="1000" dirty="0"/>
            </a:p>
          </p:txBody>
        </p:sp>
        <p:sp>
          <p:nvSpPr>
            <p:cNvPr id="60" name="文本框 59"/>
            <p:cNvSpPr txBox="1"/>
            <p:nvPr userDrawn="1"/>
          </p:nvSpPr>
          <p:spPr>
            <a:xfrm>
              <a:off x="4042755" y="4114763"/>
              <a:ext cx="441146" cy="246221"/>
            </a:xfrm>
            <a:prstGeom prst="rect">
              <a:avLst/>
            </a:prstGeom>
            <a:noFill/>
          </p:spPr>
          <p:txBody>
            <a:bodyPr wrap="none" rtlCol="0">
              <a:spAutoFit/>
            </a:bodyPr>
            <a:lstStyle/>
            <a:p>
              <a:pPr algn="ctr"/>
              <a:r>
                <a:rPr lang="zh-CN" altLang="en-US" sz="1000" dirty="0"/>
                <a:t>西安</a:t>
              </a:r>
              <a:endParaRPr lang="zh-CN" altLang="en-US" sz="1000" dirty="0"/>
            </a:p>
          </p:txBody>
        </p:sp>
        <p:sp>
          <p:nvSpPr>
            <p:cNvPr id="61" name="文本框 60"/>
            <p:cNvSpPr txBox="1"/>
            <p:nvPr userDrawn="1"/>
          </p:nvSpPr>
          <p:spPr>
            <a:xfrm>
              <a:off x="4767791" y="3964426"/>
              <a:ext cx="441146" cy="246221"/>
            </a:xfrm>
            <a:prstGeom prst="rect">
              <a:avLst/>
            </a:prstGeom>
            <a:noFill/>
          </p:spPr>
          <p:txBody>
            <a:bodyPr wrap="none" rtlCol="0">
              <a:spAutoFit/>
            </a:bodyPr>
            <a:lstStyle/>
            <a:p>
              <a:pPr algn="ctr"/>
              <a:r>
                <a:rPr lang="zh-CN" altLang="en-US" sz="1000" dirty="0"/>
                <a:t>郑州</a:t>
              </a:r>
              <a:endParaRPr lang="zh-CN" altLang="en-US" sz="1000" dirty="0"/>
            </a:p>
          </p:txBody>
        </p:sp>
        <p:sp>
          <p:nvSpPr>
            <p:cNvPr id="62" name="文本框 61"/>
            <p:cNvSpPr txBox="1"/>
            <p:nvPr userDrawn="1"/>
          </p:nvSpPr>
          <p:spPr>
            <a:xfrm>
              <a:off x="7281297" y="3670100"/>
              <a:ext cx="569388" cy="246221"/>
            </a:xfrm>
            <a:prstGeom prst="rect">
              <a:avLst/>
            </a:prstGeom>
            <a:noFill/>
          </p:spPr>
          <p:txBody>
            <a:bodyPr wrap="none" rtlCol="0">
              <a:spAutoFit/>
            </a:bodyPr>
            <a:lstStyle/>
            <a:p>
              <a:pPr algn="ctr"/>
              <a:r>
                <a:rPr lang="zh-CN" altLang="en-US" sz="1000" dirty="0"/>
                <a:t>哈尔滨</a:t>
              </a:r>
              <a:endParaRPr lang="zh-CN" altLang="en-US" sz="1000" dirty="0"/>
            </a:p>
          </p:txBody>
        </p:sp>
      </p:grpSp>
      <p:sp>
        <p:nvSpPr>
          <p:cNvPr id="28" name="矩形 27"/>
          <p:cNvSpPr/>
          <p:nvPr userDrawn="1"/>
        </p:nvSpPr>
        <p:spPr>
          <a:xfrm>
            <a:off x="835661" y="1824067"/>
            <a:ext cx="72000" cy="138259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图片 24" descr="黑暗中的标志&#10;&#10;描述已自动生成"/>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35661" y="539192"/>
            <a:ext cx="1744094" cy="48409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封底2">
    <p:spTree>
      <p:nvGrpSpPr>
        <p:cNvPr id="1" name=""/>
        <p:cNvGrpSpPr/>
        <p:nvPr/>
      </p:nvGrpSpPr>
      <p:grpSpPr>
        <a:xfrm>
          <a:off x="0" y="0"/>
          <a:ext cx="0" cy="0"/>
          <a:chOff x="0" y="0"/>
          <a:chExt cx="0" cy="0"/>
        </a:xfrm>
      </p:grpSpPr>
      <p:pic>
        <p:nvPicPr>
          <p:cNvPr id="9" name="图片 8"/>
          <p:cNvPicPr/>
          <p:nvPr userDrawn="1"/>
        </p:nvPicPr>
        <p:blipFill>
          <a:blip r:embed="rId2"/>
          <a:stretch>
            <a:fillRect/>
          </a:stretch>
        </p:blipFill>
        <p:spPr>
          <a:xfrm>
            <a:off x="0" y="2323598"/>
            <a:ext cx="12192000" cy="4310727"/>
          </a:xfrm>
          <a:prstGeom prst="rect">
            <a:avLst/>
          </a:prstGeom>
        </p:spPr>
      </p:pic>
      <p:sp>
        <p:nvSpPr>
          <p:cNvPr id="10" name="矩形 9"/>
          <p:cNvSpPr/>
          <p:nvPr userDrawn="1"/>
        </p:nvSpPr>
        <p:spPr>
          <a:xfrm>
            <a:off x="-3810" y="61340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userDrawn="1"/>
        </p:nvGrpSpPr>
        <p:grpSpPr>
          <a:xfrm>
            <a:off x="0" y="4278003"/>
            <a:ext cx="12275822" cy="2579997"/>
            <a:chOff x="144779" y="4430403"/>
            <a:chExt cx="12275822" cy="2579997"/>
          </a:xfrm>
        </p:grpSpPr>
        <p:pic>
          <p:nvPicPr>
            <p:cNvPr id="14" name="图片 13"/>
            <p:cNvPicPr>
              <a:picLocks noChangeAspect="1"/>
            </p:cNvPicPr>
            <p:nvPr userDrawn="1"/>
          </p:nvPicPr>
          <p:blipFill rotWithShape="1">
            <a:blip r:embed="rId3"/>
            <a:srcRect b="32181"/>
            <a:stretch>
              <a:fillRect/>
            </a:stretch>
          </p:blipFill>
          <p:spPr>
            <a:xfrm>
              <a:off x="9105526" y="4430403"/>
              <a:ext cx="1103472" cy="2579997"/>
            </a:xfrm>
            <a:prstGeom prst="rect">
              <a:avLst/>
            </a:prstGeom>
          </p:spPr>
        </p:pic>
        <p:pic>
          <p:nvPicPr>
            <p:cNvPr id="15" name="图形 14"/>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44779" y="4784550"/>
              <a:ext cx="12275822" cy="1515849"/>
            </a:xfrm>
            <a:prstGeom prst="rect">
              <a:avLst/>
            </a:prstGeom>
          </p:spPr>
        </p:pic>
        <p:pic>
          <p:nvPicPr>
            <p:cNvPr id="16" name="图片 15"/>
            <p:cNvPicPr>
              <a:picLocks noChangeAspect="1"/>
            </p:cNvPicPr>
            <p:nvPr userDrawn="1"/>
          </p:nvPicPr>
          <p:blipFill rotWithShape="1">
            <a:blip r:embed="rId6"/>
            <a:srcRect t="56329"/>
            <a:stretch>
              <a:fillRect/>
            </a:stretch>
          </p:blipFill>
          <p:spPr>
            <a:xfrm flipV="1">
              <a:off x="152400" y="6352124"/>
              <a:ext cx="12192000" cy="658276"/>
            </a:xfrm>
            <a:prstGeom prst="rect">
              <a:avLst/>
            </a:prstGeom>
          </p:spPr>
        </p:pic>
        <p:sp>
          <p:nvSpPr>
            <p:cNvPr id="17" name="矩形 16"/>
            <p:cNvSpPr/>
            <p:nvPr userDrawn="1"/>
          </p:nvSpPr>
          <p:spPr>
            <a:xfrm>
              <a:off x="144779" y="6329525"/>
              <a:ext cx="12199621" cy="680875"/>
            </a:xfrm>
            <a:prstGeom prst="rect">
              <a:avLst/>
            </a:prstGeom>
            <a:gradFill>
              <a:gsLst>
                <a:gs pos="77000">
                  <a:schemeClr val="bg1"/>
                </a:gs>
                <a:gs pos="0">
                  <a:schemeClr val="bg1">
                    <a:alpha val="7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48590" y="6286478"/>
              <a:ext cx="12199621" cy="108000"/>
            </a:xfrm>
            <a:prstGeom prst="rect">
              <a:avLst/>
            </a:prstGeom>
            <a:solidFill>
              <a:srgbClr val="BF9D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1" name="直接连接符 10"/>
          <p:cNvCxnSpPr/>
          <p:nvPr userDrawn="1"/>
        </p:nvCxnSpPr>
        <p:spPr>
          <a:xfrm>
            <a:off x="2939981" y="2387904"/>
            <a:ext cx="0" cy="2019847"/>
          </a:xfrm>
          <a:prstGeom prst="line">
            <a:avLst/>
          </a:prstGeom>
          <a:ln w="25400">
            <a:gradFill>
              <a:gsLst>
                <a:gs pos="0">
                  <a:schemeClr val="bg1">
                    <a:lumMod val="85000"/>
                  </a:schemeClr>
                </a:gs>
                <a:gs pos="100000">
                  <a:schemeClr val="bg1">
                    <a:lumMod val="85000"/>
                    <a:alpha val="0"/>
                  </a:schemeClr>
                </a:gs>
              </a:gsLst>
              <a:lin ang="5400000" scaled="1"/>
            </a:gradFill>
            <a:headEnd type="diamond" w="lg" len="lg"/>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916725" y="1327297"/>
            <a:ext cx="3155121" cy="3240000"/>
            <a:chOff x="660399" y="1327297"/>
            <a:chExt cx="3155121" cy="3240000"/>
          </a:xfrm>
        </p:grpSpPr>
        <p:cxnSp>
          <p:nvCxnSpPr>
            <p:cNvPr id="19" name="直接连接符 18"/>
            <p:cNvCxnSpPr/>
            <p:nvPr/>
          </p:nvCxnSpPr>
          <p:spPr>
            <a:xfrm>
              <a:off x="660399" y="1327297"/>
              <a:ext cx="0" cy="3240000"/>
            </a:xfrm>
            <a:prstGeom prst="line">
              <a:avLst/>
            </a:prstGeom>
            <a:ln w="25400">
              <a:gradFill>
                <a:gsLst>
                  <a:gs pos="0">
                    <a:schemeClr val="bg1">
                      <a:lumMod val="85000"/>
                    </a:schemeClr>
                  </a:gs>
                  <a:gs pos="100000">
                    <a:schemeClr val="bg1">
                      <a:lumMod val="85000"/>
                      <a:alpha val="0"/>
                    </a:schemeClr>
                  </a:gs>
                </a:gsLst>
                <a:lin ang="5400000" scaled="1"/>
              </a:gradFill>
              <a:headEnd type="diamond" w="lg" len="lg"/>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660400" y="1632739"/>
              <a:ext cx="3155120" cy="877163"/>
            </a:xfrm>
            <a:prstGeom prst="rect">
              <a:avLst/>
            </a:prstGeom>
            <a:noFill/>
          </p:spPr>
          <p:txBody>
            <a:bodyPr wrap="square" rtlCol="0">
              <a:spAutoFit/>
            </a:bodyPr>
            <a:lstStyle/>
            <a:p>
              <a:pPr>
                <a:spcAft>
                  <a:spcPts val="600"/>
                </a:spcAft>
              </a:pPr>
              <a:r>
                <a:rPr lang="zh-CN" altLang="en-US" sz="900" b="1" dirty="0">
                  <a:latin typeface="微软雅黑" panose="020B0503020204020204" pitchFamily="34" charset="-122"/>
                  <a:ea typeface="微软雅黑" panose="020B0503020204020204" pitchFamily="34" charset="-122"/>
                </a:rPr>
                <a:t>地址：</a:t>
              </a:r>
              <a:r>
                <a:rPr lang="zh-CN" altLang="en-US" sz="900" dirty="0">
                  <a:latin typeface="微软雅黑" panose="020B0503020204020204" pitchFamily="34" charset="-122"/>
                  <a:ea typeface="微软雅黑" panose="020B0503020204020204" pitchFamily="34" charset="-122"/>
                </a:rPr>
                <a:t>上海市虹口区公平路</a:t>
              </a:r>
              <a:r>
                <a:rPr lang="en-US" altLang="zh-CN" sz="900" dirty="0">
                  <a:latin typeface="微软雅黑" panose="020B0503020204020204" pitchFamily="34" charset="-122"/>
                  <a:ea typeface="微软雅黑" panose="020B0503020204020204" pitchFamily="34" charset="-122"/>
                </a:rPr>
                <a:t>18</a:t>
              </a:r>
              <a:r>
                <a:rPr lang="zh-CN" altLang="en-US" sz="900" dirty="0">
                  <a:latin typeface="微软雅黑" panose="020B0503020204020204" pitchFamily="34" charset="-122"/>
                  <a:ea typeface="微软雅黑" panose="020B0503020204020204" pitchFamily="34" charset="-122"/>
                </a:rPr>
                <a:t>号</a:t>
              </a:r>
              <a:r>
                <a:rPr lang="en-US" altLang="zh-CN" sz="900" dirty="0">
                  <a:latin typeface="微软雅黑" panose="020B0503020204020204" pitchFamily="34" charset="-122"/>
                  <a:ea typeface="微软雅黑" panose="020B0503020204020204" pitchFamily="34" charset="-122"/>
                </a:rPr>
                <a:t>8</a:t>
              </a:r>
              <a:r>
                <a:rPr lang="zh-CN" altLang="en-US" sz="900" dirty="0">
                  <a:latin typeface="微软雅黑" panose="020B0503020204020204" pitchFamily="34" charset="-122"/>
                  <a:ea typeface="微软雅黑" panose="020B0503020204020204" pitchFamily="34" charset="-122"/>
                </a:rPr>
                <a:t>号楼嘉昱大厦</a:t>
              </a:r>
              <a:r>
                <a:rPr lang="en-US" altLang="zh-CN" sz="900">
                  <a:latin typeface="微软雅黑" panose="020B0503020204020204" pitchFamily="34" charset="-122"/>
                  <a:ea typeface="微软雅黑" panose="020B0503020204020204" pitchFamily="34" charset="-122"/>
                </a:rPr>
                <a:t>15-20</a:t>
              </a:r>
              <a:r>
                <a:rPr lang="zh-CN" altLang="en-US" sz="900">
                  <a:latin typeface="微软雅黑" panose="020B0503020204020204" pitchFamily="34" charset="-122"/>
                  <a:ea typeface="微软雅黑" panose="020B0503020204020204" pitchFamily="34" charset="-122"/>
                </a:rPr>
                <a:t>层</a:t>
              </a:r>
              <a:endParaRPr lang="zh-CN" altLang="en-US" sz="900" dirty="0">
                <a:latin typeface="微软雅黑" panose="020B0503020204020204" pitchFamily="34" charset="-122"/>
                <a:ea typeface="微软雅黑" panose="020B0503020204020204" pitchFamily="34" charset="-122"/>
              </a:endParaRPr>
            </a:p>
            <a:p>
              <a:pPr>
                <a:spcAft>
                  <a:spcPts val="600"/>
                </a:spcAft>
              </a:pPr>
              <a:r>
                <a:rPr lang="zh-CN" altLang="en-US" sz="900" b="1" dirty="0">
                  <a:latin typeface="微软雅黑" panose="020B0503020204020204" pitchFamily="34" charset="-122"/>
                  <a:ea typeface="微软雅黑" panose="020B0503020204020204" pitchFamily="34" charset="-122"/>
                </a:rPr>
                <a:t>电话：</a:t>
              </a:r>
              <a:r>
                <a:rPr lang="en-US" altLang="zh-CN" sz="900" dirty="0">
                  <a:latin typeface="微软雅黑" panose="020B0503020204020204" pitchFamily="34" charset="-122"/>
                  <a:ea typeface="微软雅黑" panose="020B0503020204020204" pitchFamily="34" charset="-122"/>
                </a:rPr>
                <a:t>021-31081600</a:t>
              </a:r>
              <a:endParaRPr lang="en-US" altLang="zh-CN" sz="900" dirty="0">
                <a:latin typeface="微软雅黑" panose="020B0503020204020204" pitchFamily="34" charset="-122"/>
                <a:ea typeface="微软雅黑" panose="020B0503020204020204" pitchFamily="34" charset="-122"/>
              </a:endParaRPr>
            </a:p>
            <a:p>
              <a:pPr>
                <a:spcAft>
                  <a:spcPts val="600"/>
                </a:spcAft>
              </a:pPr>
              <a:r>
                <a:rPr lang="zh-CN" altLang="en-US" sz="900" b="1" dirty="0">
                  <a:latin typeface="微软雅黑" panose="020B0503020204020204" pitchFamily="34" charset="-122"/>
                  <a:ea typeface="微软雅黑" panose="020B0503020204020204" pitchFamily="34" charset="-122"/>
                </a:rPr>
                <a:t>传真：</a:t>
              </a:r>
              <a:r>
                <a:rPr lang="en-US" altLang="zh-CN" sz="900" dirty="0">
                  <a:latin typeface="微软雅黑" panose="020B0503020204020204" pitchFamily="34" charset="-122"/>
                  <a:ea typeface="微软雅黑" panose="020B0503020204020204" pitchFamily="34" charset="-122"/>
                </a:rPr>
                <a:t>021-31081800</a:t>
              </a:r>
              <a:endParaRPr lang="en-US" altLang="zh-CN" sz="900" dirty="0">
                <a:latin typeface="微软雅黑" panose="020B0503020204020204" pitchFamily="34" charset="-122"/>
                <a:ea typeface="微软雅黑" panose="020B0503020204020204" pitchFamily="34" charset="-122"/>
              </a:endParaRPr>
            </a:p>
            <a:p>
              <a:pPr>
                <a:spcAft>
                  <a:spcPts val="600"/>
                </a:spcAft>
              </a:pPr>
              <a:r>
                <a:rPr lang="zh-CN" altLang="en-US" sz="900" b="1" dirty="0">
                  <a:latin typeface="微软雅黑" panose="020B0503020204020204" pitchFamily="34" charset="-122"/>
                  <a:ea typeface="微软雅黑" panose="020B0503020204020204" pitchFamily="34" charset="-122"/>
                </a:rPr>
                <a:t>邮编：</a:t>
              </a:r>
              <a:r>
                <a:rPr lang="en-US" altLang="zh-CN" sz="900" dirty="0">
                  <a:latin typeface="微软雅黑" panose="020B0503020204020204" pitchFamily="34" charset="-122"/>
                  <a:ea typeface="微软雅黑" panose="020B0503020204020204" pitchFamily="34" charset="-122"/>
                </a:rPr>
                <a:t>200082</a:t>
              </a:r>
              <a:endParaRPr lang="en-US" altLang="zh-CN" sz="900" dirty="0">
                <a:latin typeface="微软雅黑" panose="020B0503020204020204" pitchFamily="34" charset="-122"/>
                <a:ea typeface="微软雅黑" panose="020B0503020204020204" pitchFamily="34" charset="-122"/>
              </a:endParaRPr>
            </a:p>
          </p:txBody>
        </p:sp>
        <p:sp>
          <p:nvSpPr>
            <p:cNvPr id="21" name="文本框 20"/>
            <p:cNvSpPr txBox="1"/>
            <p:nvPr/>
          </p:nvSpPr>
          <p:spPr>
            <a:xfrm>
              <a:off x="660400" y="1357213"/>
              <a:ext cx="2804808" cy="276999"/>
            </a:xfrm>
            <a:prstGeom prst="rect">
              <a:avLst/>
            </a:prstGeom>
            <a:noFill/>
          </p:spPr>
          <p:txBody>
            <a:bodyPr wrap="square" rtlCol="0">
              <a:spAutoFit/>
            </a:bodyPr>
            <a:lstStyle/>
            <a:p>
              <a:r>
                <a:rPr lang="zh-CN" altLang="en-US" sz="1200" b="1" dirty="0">
                  <a:solidFill>
                    <a:schemeClr val="accent1"/>
                  </a:solidFill>
                  <a:latin typeface="微软雅黑" panose="020B0503020204020204" pitchFamily="34" charset="-122"/>
                  <a:ea typeface="微软雅黑" panose="020B0503020204020204" pitchFamily="34" charset="-122"/>
                </a:rPr>
                <a:t>国泰基金管理有限公司（上海总部）</a:t>
              </a:r>
              <a:endParaRPr lang="zh-CN" altLang="en-US" sz="1200" b="1" dirty="0">
                <a:solidFill>
                  <a:schemeClr val="accent1"/>
                </a:solidFill>
                <a:latin typeface="微软雅黑" panose="020B0503020204020204" pitchFamily="34" charset="-122"/>
                <a:ea typeface="微软雅黑" panose="020B0503020204020204" pitchFamily="34" charset="-122"/>
              </a:endParaRPr>
            </a:p>
          </p:txBody>
        </p:sp>
      </p:grpSp>
      <p:cxnSp>
        <p:nvCxnSpPr>
          <p:cNvPr id="25" name="直接连接符 24"/>
          <p:cNvCxnSpPr/>
          <p:nvPr userDrawn="1"/>
        </p:nvCxnSpPr>
        <p:spPr>
          <a:xfrm>
            <a:off x="5539921" y="2448651"/>
            <a:ext cx="0" cy="1077348"/>
          </a:xfrm>
          <a:prstGeom prst="line">
            <a:avLst/>
          </a:prstGeom>
          <a:ln w="25400">
            <a:gradFill>
              <a:gsLst>
                <a:gs pos="0">
                  <a:schemeClr val="bg1">
                    <a:lumMod val="85000"/>
                  </a:schemeClr>
                </a:gs>
                <a:gs pos="100000">
                  <a:schemeClr val="bg1">
                    <a:lumMod val="85000"/>
                    <a:alpha val="0"/>
                  </a:schemeClr>
                </a:gs>
              </a:gsLst>
              <a:lin ang="5400000" scaled="1"/>
            </a:gradFill>
            <a:headEnd type="diamond" w="lg" len="lg"/>
          </a:ln>
        </p:spPr>
        <p:style>
          <a:lnRef idx="1">
            <a:schemeClr val="accent1"/>
          </a:lnRef>
          <a:fillRef idx="0">
            <a:schemeClr val="accent1"/>
          </a:fillRef>
          <a:effectRef idx="0">
            <a:schemeClr val="accent1"/>
          </a:effectRef>
          <a:fontRef idx="minor">
            <a:schemeClr val="tx1"/>
          </a:fontRef>
        </p:style>
      </p:cxnSp>
      <p:grpSp>
        <p:nvGrpSpPr>
          <p:cNvPr id="26" name="组合 25"/>
          <p:cNvGrpSpPr/>
          <p:nvPr userDrawn="1"/>
        </p:nvGrpSpPr>
        <p:grpSpPr>
          <a:xfrm>
            <a:off x="2958452" y="2509466"/>
            <a:ext cx="3223049" cy="937246"/>
            <a:chOff x="799449" y="1720675"/>
            <a:chExt cx="3223049" cy="937246"/>
          </a:xfrm>
        </p:grpSpPr>
        <p:sp>
          <p:nvSpPr>
            <p:cNvPr id="27" name="文本框 26"/>
            <p:cNvSpPr txBox="1"/>
            <p:nvPr/>
          </p:nvSpPr>
          <p:spPr>
            <a:xfrm>
              <a:off x="799449" y="1996201"/>
              <a:ext cx="3223049" cy="661720"/>
            </a:xfrm>
            <a:prstGeom prst="rect">
              <a:avLst/>
            </a:prstGeom>
            <a:noFill/>
          </p:spPr>
          <p:txBody>
            <a:bodyPr wrap="square" rtlCol="0">
              <a:spAutoFit/>
            </a:bodyPr>
            <a:lstStyle/>
            <a:p>
              <a:pPr>
                <a:spcAft>
                  <a:spcPts val="600"/>
                </a:spcAft>
              </a:pPr>
              <a:r>
                <a:rPr lang="zh-CN" altLang="en-US" sz="900" b="1" dirty="0">
                  <a:latin typeface="微软雅黑" panose="020B0503020204020204" pitchFamily="34" charset="-122"/>
                  <a:ea typeface="微软雅黑" panose="020B0503020204020204" pitchFamily="34" charset="-122"/>
                </a:rPr>
                <a:t>地址：</a:t>
              </a:r>
              <a:r>
                <a:rPr lang="zh-CN" altLang="en-US" sz="900" dirty="0">
                  <a:latin typeface="微软雅黑" panose="020B0503020204020204" pitchFamily="34" charset="-122"/>
                  <a:ea typeface="微软雅黑" panose="020B0503020204020204" pitchFamily="34" charset="-122"/>
                </a:rPr>
                <a:t>香港金钟轩尼诗道</a:t>
              </a:r>
              <a:r>
                <a:rPr lang="en-US" altLang="zh-CN" sz="900" dirty="0">
                  <a:latin typeface="微软雅黑" panose="020B0503020204020204" pitchFamily="34" charset="-122"/>
                  <a:ea typeface="微软雅黑" panose="020B0503020204020204" pitchFamily="34" charset="-122"/>
                </a:rPr>
                <a:t>28</a:t>
              </a:r>
              <a:r>
                <a:rPr lang="zh-CN" altLang="en-US" sz="900" dirty="0">
                  <a:latin typeface="微软雅黑" panose="020B0503020204020204" pitchFamily="34" charset="-122"/>
                  <a:ea typeface="微软雅黑" panose="020B0503020204020204" pitchFamily="34" charset="-122"/>
                </a:rPr>
                <a:t>号</a:t>
              </a:r>
              <a:r>
                <a:rPr lang="en-US" altLang="zh-CN" sz="900" dirty="0">
                  <a:latin typeface="微软雅黑" panose="020B0503020204020204" pitchFamily="34" charset="-122"/>
                  <a:ea typeface="微软雅黑" panose="020B0503020204020204" pitchFamily="34" charset="-122"/>
                </a:rPr>
                <a:t>8</a:t>
              </a:r>
              <a:r>
                <a:rPr lang="zh-CN" altLang="en-US" sz="900" dirty="0">
                  <a:latin typeface="微软雅黑" panose="020B0503020204020204" pitchFamily="34" charset="-122"/>
                  <a:ea typeface="微软雅黑" panose="020B0503020204020204" pitchFamily="34" charset="-122"/>
                </a:rPr>
                <a:t>楼</a:t>
              </a:r>
              <a:endParaRPr lang="zh-CN" altLang="en-US" sz="900" dirty="0">
                <a:latin typeface="微软雅黑" panose="020B0503020204020204" pitchFamily="34" charset="-122"/>
                <a:ea typeface="微软雅黑" panose="020B0503020204020204" pitchFamily="34" charset="-122"/>
              </a:endParaRPr>
            </a:p>
            <a:p>
              <a:pPr>
                <a:spcAft>
                  <a:spcPts val="600"/>
                </a:spcAft>
              </a:pPr>
              <a:r>
                <a:rPr lang="zh-CN" altLang="en-US" sz="900" b="1" dirty="0">
                  <a:latin typeface="微软雅黑" panose="020B0503020204020204" pitchFamily="34" charset="-122"/>
                  <a:ea typeface="微软雅黑" panose="020B0503020204020204" pitchFamily="34" charset="-122"/>
                </a:rPr>
                <a:t>电话：</a:t>
              </a:r>
              <a:r>
                <a:rPr lang="en-US" altLang="zh-CN" sz="900" dirty="0">
                  <a:latin typeface="微软雅黑" panose="020B0503020204020204" pitchFamily="34" charset="-122"/>
                  <a:ea typeface="微软雅黑" panose="020B0503020204020204" pitchFamily="34" charset="-122"/>
                </a:rPr>
                <a:t>(852)39559665</a:t>
              </a:r>
              <a:endParaRPr lang="en-US" altLang="zh-CN" sz="900" dirty="0">
                <a:latin typeface="微软雅黑" panose="020B0503020204020204" pitchFamily="34" charset="-122"/>
                <a:ea typeface="微软雅黑" panose="020B0503020204020204" pitchFamily="34" charset="-122"/>
              </a:endParaRPr>
            </a:p>
            <a:p>
              <a:pPr>
                <a:spcAft>
                  <a:spcPts val="600"/>
                </a:spcAft>
              </a:pPr>
              <a:r>
                <a:rPr lang="zh-CN" altLang="en-US" sz="900" b="1" dirty="0">
                  <a:latin typeface="微软雅黑" panose="020B0503020204020204" pitchFamily="34" charset="-122"/>
                  <a:ea typeface="微软雅黑" panose="020B0503020204020204" pitchFamily="34" charset="-122"/>
                </a:rPr>
                <a:t>传真：</a:t>
              </a:r>
              <a:r>
                <a:rPr lang="en-US" altLang="zh-CN" sz="900" dirty="0">
                  <a:latin typeface="微软雅黑" panose="020B0503020204020204" pitchFamily="34" charset="-122"/>
                  <a:ea typeface="微软雅黑" panose="020B0503020204020204" pitchFamily="34" charset="-122"/>
                </a:rPr>
                <a:t>(852)39563611</a:t>
              </a:r>
              <a:endParaRPr lang="en-US" altLang="zh-CN" sz="900" dirty="0">
                <a:latin typeface="微软雅黑" panose="020B0503020204020204" pitchFamily="34" charset="-122"/>
                <a:ea typeface="微软雅黑" panose="020B0503020204020204" pitchFamily="34" charset="-122"/>
              </a:endParaRPr>
            </a:p>
          </p:txBody>
        </p:sp>
        <p:sp>
          <p:nvSpPr>
            <p:cNvPr id="28" name="文本框 27"/>
            <p:cNvSpPr txBox="1"/>
            <p:nvPr/>
          </p:nvSpPr>
          <p:spPr>
            <a:xfrm>
              <a:off x="799450" y="1720675"/>
              <a:ext cx="3223044" cy="276999"/>
            </a:xfrm>
            <a:prstGeom prst="rect">
              <a:avLst/>
            </a:prstGeom>
            <a:noFill/>
          </p:spPr>
          <p:txBody>
            <a:bodyPr wrap="square" rtlCol="0">
              <a:spAutoFit/>
            </a:bodyPr>
            <a:lstStyle/>
            <a:p>
              <a:r>
                <a:rPr lang="zh-CN" altLang="en-US" sz="1200" b="1" dirty="0">
                  <a:solidFill>
                    <a:schemeClr val="accent1"/>
                  </a:solidFill>
                  <a:latin typeface="微软雅黑" panose="020B0503020204020204" pitchFamily="34" charset="-122"/>
                  <a:ea typeface="微软雅黑" panose="020B0503020204020204" pitchFamily="34" charset="-122"/>
                </a:rPr>
                <a:t>国泰全球投资管理有限公司</a:t>
              </a:r>
              <a:endParaRPr lang="zh-CN" altLang="en-US" sz="1200" b="1" dirty="0">
                <a:solidFill>
                  <a:schemeClr val="accent1"/>
                </a:solidFill>
                <a:latin typeface="微软雅黑" panose="020B0503020204020204" pitchFamily="34" charset="-122"/>
                <a:ea typeface="微软雅黑" panose="020B0503020204020204" pitchFamily="34" charset="-122"/>
              </a:endParaRPr>
            </a:p>
          </p:txBody>
        </p:sp>
      </p:grpSp>
      <p:grpSp>
        <p:nvGrpSpPr>
          <p:cNvPr id="29" name="组合 28"/>
          <p:cNvGrpSpPr/>
          <p:nvPr userDrawn="1"/>
        </p:nvGrpSpPr>
        <p:grpSpPr>
          <a:xfrm>
            <a:off x="9284606" y="2387904"/>
            <a:ext cx="2191618" cy="1415094"/>
            <a:chOff x="8391616" y="2734213"/>
            <a:chExt cx="2191618" cy="1415094"/>
          </a:xfrm>
        </p:grpSpPr>
        <p:grpSp>
          <p:nvGrpSpPr>
            <p:cNvPr id="30" name="组合 29"/>
            <p:cNvGrpSpPr/>
            <p:nvPr/>
          </p:nvGrpSpPr>
          <p:grpSpPr>
            <a:xfrm>
              <a:off x="8550964" y="3872308"/>
              <a:ext cx="2032270" cy="276999"/>
              <a:chOff x="2161998" y="6328198"/>
              <a:chExt cx="2032270" cy="276999"/>
            </a:xfrm>
          </p:grpSpPr>
          <p:pic>
            <p:nvPicPr>
              <p:cNvPr id="35" name="图片 34" descr="7"/>
              <p:cNvPicPr>
                <a:picLocks noChangeAspect="1"/>
              </p:cNvPicPr>
              <p:nvPr/>
            </p:nvPicPr>
            <p:blipFill>
              <a:blip r:embed="rId7" cstate="print">
                <a:duotone>
                  <a:schemeClr val="accent1">
                    <a:shade val="45000"/>
                    <a:satMod val="135000"/>
                  </a:schemeClr>
                  <a:prstClr val="white"/>
                </a:duotone>
              </a:blip>
              <a:stretch>
                <a:fillRect/>
              </a:stretch>
            </p:blipFill>
            <p:spPr>
              <a:xfrm>
                <a:off x="2161998" y="6408587"/>
                <a:ext cx="92892" cy="136385"/>
              </a:xfrm>
              <a:prstGeom prst="rect">
                <a:avLst/>
              </a:prstGeom>
            </p:spPr>
          </p:pic>
          <p:sp>
            <p:nvSpPr>
              <p:cNvPr id="36" name="文本框 35"/>
              <p:cNvSpPr txBox="1"/>
              <p:nvPr/>
            </p:nvSpPr>
            <p:spPr>
              <a:xfrm>
                <a:off x="2223857" y="6328198"/>
                <a:ext cx="1970411" cy="276999"/>
              </a:xfrm>
              <a:prstGeom prst="rect">
                <a:avLst/>
              </a:prstGeom>
              <a:noFill/>
            </p:spPr>
            <p:txBody>
              <a:bodyPr wrap="none" rtlCol="0">
                <a:spAutoFit/>
              </a:bodyPr>
              <a:lstStyle/>
              <a:p>
                <a:r>
                  <a:rPr lang="zh-CN" altLang="en-US" sz="1100" b="1" strike="noStrike" spc="0" dirty="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客户服务：</a:t>
                </a:r>
                <a:r>
                  <a:rPr lang="zh-CN" altLang="en-US" sz="1200" b="1" strike="noStrike" spc="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400</a:t>
                </a:r>
                <a:r>
                  <a:rPr lang="en-US" altLang="zh-CN" sz="1200" b="1" strike="noStrike" spc="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a:t>
                </a:r>
                <a:r>
                  <a:rPr lang="zh-CN" altLang="en-US" sz="1200" b="1" strike="noStrike" spc="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888-8688</a:t>
                </a:r>
                <a:endParaRPr lang="zh-CN" altLang="en-US" sz="1100" b="1" strike="noStrike" spc="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grpSp>
        <p:pic>
          <p:nvPicPr>
            <p:cNvPr id="31" name="图片 30" descr="9"/>
            <p:cNvPicPr>
              <a:picLocks noChangeAspect="1"/>
            </p:cNvPicPr>
            <p:nvPr/>
          </p:nvPicPr>
          <p:blipFill>
            <a:blip r:embed="rId8" cstate="screen"/>
            <a:stretch>
              <a:fillRect/>
            </a:stretch>
          </p:blipFill>
          <p:spPr>
            <a:xfrm>
              <a:off x="9634461" y="2734213"/>
              <a:ext cx="802976" cy="802976"/>
            </a:xfrm>
            <a:prstGeom prst="rect">
              <a:avLst/>
            </a:prstGeom>
            <a:ln w="9525"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32" name="文本框 31"/>
            <p:cNvSpPr txBox="1"/>
            <p:nvPr/>
          </p:nvSpPr>
          <p:spPr>
            <a:xfrm>
              <a:off x="8391616" y="3537189"/>
              <a:ext cx="1107997" cy="338554"/>
            </a:xfrm>
            <a:prstGeom prst="rect">
              <a:avLst/>
            </a:prstGeom>
            <a:noFill/>
          </p:spPr>
          <p:txBody>
            <a:bodyPr wrap="none" rtlCol="0">
              <a:spAutoFit/>
            </a:bodyPr>
            <a:lstStyle/>
            <a:p>
              <a:pPr algn="ctr"/>
              <a:r>
                <a:rPr lang="zh-CN" altLang="en-US" sz="800" b="1" spc="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扫一扫添加</a:t>
              </a:r>
              <a:endParaRPr lang="zh-CN" altLang="en-US" sz="800" b="1" spc="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a:p>
              <a:pPr algn="ctr"/>
              <a:r>
                <a:rPr lang="zh-CN" altLang="en-US" sz="800" b="1" spc="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“国泰基金服务号</a:t>
              </a:r>
              <a:r>
                <a:rPr lang="zh-CN" altLang="en-US" sz="800" b="1" spc="0" dirty="0">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a:t>
              </a:r>
              <a:endParaRPr lang="zh-CN" altLang="en-US" sz="800" b="1" spc="0" dirty="0">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33" name="文本框 32"/>
            <p:cNvSpPr txBox="1"/>
            <p:nvPr/>
          </p:nvSpPr>
          <p:spPr>
            <a:xfrm>
              <a:off x="9474608" y="3537189"/>
              <a:ext cx="1107997" cy="338554"/>
            </a:xfrm>
            <a:prstGeom prst="rect">
              <a:avLst/>
            </a:prstGeom>
            <a:noFill/>
          </p:spPr>
          <p:txBody>
            <a:bodyPr wrap="none" rtlCol="0">
              <a:spAutoFit/>
            </a:bodyPr>
            <a:lstStyle/>
            <a:p>
              <a:pPr algn="ctr"/>
              <a:r>
                <a:rPr lang="zh-CN" altLang="en-US" sz="800" b="1" spc="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扫一扫添加</a:t>
              </a:r>
              <a:endParaRPr lang="zh-CN" altLang="en-US" sz="800" b="1" spc="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a:p>
              <a:pPr algn="ctr"/>
              <a:r>
                <a:rPr lang="zh-CN" altLang="en-US" sz="800" b="1" spc="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“国泰基金微幸福”</a:t>
              </a:r>
              <a:endParaRPr lang="zh-CN" altLang="en-US" sz="800" b="1" spc="0" dirty="0">
                <a:uFillTx/>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pic>
          <p:nvPicPr>
            <p:cNvPr id="34" name="图片 3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561970" y="2741049"/>
              <a:ext cx="789305" cy="789305"/>
            </a:xfrm>
            <a:prstGeom prst="rect">
              <a:avLst/>
            </a:prstGeom>
            <a:ln w="9525" cap="sq">
              <a:solidFill>
                <a:srgbClr val="000000"/>
              </a:solidFill>
              <a:prstDash val="solid"/>
              <a:miter lim="800000"/>
              <a:headEnd/>
              <a:tailEnd/>
            </a:ln>
            <a:effectLst>
              <a:outerShdw blurRad="50800" dist="38100" dir="2700000" algn="tl" rotWithShape="0">
                <a:srgbClr val="000000">
                  <a:alpha val="43000"/>
                </a:srgbClr>
              </a:outerShdw>
            </a:effectLst>
          </p:spPr>
        </p:pic>
      </p:grpSp>
      <p:grpSp>
        <p:nvGrpSpPr>
          <p:cNvPr id="50" name="组合 49"/>
          <p:cNvGrpSpPr/>
          <p:nvPr userDrawn="1"/>
        </p:nvGrpSpPr>
        <p:grpSpPr>
          <a:xfrm>
            <a:off x="835661" y="3670100"/>
            <a:ext cx="8128344" cy="1295484"/>
            <a:chOff x="835661" y="3670100"/>
            <a:chExt cx="8128344" cy="1295484"/>
          </a:xfrm>
        </p:grpSpPr>
        <p:sp>
          <p:nvSpPr>
            <p:cNvPr id="51" name="文本框 50"/>
            <p:cNvSpPr txBox="1"/>
            <p:nvPr/>
          </p:nvSpPr>
          <p:spPr>
            <a:xfrm>
              <a:off x="6395057" y="3848558"/>
              <a:ext cx="441147" cy="246221"/>
            </a:xfrm>
            <a:prstGeom prst="rect">
              <a:avLst/>
            </a:prstGeom>
            <a:noFill/>
          </p:spPr>
          <p:txBody>
            <a:bodyPr wrap="none" rtlCol="0">
              <a:spAutoFit/>
            </a:bodyPr>
            <a:lstStyle/>
            <a:p>
              <a:pPr algn="ctr"/>
              <a:r>
                <a:rPr lang="zh-CN" altLang="en-US" sz="1000" dirty="0"/>
                <a:t>北京</a:t>
              </a:r>
              <a:endParaRPr lang="zh-CN" altLang="en-US" sz="1000" dirty="0"/>
            </a:p>
          </p:txBody>
        </p:sp>
        <p:sp>
          <p:nvSpPr>
            <p:cNvPr id="52" name="文本框 51"/>
            <p:cNvSpPr txBox="1"/>
            <p:nvPr/>
          </p:nvSpPr>
          <p:spPr>
            <a:xfrm>
              <a:off x="8077064" y="4060065"/>
              <a:ext cx="441147" cy="246221"/>
            </a:xfrm>
            <a:prstGeom prst="rect">
              <a:avLst/>
            </a:prstGeom>
            <a:noFill/>
          </p:spPr>
          <p:txBody>
            <a:bodyPr wrap="none" rtlCol="0">
              <a:spAutoFit/>
            </a:bodyPr>
            <a:lstStyle/>
            <a:p>
              <a:pPr algn="ctr"/>
              <a:r>
                <a:rPr lang="zh-CN" altLang="en-US" sz="1000" dirty="0"/>
                <a:t>青岛</a:t>
              </a:r>
              <a:endParaRPr lang="zh-CN" altLang="en-US" sz="1000" dirty="0"/>
            </a:p>
          </p:txBody>
        </p:sp>
        <p:sp>
          <p:nvSpPr>
            <p:cNvPr id="53" name="文本框 52"/>
            <p:cNvSpPr txBox="1"/>
            <p:nvPr/>
          </p:nvSpPr>
          <p:spPr>
            <a:xfrm>
              <a:off x="8522858" y="4300510"/>
              <a:ext cx="441147" cy="246221"/>
            </a:xfrm>
            <a:prstGeom prst="rect">
              <a:avLst/>
            </a:prstGeom>
            <a:noFill/>
          </p:spPr>
          <p:txBody>
            <a:bodyPr wrap="none" rtlCol="0">
              <a:spAutoFit/>
            </a:bodyPr>
            <a:lstStyle/>
            <a:p>
              <a:pPr algn="ctr"/>
              <a:r>
                <a:rPr lang="zh-CN" altLang="en-US" sz="1000" dirty="0"/>
                <a:t>上海</a:t>
              </a:r>
              <a:endParaRPr lang="zh-CN" altLang="en-US" sz="1000" dirty="0"/>
            </a:p>
          </p:txBody>
        </p:sp>
        <p:sp>
          <p:nvSpPr>
            <p:cNvPr id="54" name="文本框 53"/>
            <p:cNvSpPr txBox="1"/>
            <p:nvPr/>
          </p:nvSpPr>
          <p:spPr>
            <a:xfrm>
              <a:off x="7397304" y="4264863"/>
              <a:ext cx="441147" cy="246221"/>
            </a:xfrm>
            <a:prstGeom prst="rect">
              <a:avLst/>
            </a:prstGeom>
            <a:noFill/>
          </p:spPr>
          <p:txBody>
            <a:bodyPr wrap="none" rtlCol="0">
              <a:spAutoFit/>
            </a:bodyPr>
            <a:lstStyle/>
            <a:p>
              <a:pPr algn="ctr"/>
              <a:r>
                <a:rPr lang="zh-CN" altLang="en-US" sz="1000" dirty="0"/>
                <a:t>南京</a:t>
              </a:r>
              <a:endParaRPr lang="zh-CN" altLang="en-US" sz="1000" dirty="0"/>
            </a:p>
          </p:txBody>
        </p:sp>
        <p:sp>
          <p:nvSpPr>
            <p:cNvPr id="55" name="文本框 54"/>
            <p:cNvSpPr txBox="1"/>
            <p:nvPr/>
          </p:nvSpPr>
          <p:spPr>
            <a:xfrm>
              <a:off x="5098774" y="4689065"/>
              <a:ext cx="441147" cy="246221"/>
            </a:xfrm>
            <a:prstGeom prst="rect">
              <a:avLst/>
            </a:prstGeom>
            <a:noFill/>
          </p:spPr>
          <p:txBody>
            <a:bodyPr wrap="none" rtlCol="0">
              <a:spAutoFit/>
            </a:bodyPr>
            <a:lstStyle/>
            <a:p>
              <a:pPr algn="ctr"/>
              <a:r>
                <a:rPr lang="zh-CN" altLang="en-US" sz="1000" dirty="0"/>
                <a:t>广州</a:t>
              </a:r>
              <a:endParaRPr lang="zh-CN" altLang="en-US" sz="1000" dirty="0"/>
            </a:p>
          </p:txBody>
        </p:sp>
        <p:sp>
          <p:nvSpPr>
            <p:cNvPr id="56" name="文本框 55"/>
            <p:cNvSpPr txBox="1"/>
            <p:nvPr/>
          </p:nvSpPr>
          <p:spPr>
            <a:xfrm>
              <a:off x="5544569" y="4719363"/>
              <a:ext cx="441147" cy="246221"/>
            </a:xfrm>
            <a:prstGeom prst="rect">
              <a:avLst/>
            </a:prstGeom>
            <a:noFill/>
          </p:spPr>
          <p:txBody>
            <a:bodyPr wrap="none" rtlCol="0">
              <a:spAutoFit/>
            </a:bodyPr>
            <a:lstStyle/>
            <a:p>
              <a:pPr algn="ctr"/>
              <a:r>
                <a:rPr lang="zh-CN" altLang="en-US" sz="1000" dirty="0"/>
                <a:t>深圳</a:t>
              </a:r>
              <a:endParaRPr lang="zh-CN" altLang="en-US" sz="1000" dirty="0"/>
            </a:p>
          </p:txBody>
        </p:sp>
        <p:sp>
          <p:nvSpPr>
            <p:cNvPr id="57" name="文本框 56"/>
            <p:cNvSpPr txBox="1"/>
            <p:nvPr/>
          </p:nvSpPr>
          <p:spPr>
            <a:xfrm>
              <a:off x="3450610" y="4538071"/>
              <a:ext cx="441147" cy="246221"/>
            </a:xfrm>
            <a:prstGeom prst="rect">
              <a:avLst/>
            </a:prstGeom>
            <a:noFill/>
          </p:spPr>
          <p:txBody>
            <a:bodyPr wrap="none" rtlCol="0">
              <a:spAutoFit/>
            </a:bodyPr>
            <a:lstStyle/>
            <a:p>
              <a:pPr algn="ctr"/>
              <a:r>
                <a:rPr lang="zh-CN" altLang="en-US" sz="1000" dirty="0"/>
                <a:t>成都</a:t>
              </a:r>
              <a:endParaRPr lang="zh-CN" altLang="en-US" sz="1000" dirty="0"/>
            </a:p>
          </p:txBody>
        </p:sp>
        <p:sp>
          <p:nvSpPr>
            <p:cNvPr id="58" name="文本框 57"/>
            <p:cNvSpPr txBox="1"/>
            <p:nvPr userDrawn="1"/>
          </p:nvSpPr>
          <p:spPr>
            <a:xfrm>
              <a:off x="835661" y="4067975"/>
              <a:ext cx="697628" cy="246221"/>
            </a:xfrm>
            <a:prstGeom prst="rect">
              <a:avLst/>
            </a:prstGeom>
            <a:noFill/>
          </p:spPr>
          <p:txBody>
            <a:bodyPr wrap="none" rtlCol="0">
              <a:spAutoFit/>
            </a:bodyPr>
            <a:lstStyle/>
            <a:p>
              <a:pPr algn="ctr"/>
              <a:r>
                <a:rPr lang="zh-CN" altLang="en-US" sz="1000" dirty="0"/>
                <a:t>乌鲁木齐</a:t>
              </a:r>
              <a:endParaRPr lang="zh-CN" altLang="en-US" sz="1000" dirty="0"/>
            </a:p>
          </p:txBody>
        </p:sp>
        <p:sp>
          <p:nvSpPr>
            <p:cNvPr id="59" name="文本框 58"/>
            <p:cNvSpPr txBox="1"/>
            <p:nvPr userDrawn="1"/>
          </p:nvSpPr>
          <p:spPr>
            <a:xfrm>
              <a:off x="5765143" y="4400605"/>
              <a:ext cx="441146" cy="246221"/>
            </a:xfrm>
            <a:prstGeom prst="rect">
              <a:avLst/>
            </a:prstGeom>
            <a:noFill/>
          </p:spPr>
          <p:txBody>
            <a:bodyPr wrap="none" rtlCol="0">
              <a:spAutoFit/>
            </a:bodyPr>
            <a:lstStyle/>
            <a:p>
              <a:pPr algn="ctr"/>
              <a:r>
                <a:rPr lang="zh-CN" altLang="en-US" sz="1000" dirty="0"/>
                <a:t>厦门</a:t>
              </a:r>
              <a:endParaRPr lang="zh-CN" altLang="en-US" sz="1000" dirty="0"/>
            </a:p>
          </p:txBody>
        </p:sp>
        <p:sp>
          <p:nvSpPr>
            <p:cNvPr id="60" name="文本框 59"/>
            <p:cNvSpPr txBox="1"/>
            <p:nvPr userDrawn="1"/>
          </p:nvSpPr>
          <p:spPr>
            <a:xfrm>
              <a:off x="4042755" y="4114763"/>
              <a:ext cx="441146" cy="246221"/>
            </a:xfrm>
            <a:prstGeom prst="rect">
              <a:avLst/>
            </a:prstGeom>
            <a:noFill/>
          </p:spPr>
          <p:txBody>
            <a:bodyPr wrap="none" rtlCol="0">
              <a:spAutoFit/>
            </a:bodyPr>
            <a:lstStyle/>
            <a:p>
              <a:pPr algn="ctr"/>
              <a:r>
                <a:rPr lang="zh-CN" altLang="en-US" sz="1000" dirty="0"/>
                <a:t>西安</a:t>
              </a:r>
              <a:endParaRPr lang="zh-CN" altLang="en-US" sz="1000" dirty="0"/>
            </a:p>
          </p:txBody>
        </p:sp>
        <p:sp>
          <p:nvSpPr>
            <p:cNvPr id="61" name="文本框 60"/>
            <p:cNvSpPr txBox="1"/>
            <p:nvPr userDrawn="1"/>
          </p:nvSpPr>
          <p:spPr>
            <a:xfrm>
              <a:off x="4767791" y="3964426"/>
              <a:ext cx="441146" cy="246221"/>
            </a:xfrm>
            <a:prstGeom prst="rect">
              <a:avLst/>
            </a:prstGeom>
            <a:noFill/>
          </p:spPr>
          <p:txBody>
            <a:bodyPr wrap="none" rtlCol="0">
              <a:spAutoFit/>
            </a:bodyPr>
            <a:lstStyle/>
            <a:p>
              <a:pPr algn="ctr"/>
              <a:r>
                <a:rPr lang="zh-CN" altLang="en-US" sz="1000" dirty="0"/>
                <a:t>郑州</a:t>
              </a:r>
              <a:endParaRPr lang="zh-CN" altLang="en-US" sz="1000" dirty="0"/>
            </a:p>
          </p:txBody>
        </p:sp>
        <p:sp>
          <p:nvSpPr>
            <p:cNvPr id="62" name="文本框 61"/>
            <p:cNvSpPr txBox="1"/>
            <p:nvPr userDrawn="1"/>
          </p:nvSpPr>
          <p:spPr>
            <a:xfrm>
              <a:off x="7281297" y="3670100"/>
              <a:ext cx="569388" cy="246221"/>
            </a:xfrm>
            <a:prstGeom prst="rect">
              <a:avLst/>
            </a:prstGeom>
            <a:noFill/>
          </p:spPr>
          <p:txBody>
            <a:bodyPr wrap="none" rtlCol="0">
              <a:spAutoFit/>
            </a:bodyPr>
            <a:lstStyle/>
            <a:p>
              <a:pPr algn="ctr"/>
              <a:r>
                <a:rPr lang="zh-CN" altLang="en-US" sz="1000" dirty="0"/>
                <a:t>哈尔滨</a:t>
              </a:r>
              <a:endParaRPr lang="zh-CN" altLang="en-US" sz="1000" dirty="0"/>
            </a:p>
          </p:txBody>
        </p:sp>
      </p:grpSp>
      <p:pic>
        <p:nvPicPr>
          <p:cNvPr id="41" name="图片 40" descr="黑暗中的标志&#10;&#10;描述已自动生成"/>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35661" y="539192"/>
            <a:ext cx="1744094" cy="48409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0.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2" y="0"/>
            <a:ext cx="10858498" cy="1028700"/>
          </a:xfrm>
          <a:prstGeom prst="rect">
            <a:avLst/>
          </a:prstGeom>
        </p:spPr>
        <p:txBody>
          <a:bodyPr vert="horz" lIns="91440" tIns="45720" rIns="91440" bIns="4572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60402" y="1130300"/>
            <a:ext cx="10858500" cy="5003800"/>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cxnSp>
        <p:nvCxnSpPr>
          <p:cNvPr id="7" name="直接连接符 6"/>
          <p:cNvCxnSpPr/>
          <p:nvPr userDrawn="1"/>
        </p:nvCxnSpPr>
        <p:spPr>
          <a:xfrm>
            <a:off x="0" y="1026000"/>
            <a:ext cx="12192000" cy="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660392" y="1026000"/>
            <a:ext cx="3780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页脚占位符 8"/>
          <p:cNvSpPr>
            <a:spLocks noGrp="1"/>
          </p:cNvSpPr>
          <p:nvPr>
            <p:ph type="ftr" sz="quarter" idx="3"/>
          </p:nvPr>
        </p:nvSpPr>
        <p:spPr>
          <a:xfrm>
            <a:off x="4019549" y="6513993"/>
            <a:ext cx="4140201" cy="206381"/>
          </a:xfrm>
          <a:prstGeom prst="rect">
            <a:avLst/>
          </a:prstGeom>
        </p:spPr>
        <p:txBody>
          <a:bodyPr vert="horz" lIns="91440" tIns="45720" rIns="91440" bIns="45720" rtlCol="0" anchor="ctr"/>
          <a:lstStyle>
            <a:lvl1pPr algn="ctr">
              <a:defRPr sz="900">
                <a:solidFill>
                  <a:schemeClr val="accent3"/>
                </a:solidFill>
              </a:defRPr>
            </a:lvl1pPr>
          </a:lstStyle>
          <a:p>
            <a:endParaRPr lang="zh-CN" altLang="en-US" dirty="0"/>
          </a:p>
        </p:txBody>
      </p:sp>
      <p:cxnSp>
        <p:nvCxnSpPr>
          <p:cNvPr id="15" name="直接连接符 14"/>
          <p:cNvCxnSpPr/>
          <p:nvPr userDrawn="1"/>
        </p:nvCxnSpPr>
        <p:spPr>
          <a:xfrm>
            <a:off x="11531608" y="6522424"/>
            <a:ext cx="0" cy="180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Slide Number Placeholder 5"/>
          <p:cNvSpPr>
            <a:spLocks noGrp="1"/>
          </p:cNvSpPr>
          <p:nvPr>
            <p:ph type="sldNum" sz="quarter" idx="4"/>
          </p:nvPr>
        </p:nvSpPr>
        <p:spPr>
          <a:xfrm>
            <a:off x="11518900" y="6504474"/>
            <a:ext cx="673099" cy="215900"/>
          </a:xfrm>
          <a:prstGeom prst="rect">
            <a:avLst/>
          </a:prstGeom>
          <a:noFill/>
        </p:spPr>
        <p:txBody>
          <a:bodyPr anchor="ctr" anchorCtr="0"/>
          <a:lstStyle>
            <a:lvl1pPr marL="0" algn="l" defTabSz="914400" rtl="0" eaLnBrk="1" latinLnBrk="0" hangingPunct="1">
              <a:defRPr lang="en-US" altLang="zh-CN" sz="1000" kern="1200" smtClean="0">
                <a:solidFill>
                  <a:schemeClr val="tx2"/>
                </a:solidFill>
                <a:latin typeface="+mn-lt"/>
                <a:ea typeface="+mn-ea"/>
                <a:cs typeface="+mn-cs"/>
              </a:defRPr>
            </a:lvl1pPr>
          </a:lstStyle>
          <a:p>
            <a:fld id="{7F65B630-C7FF-41C0-9923-C5E5E29EED81}" type="slidenum">
              <a:rPr lang="de-DE" smtClean="0"/>
            </a:fld>
            <a:endParaRPr lang="de-DE" dirty="0"/>
          </a:p>
        </p:txBody>
      </p:sp>
      <p:pic>
        <p:nvPicPr>
          <p:cNvPr id="11" name="图片 10" descr="黑暗中的标志&#10;&#10;描述已自动生成"/>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346525" y="6478736"/>
            <a:ext cx="952507" cy="26438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25.png"/><Relationship Id="rId1"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27.png"/><Relationship Id="rId1" Type="http://schemas.openxmlformats.org/officeDocument/2006/relationships/image" Target="../media/image26.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32.png"/><Relationship Id="rId1"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34.png"/><Relationship Id="rId1"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36.png"/><Relationship Id="rId1" Type="http://schemas.openxmlformats.org/officeDocument/2006/relationships/image" Target="../media/image35.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40.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48.png"/><Relationship Id="rId1" Type="http://schemas.openxmlformats.org/officeDocument/2006/relationships/image" Target="../media/image4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9.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55.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56.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57.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59.png"/><Relationship Id="rId1" Type="http://schemas.openxmlformats.org/officeDocument/2006/relationships/image" Target="../media/image5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副标题 5"/>
          <p:cNvSpPr>
            <a:spLocks noGrp="1"/>
          </p:cNvSpPr>
          <p:nvPr>
            <p:ph type="subTitle" idx="1"/>
          </p:nvPr>
        </p:nvSpPr>
        <p:spPr/>
        <p:txBody>
          <a:bodyPr/>
          <a:lstStyle/>
          <a:p>
            <a:fld id="{0E3C6466-E7D3-4F80-8BD0-DDA1631B47D2}" type="datetime6">
              <a:rPr lang="zh-CN" altLang="en-US" smtClean="0"/>
            </a:fld>
            <a:endParaRPr lang="en-US" altLang="zh-CN" dirty="0"/>
          </a:p>
        </p:txBody>
      </p:sp>
      <p:sp>
        <p:nvSpPr>
          <p:cNvPr id="8" name="文本占位符 7"/>
          <p:cNvSpPr>
            <a:spLocks noGrp="1"/>
          </p:cNvSpPr>
          <p:nvPr>
            <p:ph type="body" sz="quarter" idx="19"/>
          </p:nvPr>
        </p:nvSpPr>
        <p:spPr>
          <a:xfrm>
            <a:off x="1010923" y="1668046"/>
            <a:ext cx="8414494" cy="748583"/>
          </a:xfrm>
        </p:spPr>
        <p:txBody>
          <a:bodyPr>
            <a:normAutofit fontScale="85000" lnSpcReduction="10000"/>
          </a:bodyPr>
          <a:lstStyle/>
          <a:p>
            <a:r>
              <a:rPr lang="en-US" altLang="zh-CN" dirty="0"/>
              <a:t>中国银行股份有限公司企业年金计划</a:t>
            </a:r>
            <a:endParaRPr lang="en-US" altLang="zh-CN" dirty="0"/>
          </a:p>
        </p:txBody>
      </p:sp>
      <p:sp>
        <p:nvSpPr>
          <p:cNvPr id="4" name="文本占位符 7"/>
          <p:cNvSpPr txBox="1"/>
          <p:nvPr/>
        </p:nvSpPr>
        <p:spPr>
          <a:xfrm>
            <a:off x="1010923" y="2516707"/>
            <a:ext cx="8414494" cy="705040"/>
          </a:xfrm>
          <a:prstGeom prst="rect">
            <a:avLst/>
          </a:prstGeom>
        </p:spPr>
        <p:txBody>
          <a:bodyPr vert="horz" lIns="91440" tIns="45720" rIns="91440" bIns="45720" rtlCol="0" anchor="b" anchorCtr="0">
            <a:normAutofit lnSpcReduction="10000"/>
          </a:bodyPr>
          <a:lstStyle>
            <a:lvl1pPr marL="0" indent="0" algn="l" defTabSz="914400" rtl="0" eaLnBrk="1" latinLnBrk="0" hangingPunct="1">
              <a:lnSpc>
                <a:spcPct val="100000"/>
              </a:lnSpc>
              <a:spcBef>
                <a:spcPts val="1000"/>
              </a:spcBef>
              <a:buFontTx/>
              <a:buNone/>
              <a:defRPr lang="zh-CN" altLang="en-US" sz="4400" b="1" kern="1200" dirty="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国泰基金组合投资汇报</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占位符 52"/>
          <p:cNvSpPr>
            <a:spLocks noGrp="1"/>
          </p:cNvSpPr>
          <p:nvPr>
            <p:ph type="body" sz="quarter" idx="28"/>
          </p:nvPr>
        </p:nvSpPr>
        <p:spPr>
          <a:xfrm>
            <a:off x="5795318" y="2047330"/>
            <a:ext cx="4320000" cy="431057"/>
          </a:xfrm>
        </p:spPr>
        <p:txBody>
          <a:bodyPr/>
          <a:lstStyle/>
          <a:p>
            <a:pPr>
              <a:spcBef>
                <a:spcPct val="0"/>
              </a:spcBef>
            </a:pPr>
            <a:r>
              <a:rPr lang="zh-CN" altLang="en-US" b="1" dirty="0"/>
              <a:t>组合业绩分析</a:t>
            </a:r>
            <a:endParaRPr lang="en-US" altLang="zh-CN" b="1" dirty="0"/>
          </a:p>
        </p:txBody>
      </p:sp>
      <p:sp>
        <p:nvSpPr>
          <p:cNvPr id="54" name="文本占位符 53"/>
          <p:cNvSpPr>
            <a:spLocks noGrp="1"/>
          </p:cNvSpPr>
          <p:nvPr>
            <p:ph type="body" sz="quarter" idx="29"/>
          </p:nvPr>
        </p:nvSpPr>
        <p:spPr/>
        <p:txBody>
          <a:bodyPr/>
          <a:lstStyle/>
          <a:p>
            <a:r>
              <a:rPr lang="en-US" altLang="zh-CN" dirty="0"/>
              <a:t>01</a:t>
            </a:r>
            <a:endParaRPr lang="zh-CN" altLang="en-US" dirty="0"/>
          </a:p>
        </p:txBody>
      </p:sp>
      <p:sp>
        <p:nvSpPr>
          <p:cNvPr id="55" name="文本占位符 54"/>
          <p:cNvSpPr>
            <a:spLocks noGrp="1"/>
          </p:cNvSpPr>
          <p:nvPr>
            <p:ph type="body" sz="quarter" idx="30"/>
          </p:nvPr>
        </p:nvSpPr>
        <p:spPr/>
        <p:txBody>
          <a:bodyPr/>
          <a:lstStyle/>
          <a:p>
            <a:r>
              <a:rPr lang="zh-CN" altLang="en-US" sz="3200" b="1" dirty="0"/>
              <a:t>目录</a:t>
            </a:r>
            <a:endParaRPr lang="zh-CN" altLang="en-US" sz="3200" b="1" dirty="0"/>
          </a:p>
        </p:txBody>
      </p:sp>
      <p:sp>
        <p:nvSpPr>
          <p:cNvPr id="56" name="文本占位符 55"/>
          <p:cNvSpPr>
            <a:spLocks noGrp="1"/>
          </p:cNvSpPr>
          <p:nvPr>
            <p:ph type="body" sz="quarter" idx="31"/>
          </p:nvPr>
        </p:nvSpPr>
        <p:spPr/>
        <p:txBody>
          <a:bodyPr/>
          <a:lstStyle/>
          <a:p>
            <a:r>
              <a:rPr lang="en-US" altLang="zh-CN" sz="1200" spc="600" dirty="0">
                <a:solidFill>
                  <a:schemeClr val="bg1">
                    <a:lumMod val="65000"/>
                  </a:schemeClr>
                </a:solidFill>
              </a:rPr>
              <a:t>Contents</a:t>
            </a:r>
            <a:endParaRPr lang="zh-CN" altLang="en-US" sz="1200" spc="600" dirty="0">
              <a:solidFill>
                <a:schemeClr val="bg1">
                  <a:lumMod val="65000"/>
                </a:schemeClr>
              </a:solidFill>
            </a:endParaRPr>
          </a:p>
        </p:txBody>
      </p:sp>
      <p:sp>
        <p:nvSpPr>
          <p:cNvPr id="57" name="文本占位符 56"/>
          <p:cNvSpPr>
            <a:spLocks noGrp="1"/>
          </p:cNvSpPr>
          <p:nvPr>
            <p:ph type="body" sz="quarter" idx="32"/>
          </p:nvPr>
        </p:nvSpPr>
        <p:spPr>
          <a:xfrm>
            <a:off x="5795318" y="2777853"/>
            <a:ext cx="4320000" cy="431057"/>
          </a:xfrm>
        </p:spPr>
        <p:txBody>
          <a:bodyPr/>
          <a:lstStyle/>
          <a:p>
            <a:pPr>
              <a:spcBef>
                <a:spcPct val="0"/>
              </a:spcBef>
            </a:pPr>
            <a:r>
              <a:rPr lang="zh-CN" altLang="en-US" b="1" dirty="0"/>
              <a:t>投资操作回顾</a:t>
            </a:r>
            <a:endParaRPr lang="en-US" altLang="zh-CN" b="1" dirty="0"/>
          </a:p>
        </p:txBody>
      </p:sp>
      <p:sp>
        <p:nvSpPr>
          <p:cNvPr id="58" name="文本占位符 57"/>
          <p:cNvSpPr>
            <a:spLocks noGrp="1"/>
          </p:cNvSpPr>
          <p:nvPr>
            <p:ph type="body" sz="quarter" idx="33"/>
          </p:nvPr>
        </p:nvSpPr>
        <p:spPr/>
        <p:txBody>
          <a:bodyPr/>
          <a:lstStyle/>
          <a:p>
            <a:r>
              <a:rPr lang="en-US" altLang="zh-CN" dirty="0"/>
              <a:t>02</a:t>
            </a:r>
            <a:endParaRPr lang="zh-CN" altLang="en-US" dirty="0"/>
          </a:p>
        </p:txBody>
      </p:sp>
      <p:sp>
        <p:nvSpPr>
          <p:cNvPr id="59" name="文本占位符 58"/>
          <p:cNvSpPr>
            <a:spLocks noGrp="1"/>
          </p:cNvSpPr>
          <p:nvPr>
            <p:ph type="body" sz="quarter" idx="34"/>
          </p:nvPr>
        </p:nvSpPr>
        <p:spPr>
          <a:xfrm>
            <a:off x="5795318" y="3508376"/>
            <a:ext cx="4320000" cy="431057"/>
          </a:xfrm>
        </p:spPr>
        <p:txBody>
          <a:bodyPr/>
          <a:lstStyle/>
          <a:p>
            <a:pPr>
              <a:spcBef>
                <a:spcPct val="0"/>
              </a:spcBef>
            </a:pPr>
            <a:r>
              <a:rPr lang="zh-CN" altLang="en-US" b="1" dirty="0"/>
              <a:t>下阶段市场研判及组合操作策略</a:t>
            </a:r>
            <a:endParaRPr lang="zh-CN" altLang="en-US" b="1" dirty="0"/>
          </a:p>
        </p:txBody>
      </p:sp>
      <p:sp>
        <p:nvSpPr>
          <p:cNvPr id="60" name="文本占位符 59"/>
          <p:cNvSpPr>
            <a:spLocks noGrp="1"/>
          </p:cNvSpPr>
          <p:nvPr>
            <p:ph type="body" sz="quarter" idx="35"/>
          </p:nvPr>
        </p:nvSpPr>
        <p:spPr/>
        <p:txBody>
          <a:bodyPr/>
          <a:lstStyle/>
          <a:p>
            <a:r>
              <a:rPr lang="en-US" altLang="zh-CN" dirty="0"/>
              <a:t>03</a:t>
            </a:r>
            <a:endParaRPr lang="zh-CN" altLang="en-US" dirty="0"/>
          </a:p>
        </p:txBody>
      </p:sp>
      <p:sp>
        <p:nvSpPr>
          <p:cNvPr id="3" name="灯片编号占位符 2"/>
          <p:cNvSpPr>
            <a:spLocks noGrp="1"/>
          </p:cNvSpPr>
          <p:nvPr>
            <p:ph type="sldNum" sz="quarter" idx="4"/>
          </p:nvPr>
        </p:nvSpPr>
        <p:spPr/>
        <p:txBody>
          <a:bodyPr/>
          <a:lstStyle/>
          <a:p>
            <a:fld id="{7F65B630-C7FF-41C0-9923-C5E5E29EED81}" type="slidenum">
              <a:rPr lang="de-DE" smtClean="0"/>
            </a:fld>
            <a:endParaRPr lang="de-DE"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占位符 16"/>
          <p:cNvSpPr>
            <a:spLocks noGrp="1"/>
          </p:cNvSpPr>
          <p:nvPr>
            <p:ph type="body" sz="quarter" idx="18"/>
          </p:nvPr>
        </p:nvSpPr>
        <p:spPr>
          <a:xfrm>
            <a:off x="2417763" y="2143148"/>
            <a:ext cx="1211262" cy="939754"/>
          </a:xfrm>
        </p:spPr>
        <p:txBody>
          <a:bodyPr/>
          <a:lstStyle/>
          <a:p>
            <a:pPr lvl="0"/>
            <a:r>
              <a:rPr lang="en-US" altLang="zh-CN"/>
              <a:t>01</a:t>
            </a:r>
            <a:endParaRPr lang="zh-CN" altLang="en-US" dirty="0"/>
          </a:p>
        </p:txBody>
      </p:sp>
      <p:sp>
        <p:nvSpPr>
          <p:cNvPr id="11" name="标题 10"/>
          <p:cNvSpPr>
            <a:spLocks noGrp="1"/>
          </p:cNvSpPr>
          <p:nvPr>
            <p:ph type="title"/>
          </p:nvPr>
        </p:nvSpPr>
        <p:spPr/>
        <p:txBody>
          <a:bodyPr>
            <a:normAutofit/>
          </a:bodyPr>
          <a:lstStyle/>
          <a:p>
            <a:r>
              <a:rPr lang="zh-CN" altLang="en-US" sz="2400" dirty="0"/>
              <a:t>组合业绩分析</a:t>
            </a:r>
            <a:endParaRPr lang="zh-CN" altLang="en-US" sz="2400" dirty="0"/>
          </a:p>
        </p:txBody>
      </p:sp>
      <p:sp>
        <p:nvSpPr>
          <p:cNvPr id="3" name="灯片编号占位符 2"/>
          <p:cNvSpPr>
            <a:spLocks noGrp="1"/>
          </p:cNvSpPr>
          <p:nvPr>
            <p:ph type="sldNum" sz="quarter" idx="4"/>
          </p:nvPr>
        </p:nvSpPr>
        <p:spPr/>
        <p:txBody>
          <a:bodyPr/>
          <a:lstStyle/>
          <a:p>
            <a:fld id="{7F65B630-C7FF-41C0-9923-C5E5E29EED81}" type="slidenum">
              <a:rPr lang="de-DE" smtClean="0"/>
            </a:fld>
            <a:endParaRPr lang="de-DE"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组合业绩情况</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sp>
        <p:nvSpPr>
          <p:cNvPr id="12" name="step3b-summary-bg"/>
          <p:cNvSpPr/>
          <p:nvPr/>
        </p:nvSpPr>
        <p:spPr>
          <a:xfrm>
            <a:off x="571500" y="1162050"/>
            <a:ext cx="6429375" cy="2238375"/>
          </a:xfrm>
          <a:prstGeom prst="rect">
            <a:avLst/>
          </a:prstGeom>
          <a:solidFill>
            <a:srgbClr val="F2F2F2"/>
          </a:solidFill>
          <a:ln>
            <a:noFill/>
          </a:ln>
        </p:spPr>
      </p:sp>
      <p:sp>
        <p:nvSpPr>
          <p:cNvPr id="13" name="step3b-summary-dot-1"/>
          <p:cNvSpPr/>
          <p:nvPr/>
        </p:nvSpPr>
        <p:spPr>
          <a:xfrm>
            <a:off x="742950" y="1328738"/>
            <a:ext cx="95250" cy="95250"/>
          </a:xfrm>
          <a:prstGeom prst="ellipse">
            <a:avLst/>
          </a:prstGeom>
          <a:solidFill>
            <a:srgbClr val="B00020"/>
          </a:solidFill>
          <a:ln>
            <a:noFill/>
          </a:ln>
        </p:spPr>
      </p:sp>
      <p:sp>
        <p:nvSpPr>
          <p:cNvPr id="14" name="step3b-summary-text-1"/>
          <p:cNvSpPr txBox="1"/>
          <p:nvPr/>
        </p:nvSpPr>
        <p:spPr>
          <a:xfrm>
            <a:off x="971550" y="1276350"/>
            <a:ext cx="5876925" cy="400050"/>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组合成立于2008年12月26日，截至2023年3月31日，组合资产净值达到61.3亿元，自运作以来累计实现131.19%的收益率，复合年化收益率为6.05%；2023年1月1日-2023年3月31日实现收益2.63%。</a:t>
            </a:r>
            <a:endParaRPr lang="zh-CN" sz="1200" b="0">
              <a:solidFill>
                <a:srgbClr val="000000"/>
              </a:solidFill>
              <a:latin typeface="微软雅黑" panose="020B0503020204020204" pitchFamily="34" charset="-122"/>
              <a:ea typeface="微软雅黑" panose="020B0503020204020204" pitchFamily="34" charset="-122"/>
            </a:endParaRPr>
          </a:p>
        </p:txBody>
      </p:sp>
      <p:sp>
        <p:nvSpPr>
          <p:cNvPr id="15" name="step3b-summary-dot-2"/>
          <p:cNvSpPr/>
          <p:nvPr/>
        </p:nvSpPr>
        <p:spPr>
          <a:xfrm>
            <a:off x="742950" y="1848802"/>
            <a:ext cx="95250" cy="95250"/>
          </a:xfrm>
          <a:prstGeom prst="ellipse">
            <a:avLst/>
          </a:prstGeom>
          <a:solidFill>
            <a:srgbClr val="B00020"/>
          </a:solidFill>
          <a:ln>
            <a:noFill/>
          </a:ln>
        </p:spPr>
      </p:sp>
      <p:sp>
        <p:nvSpPr>
          <p:cNvPr id="16" name="step3b-summary-text-2"/>
          <p:cNvSpPr txBox="1"/>
          <p:nvPr/>
        </p:nvSpPr>
        <p:spPr>
          <a:xfrm>
            <a:off x="971550" y="1796415"/>
            <a:ext cx="5876925" cy="20002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3月31日单位净值 2.31189314751457</a:t>
            </a:r>
            <a:endParaRPr lang="zh-CN" sz="1200" b="0">
              <a:solidFill>
                <a:srgbClr val="000000"/>
              </a:solidFill>
              <a:latin typeface="微软雅黑" panose="020B0503020204020204" pitchFamily="34" charset="-122"/>
              <a:ea typeface="微软雅黑" panose="020B0503020204020204" pitchFamily="34" charset="-122"/>
            </a:endParaRPr>
          </a:p>
        </p:txBody>
      </p:sp>
      <p:sp>
        <p:nvSpPr>
          <p:cNvPr id="17" name="step3b-summary-dot-3"/>
          <p:cNvSpPr/>
          <p:nvPr/>
        </p:nvSpPr>
        <p:spPr>
          <a:xfrm>
            <a:off x="742950" y="2168842"/>
            <a:ext cx="95250" cy="95250"/>
          </a:xfrm>
          <a:prstGeom prst="ellipse">
            <a:avLst/>
          </a:prstGeom>
          <a:solidFill>
            <a:srgbClr val="B00020"/>
          </a:solidFill>
          <a:ln>
            <a:noFill/>
          </a:ln>
        </p:spPr>
      </p:sp>
      <p:sp>
        <p:nvSpPr>
          <p:cNvPr id="18" name="step3b-summary-text-3"/>
          <p:cNvSpPr txBox="1"/>
          <p:nvPr/>
        </p:nvSpPr>
        <p:spPr>
          <a:xfrm>
            <a:off x="971550" y="2116455"/>
            <a:ext cx="5876925" cy="20002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最新资产净值（亿元） 61.34461489</a:t>
            </a:r>
            <a:endParaRPr lang="zh-CN" sz="1200" b="0">
              <a:solidFill>
                <a:srgbClr val="000000"/>
              </a:solidFill>
              <a:latin typeface="微软雅黑" panose="020B0503020204020204" pitchFamily="34" charset="-122"/>
              <a:ea typeface="微软雅黑" panose="020B0503020204020204" pitchFamily="34" charset="-122"/>
            </a:endParaRPr>
          </a:p>
        </p:txBody>
      </p:sp>
      <p:sp>
        <p:nvSpPr>
          <p:cNvPr id="19" name="step3b-summary-dot-4"/>
          <p:cNvSpPr/>
          <p:nvPr/>
        </p:nvSpPr>
        <p:spPr>
          <a:xfrm>
            <a:off x="742950" y="2488882"/>
            <a:ext cx="95250" cy="95250"/>
          </a:xfrm>
          <a:prstGeom prst="ellipse">
            <a:avLst/>
          </a:prstGeom>
          <a:solidFill>
            <a:srgbClr val="B00020"/>
          </a:solidFill>
          <a:ln>
            <a:noFill/>
          </a:ln>
        </p:spPr>
      </p:sp>
      <p:sp>
        <p:nvSpPr>
          <p:cNvPr id="20" name="step3b-summary-text-4"/>
          <p:cNvSpPr txBox="1"/>
          <p:nvPr/>
        </p:nvSpPr>
        <p:spPr>
          <a:xfrm>
            <a:off x="971550" y="2436495"/>
            <a:ext cx="5876925" cy="20002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报告期收益率（%） 2.63340607022445 业绩归因收益率校验：一致</a:t>
            </a:r>
            <a:endParaRPr lang="zh-CN" sz="1200" b="0">
              <a:solidFill>
                <a:srgbClr val="000000"/>
              </a:solidFill>
              <a:latin typeface="微软雅黑" panose="020B0503020204020204" pitchFamily="34" charset="-122"/>
              <a:ea typeface="微软雅黑" panose="020B0503020204020204" pitchFamily="34" charset="-122"/>
            </a:endParaRPr>
          </a:p>
        </p:txBody>
      </p:sp>
      <p:pic>
        <p:nvPicPr>
          <p:cNvPr id="22" name="step3b-image-4-1"/>
          <p:cNvPicPr>
            <a:picLocks noChangeAspect="1"/>
          </p:cNvPicPr>
          <p:nvPr/>
        </p:nvPicPr>
        <p:blipFill>
          <a:blip r:embed="rId1"/>
          <a:stretch>
            <a:fillRect/>
          </a:stretch>
        </p:blipFill>
        <p:spPr>
          <a:xfrm>
            <a:off x="7239000" y="1170381"/>
            <a:ext cx="4095750" cy="2183613"/>
          </a:xfrm>
          <a:prstGeom prst="rect">
            <a:avLst/>
          </a:prstGeom>
          <a:ln w="6350">
            <a:solidFill>
              <a:srgbClr val="D9D9D9"/>
            </a:solidFill>
          </a:ln>
        </p:spPr>
      </p:pic>
      <p:pic>
        <p:nvPicPr>
          <p:cNvPr id="23" name="step3b-image-4-2"/>
          <p:cNvPicPr>
            <a:picLocks noChangeAspect="1"/>
          </p:cNvPicPr>
          <p:nvPr/>
        </p:nvPicPr>
        <p:blipFill>
          <a:blip r:embed="rId2"/>
          <a:stretch>
            <a:fillRect/>
          </a:stretch>
        </p:blipFill>
        <p:spPr>
          <a:xfrm>
            <a:off x="1180971" y="3667125"/>
            <a:ext cx="4019807" cy="2143125"/>
          </a:xfrm>
          <a:prstGeom prst="rect">
            <a:avLst/>
          </a:prstGeom>
          <a:ln w="6350">
            <a:solidFill>
              <a:srgbClr val="D9D9D9"/>
            </a:solidFill>
          </a:ln>
        </p:spPr>
      </p:pic>
      <p:pic>
        <p:nvPicPr>
          <p:cNvPr id="24" name="step3b-image-4-3"/>
          <p:cNvPicPr>
            <a:picLocks noChangeAspect="1"/>
          </p:cNvPicPr>
          <p:nvPr/>
        </p:nvPicPr>
        <p:blipFill>
          <a:blip r:embed="rId3"/>
          <a:stretch>
            <a:fillRect/>
          </a:stretch>
        </p:blipFill>
        <p:spPr>
          <a:xfrm>
            <a:off x="6705471" y="3667125"/>
            <a:ext cx="4019807" cy="2143125"/>
          </a:xfrm>
          <a:prstGeom prst="rect">
            <a:avLst/>
          </a:prstGeom>
          <a:ln w="6350">
            <a:solidFill>
              <a:srgbClr val="D9D9D9"/>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组合业绩归因</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sp>
        <p:nvSpPr>
          <p:cNvPr id="12" name="step3b-summary-bg"/>
          <p:cNvSpPr/>
          <p:nvPr/>
        </p:nvSpPr>
        <p:spPr>
          <a:xfrm>
            <a:off x="571500" y="1162050"/>
            <a:ext cx="10763250" cy="1714500"/>
          </a:xfrm>
          <a:prstGeom prst="rect">
            <a:avLst/>
          </a:prstGeom>
          <a:solidFill>
            <a:srgbClr val="F2F2F2"/>
          </a:solidFill>
          <a:ln>
            <a:noFill/>
          </a:ln>
        </p:spPr>
      </p:sp>
      <p:sp>
        <p:nvSpPr>
          <p:cNvPr id="13" name="step3b-summary-dot-1"/>
          <p:cNvSpPr/>
          <p:nvPr/>
        </p:nvSpPr>
        <p:spPr>
          <a:xfrm>
            <a:off x="742950" y="1328738"/>
            <a:ext cx="95250" cy="95250"/>
          </a:xfrm>
          <a:prstGeom prst="ellipse">
            <a:avLst/>
          </a:prstGeom>
          <a:solidFill>
            <a:srgbClr val="B00020"/>
          </a:solidFill>
          <a:ln>
            <a:noFill/>
          </a:ln>
        </p:spPr>
      </p:sp>
      <p:sp>
        <p:nvSpPr>
          <p:cNvPr id="14" name="step3b-summary-text-1"/>
          <p:cNvSpPr txBox="1"/>
          <p:nvPr/>
        </p:nvSpPr>
        <p:spPr>
          <a:xfrm>
            <a:off x="971550" y="1276350"/>
            <a:ext cx="10210800" cy="20002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流动性资产：2023年1月1日-2023年3月31日，组合穿透前流动资产收益贡献0.03%（穿透后0.03%）；</a:t>
            </a:r>
            <a:endParaRPr lang="zh-CN" sz="1200" b="0">
              <a:solidFill>
                <a:srgbClr val="000000"/>
              </a:solidFill>
              <a:latin typeface="微软雅黑" panose="020B0503020204020204" pitchFamily="34" charset="-122"/>
              <a:ea typeface="微软雅黑" panose="020B0503020204020204" pitchFamily="34" charset="-122"/>
            </a:endParaRPr>
          </a:p>
        </p:txBody>
      </p:sp>
      <p:sp>
        <p:nvSpPr>
          <p:cNvPr id="15" name="step3b-summary-dot-2"/>
          <p:cNvSpPr/>
          <p:nvPr/>
        </p:nvSpPr>
        <p:spPr>
          <a:xfrm>
            <a:off x="742950" y="1648778"/>
            <a:ext cx="95250" cy="95250"/>
          </a:xfrm>
          <a:prstGeom prst="ellipse">
            <a:avLst/>
          </a:prstGeom>
          <a:solidFill>
            <a:srgbClr val="B00020"/>
          </a:solidFill>
          <a:ln>
            <a:noFill/>
          </a:ln>
        </p:spPr>
      </p:sp>
      <p:sp>
        <p:nvSpPr>
          <p:cNvPr id="16" name="step3b-summary-text-2"/>
          <p:cNvSpPr txBox="1"/>
          <p:nvPr/>
        </p:nvSpPr>
        <p:spPr>
          <a:xfrm>
            <a:off x="971550" y="1596390"/>
            <a:ext cx="10210800" cy="60007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固收方面，2023年1月1日-2023年3月31日，组合固定收益类资产收益贡献1.36%（穿透后1.28%），其中成本计价类资产贡献0.24%（穿透后0.32%），市值计价类资产贡献1.12%（穿透后0.97%）。固定收益类资产收益率1.52%（穿透后1.43%），年化收益率6.29%（穿透后5.91%）。同期中债企业债AAA财富（1-3年）指数、wind中长期纯债型基金指数收益率分别为1.28%、0.97%。</a:t>
            </a:r>
            <a:endParaRPr lang="zh-CN" sz="1200" b="0">
              <a:solidFill>
                <a:srgbClr val="000000"/>
              </a:solidFill>
              <a:latin typeface="微软雅黑" panose="020B0503020204020204" pitchFamily="34" charset="-122"/>
              <a:ea typeface="微软雅黑" panose="020B0503020204020204" pitchFamily="34" charset="-122"/>
            </a:endParaRPr>
          </a:p>
        </p:txBody>
      </p:sp>
      <p:sp>
        <p:nvSpPr>
          <p:cNvPr id="17" name="step3b-summary-dot-3"/>
          <p:cNvSpPr/>
          <p:nvPr/>
        </p:nvSpPr>
        <p:spPr>
          <a:xfrm>
            <a:off x="742950" y="2368868"/>
            <a:ext cx="95250" cy="95250"/>
          </a:xfrm>
          <a:prstGeom prst="ellipse">
            <a:avLst/>
          </a:prstGeom>
          <a:solidFill>
            <a:srgbClr val="B00020"/>
          </a:solidFill>
          <a:ln>
            <a:noFill/>
          </a:ln>
        </p:spPr>
      </p:sp>
      <p:sp>
        <p:nvSpPr>
          <p:cNvPr id="18" name="step3b-summary-text-3"/>
          <p:cNvSpPr txBox="1"/>
          <p:nvPr/>
        </p:nvSpPr>
        <p:spPr>
          <a:xfrm>
            <a:off x="971550" y="2316480"/>
            <a:ext cx="10210800" cy="400050"/>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权益方面，2023年1月1日-2023年3月31日，组合权益类资产收益贡献1.42%（穿透后1.54%），资产收益率8.30%，同期上证指数收益率5.94%（万得），获得了2.36%（组合权益收益率-上证指数同期资产收益率）的超额收益。</a:t>
            </a:r>
            <a:endParaRPr lang="zh-CN" sz="1200" b="0">
              <a:solidFill>
                <a:srgbClr val="000000"/>
              </a:solidFill>
              <a:latin typeface="微软雅黑" panose="020B0503020204020204" pitchFamily="34" charset="-122"/>
              <a:ea typeface="微软雅黑" panose="020B0503020204020204" pitchFamily="34" charset="-122"/>
            </a:endParaRPr>
          </a:p>
        </p:txBody>
      </p:sp>
      <p:pic>
        <p:nvPicPr>
          <p:cNvPr id="20" name="step3b-image-5-1"/>
          <p:cNvPicPr>
            <a:picLocks noChangeAspect="1"/>
          </p:cNvPicPr>
          <p:nvPr/>
        </p:nvPicPr>
        <p:blipFill>
          <a:blip r:embed="rId1"/>
          <a:stretch>
            <a:fillRect/>
          </a:stretch>
        </p:blipFill>
        <p:spPr>
          <a:xfrm>
            <a:off x="1051083" y="3190875"/>
            <a:ext cx="4279583" cy="2476500"/>
          </a:xfrm>
          <a:prstGeom prst="rect">
            <a:avLst/>
          </a:prstGeom>
          <a:ln w="6350">
            <a:solidFill>
              <a:srgbClr val="D9D9D9"/>
            </a:solidFill>
          </a:ln>
        </p:spPr>
      </p:pic>
      <p:pic>
        <p:nvPicPr>
          <p:cNvPr id="21" name="step3b-image-5-2"/>
          <p:cNvPicPr>
            <a:picLocks noChangeAspect="1"/>
          </p:cNvPicPr>
          <p:nvPr/>
        </p:nvPicPr>
        <p:blipFill>
          <a:blip r:embed="rId2"/>
          <a:stretch>
            <a:fillRect/>
          </a:stretch>
        </p:blipFill>
        <p:spPr>
          <a:xfrm>
            <a:off x="6692743" y="3190875"/>
            <a:ext cx="4045264" cy="2476500"/>
          </a:xfrm>
          <a:prstGeom prst="rect">
            <a:avLst/>
          </a:prstGeom>
          <a:ln w="6350">
            <a:solidFill>
              <a:srgbClr val="D9D9D9"/>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今年以来资产配置回顾</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sp>
        <p:nvSpPr>
          <p:cNvPr id="12" name="step3b-summary-bg"/>
          <p:cNvSpPr/>
          <p:nvPr/>
        </p:nvSpPr>
        <p:spPr>
          <a:xfrm>
            <a:off x="571500" y="1162050"/>
            <a:ext cx="10763250" cy="1714500"/>
          </a:xfrm>
          <a:prstGeom prst="rect">
            <a:avLst/>
          </a:prstGeom>
          <a:solidFill>
            <a:srgbClr val="F2F2F2"/>
          </a:solidFill>
          <a:ln>
            <a:noFill/>
          </a:ln>
        </p:spPr>
      </p:sp>
      <p:sp>
        <p:nvSpPr>
          <p:cNvPr id="13" name="step3b-summary-dot-1"/>
          <p:cNvSpPr/>
          <p:nvPr/>
        </p:nvSpPr>
        <p:spPr>
          <a:xfrm>
            <a:off x="742950" y="1328738"/>
            <a:ext cx="95250" cy="95250"/>
          </a:xfrm>
          <a:prstGeom prst="ellipse">
            <a:avLst/>
          </a:prstGeom>
          <a:solidFill>
            <a:srgbClr val="B00020"/>
          </a:solidFill>
          <a:ln>
            <a:noFill/>
          </a:ln>
        </p:spPr>
      </p:sp>
      <p:sp>
        <p:nvSpPr>
          <p:cNvPr id="14" name="step3b-summary-text-1"/>
          <p:cNvSpPr txBox="1"/>
          <p:nvPr/>
        </p:nvSpPr>
        <p:spPr>
          <a:xfrm>
            <a:off x="971550" y="1276350"/>
            <a:ext cx="10210800" cy="20002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持仓变动，穿透来看</a:t>
            </a:r>
            <a:endParaRPr lang="zh-CN" sz="1200" b="0">
              <a:solidFill>
                <a:srgbClr val="000000"/>
              </a:solidFill>
              <a:latin typeface="微软雅黑" panose="020B0503020204020204" pitchFamily="34" charset="-122"/>
              <a:ea typeface="微软雅黑" panose="020B0503020204020204" pitchFamily="34" charset="-122"/>
            </a:endParaRPr>
          </a:p>
        </p:txBody>
      </p:sp>
      <p:sp>
        <p:nvSpPr>
          <p:cNvPr id="15" name="step3b-summary-dot-2"/>
          <p:cNvSpPr/>
          <p:nvPr/>
        </p:nvSpPr>
        <p:spPr>
          <a:xfrm>
            <a:off x="742950" y="1648778"/>
            <a:ext cx="95250" cy="95250"/>
          </a:xfrm>
          <a:prstGeom prst="ellipse">
            <a:avLst/>
          </a:prstGeom>
          <a:solidFill>
            <a:srgbClr val="B00020"/>
          </a:solidFill>
          <a:ln>
            <a:noFill/>
          </a:ln>
        </p:spPr>
      </p:sp>
      <p:sp>
        <p:nvSpPr>
          <p:cNvPr id="16" name="step3b-summary-text-2"/>
          <p:cNvSpPr txBox="1"/>
          <p:nvPr/>
        </p:nvSpPr>
        <p:spPr>
          <a:xfrm>
            <a:off x="971550" y="1596390"/>
            <a:ext cx="10210800" cy="20002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组合初始权益类资产仓位约15.65%，报告期间在【15.65%，19.30%】波动，期末收于17.05%</a:t>
            </a:r>
            <a:endParaRPr lang="zh-CN" sz="1200" b="0">
              <a:solidFill>
                <a:srgbClr val="000000"/>
              </a:solidFill>
              <a:latin typeface="微软雅黑" panose="020B0503020204020204" pitchFamily="34" charset="-122"/>
              <a:ea typeface="微软雅黑" panose="020B0503020204020204" pitchFamily="34" charset="-122"/>
            </a:endParaRPr>
          </a:p>
        </p:txBody>
      </p:sp>
      <p:sp>
        <p:nvSpPr>
          <p:cNvPr id="17" name="step3b-summary-dot-3"/>
          <p:cNvSpPr/>
          <p:nvPr/>
        </p:nvSpPr>
        <p:spPr>
          <a:xfrm>
            <a:off x="742950" y="1968818"/>
            <a:ext cx="95250" cy="95250"/>
          </a:xfrm>
          <a:prstGeom prst="ellipse">
            <a:avLst/>
          </a:prstGeom>
          <a:solidFill>
            <a:srgbClr val="B00020"/>
          </a:solidFill>
          <a:ln>
            <a:noFill/>
          </a:ln>
        </p:spPr>
      </p:sp>
      <p:sp>
        <p:nvSpPr>
          <p:cNvPr id="18" name="step3b-summary-text-3"/>
          <p:cNvSpPr txBox="1"/>
          <p:nvPr/>
        </p:nvSpPr>
        <p:spPr>
          <a:xfrm>
            <a:off x="971550" y="1916430"/>
            <a:ext cx="10210800" cy="20002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组合初始市值类固收资产仓位约59.20%，报告期间在【55.99%，63.38%】波动，期末收于55.99%</a:t>
            </a:r>
            <a:endParaRPr lang="zh-CN" sz="1200" b="0">
              <a:solidFill>
                <a:srgbClr val="000000"/>
              </a:solidFill>
              <a:latin typeface="微软雅黑" panose="020B0503020204020204" pitchFamily="34" charset="-122"/>
              <a:ea typeface="微软雅黑" panose="020B0503020204020204" pitchFamily="34" charset="-122"/>
            </a:endParaRPr>
          </a:p>
        </p:txBody>
      </p:sp>
      <p:sp>
        <p:nvSpPr>
          <p:cNvPr id="19" name="step3b-summary-dot-4"/>
          <p:cNvSpPr/>
          <p:nvPr/>
        </p:nvSpPr>
        <p:spPr>
          <a:xfrm>
            <a:off x="742950" y="2288858"/>
            <a:ext cx="95250" cy="95250"/>
          </a:xfrm>
          <a:prstGeom prst="ellipse">
            <a:avLst/>
          </a:prstGeom>
          <a:solidFill>
            <a:srgbClr val="B00020"/>
          </a:solidFill>
          <a:ln>
            <a:noFill/>
          </a:ln>
        </p:spPr>
      </p:sp>
      <p:sp>
        <p:nvSpPr>
          <p:cNvPr id="20" name="step3b-summary-text-4"/>
          <p:cNvSpPr txBox="1"/>
          <p:nvPr/>
        </p:nvSpPr>
        <p:spPr>
          <a:xfrm>
            <a:off x="971550" y="2236470"/>
            <a:ext cx="10210800" cy="20002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组合初始成本类固收资产仓位约29.51%，报告期间在【27.73%，30.47%】波动，期末收于28.09%</a:t>
            </a:r>
            <a:endParaRPr lang="zh-CN" sz="1200" b="0">
              <a:solidFill>
                <a:srgbClr val="000000"/>
              </a:solidFill>
              <a:latin typeface="微软雅黑" panose="020B0503020204020204" pitchFamily="34" charset="-122"/>
              <a:ea typeface="微软雅黑" panose="020B0503020204020204" pitchFamily="34" charset="-122"/>
            </a:endParaRPr>
          </a:p>
        </p:txBody>
      </p:sp>
      <p:sp>
        <p:nvSpPr>
          <p:cNvPr id="21" name="step3b-summary-dot-5"/>
          <p:cNvSpPr/>
          <p:nvPr/>
        </p:nvSpPr>
        <p:spPr>
          <a:xfrm>
            <a:off x="742950" y="2608898"/>
            <a:ext cx="95250" cy="95250"/>
          </a:xfrm>
          <a:prstGeom prst="ellipse">
            <a:avLst/>
          </a:prstGeom>
          <a:solidFill>
            <a:srgbClr val="B00020"/>
          </a:solidFill>
          <a:ln>
            <a:noFill/>
          </a:ln>
        </p:spPr>
      </p:sp>
      <p:sp>
        <p:nvSpPr>
          <p:cNvPr id="22" name="step3b-summary-text-5"/>
          <p:cNvSpPr txBox="1"/>
          <p:nvPr/>
        </p:nvSpPr>
        <p:spPr>
          <a:xfrm>
            <a:off x="971550" y="2556510"/>
            <a:ext cx="10210800" cy="20002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组合初始流动性资产资产仓位约7.87%，报告期间在【5.42%，9.95%】波动，期末收于7.90%</a:t>
            </a:r>
            <a:endParaRPr lang="zh-CN" sz="1200" b="0">
              <a:solidFill>
                <a:srgbClr val="000000"/>
              </a:solidFill>
              <a:latin typeface="微软雅黑" panose="020B0503020204020204" pitchFamily="34" charset="-122"/>
              <a:ea typeface="微软雅黑" panose="020B0503020204020204" pitchFamily="34" charset="-122"/>
            </a:endParaRPr>
          </a:p>
        </p:txBody>
      </p:sp>
      <p:pic>
        <p:nvPicPr>
          <p:cNvPr id="24" name="step3b-image-7-1"/>
          <p:cNvPicPr>
            <a:picLocks noChangeAspect="1"/>
          </p:cNvPicPr>
          <p:nvPr/>
        </p:nvPicPr>
        <p:blipFill>
          <a:blip r:embed="rId1"/>
          <a:stretch>
            <a:fillRect/>
          </a:stretch>
        </p:blipFill>
        <p:spPr>
          <a:xfrm>
            <a:off x="719818" y="3190875"/>
            <a:ext cx="4942114" cy="2476500"/>
          </a:xfrm>
          <a:prstGeom prst="rect">
            <a:avLst/>
          </a:prstGeom>
          <a:ln w="6350">
            <a:solidFill>
              <a:srgbClr val="D9D9D9"/>
            </a:solidFill>
          </a:ln>
        </p:spPr>
      </p:pic>
      <p:pic>
        <p:nvPicPr>
          <p:cNvPr id="25" name="step3b-image-7-2"/>
          <p:cNvPicPr>
            <a:picLocks noChangeAspect="1"/>
          </p:cNvPicPr>
          <p:nvPr/>
        </p:nvPicPr>
        <p:blipFill>
          <a:blip r:embed="rId2"/>
          <a:stretch>
            <a:fillRect/>
          </a:stretch>
        </p:blipFill>
        <p:spPr>
          <a:xfrm>
            <a:off x="6244318" y="3190875"/>
            <a:ext cx="4942114" cy="2476500"/>
          </a:xfrm>
          <a:prstGeom prst="rect">
            <a:avLst/>
          </a:prstGeom>
          <a:ln w="6350">
            <a:solidFill>
              <a:srgbClr val="D9D9D9"/>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组合资产配置</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sp>
        <p:nvSpPr>
          <p:cNvPr id="12" name="step3b-summary-bg"/>
          <p:cNvSpPr/>
          <p:nvPr/>
        </p:nvSpPr>
        <p:spPr>
          <a:xfrm>
            <a:off x="571500" y="1162050"/>
            <a:ext cx="6429375" cy="2238375"/>
          </a:xfrm>
          <a:prstGeom prst="rect">
            <a:avLst/>
          </a:prstGeom>
          <a:solidFill>
            <a:srgbClr val="F2F2F2"/>
          </a:solidFill>
          <a:ln>
            <a:noFill/>
          </a:ln>
        </p:spPr>
      </p:sp>
      <p:sp>
        <p:nvSpPr>
          <p:cNvPr id="13" name="step3b-summary-dot-1"/>
          <p:cNvSpPr/>
          <p:nvPr/>
        </p:nvSpPr>
        <p:spPr>
          <a:xfrm>
            <a:off x="742950" y="1303734"/>
            <a:ext cx="95250" cy="95250"/>
          </a:xfrm>
          <a:prstGeom prst="ellipse">
            <a:avLst/>
          </a:prstGeom>
          <a:solidFill>
            <a:srgbClr val="B00020"/>
          </a:solidFill>
          <a:ln>
            <a:noFill/>
          </a:ln>
        </p:spPr>
      </p:sp>
      <p:sp>
        <p:nvSpPr>
          <p:cNvPr id="14" name="step3b-summary-text-1"/>
          <p:cNvSpPr txBox="1"/>
          <p:nvPr/>
        </p:nvSpPr>
        <p:spPr>
          <a:xfrm>
            <a:off x="971550" y="1276350"/>
            <a:ext cx="5876925" cy="300038"/>
          </a:xfrm>
          <a:prstGeom prst="rect">
            <a:avLst/>
          </a:prstGeom>
          <a:noFill/>
          <a:ln>
            <a:noFill/>
          </a:ln>
        </p:spPr>
        <p:txBody>
          <a:bodyPr wrap="square" lIns="0" tIns="0" rIns="0" bIns="0" anchor="t">
            <a:noAutofit/>
          </a:bodyPr>
          <a:lstStyle/>
          <a:p>
            <a:pPr algn="l"/>
            <a:r>
              <a:rPr lang="zh-CN" sz="900" b="0">
                <a:solidFill>
                  <a:srgbClr val="000000"/>
                </a:solidFill>
                <a:latin typeface="微软雅黑" panose="020B0503020204020204" pitchFamily="34" charset="-122"/>
                <a:ea typeface="微软雅黑" panose="020B0503020204020204" pitchFamily="34" charset="-122"/>
              </a:rPr>
              <a:t>资产配置方面，截至2023年3月31日，组合流动性资产占比7.38%（穿透后7.90%）；权益类资产占比16.18%（穿透后17.05%），对冲后的权益仓位16.18%（穿透后17.05%）。</a:t>
            </a:r>
            <a:endParaRPr lang="zh-CN" sz="900" b="0">
              <a:solidFill>
                <a:srgbClr val="000000"/>
              </a:solidFill>
              <a:latin typeface="微软雅黑" panose="020B0503020204020204" pitchFamily="34" charset="-122"/>
              <a:ea typeface="微软雅黑" panose="020B0503020204020204" pitchFamily="34" charset="-122"/>
            </a:endParaRPr>
          </a:p>
        </p:txBody>
      </p:sp>
      <p:sp>
        <p:nvSpPr>
          <p:cNvPr id="15" name="step3b-summary-dot-2"/>
          <p:cNvSpPr/>
          <p:nvPr/>
        </p:nvSpPr>
        <p:spPr>
          <a:xfrm>
            <a:off x="742950" y="1693783"/>
            <a:ext cx="95250" cy="95250"/>
          </a:xfrm>
          <a:prstGeom prst="ellipse">
            <a:avLst/>
          </a:prstGeom>
          <a:solidFill>
            <a:srgbClr val="B00020"/>
          </a:solidFill>
          <a:ln>
            <a:noFill/>
          </a:ln>
        </p:spPr>
      </p:sp>
      <p:sp>
        <p:nvSpPr>
          <p:cNvPr id="16" name="step3b-summary-text-2"/>
          <p:cNvSpPr txBox="1"/>
          <p:nvPr/>
        </p:nvSpPr>
        <p:spPr>
          <a:xfrm>
            <a:off x="971550" y="1666399"/>
            <a:ext cx="5876925" cy="300038"/>
          </a:xfrm>
          <a:prstGeom prst="rect">
            <a:avLst/>
          </a:prstGeom>
          <a:noFill/>
          <a:ln>
            <a:noFill/>
          </a:ln>
        </p:spPr>
        <p:txBody>
          <a:bodyPr wrap="square" lIns="0" tIns="0" rIns="0" bIns="0" anchor="t">
            <a:noAutofit/>
          </a:bodyPr>
          <a:lstStyle/>
          <a:p>
            <a:pPr algn="l"/>
            <a:r>
              <a:rPr lang="zh-CN" sz="900" b="0">
                <a:solidFill>
                  <a:srgbClr val="000000"/>
                </a:solidFill>
                <a:latin typeface="微软雅黑" panose="020B0503020204020204" pitchFamily="34" charset="-122"/>
                <a:ea typeface="微软雅黑" panose="020B0503020204020204" pitchFamily="34" charset="-122"/>
              </a:rPr>
              <a:t>本时间区间持有国泰金色年华固定收益型养老金产品，国泰金色年华混合型养老金产品，国泰佳泰股票专项型养老金产品，国泰金色年华货币型养老金产品，期末持仓分别为8.98%，4.10%，1.58%，0.67%，本年以来贡献分别为0.14%</a:t>
            </a:r>
            <a:endParaRPr lang="zh-CN" sz="900" b="0">
              <a:solidFill>
                <a:srgbClr val="000000"/>
              </a:solidFill>
              <a:latin typeface="微软雅黑" panose="020B0503020204020204" pitchFamily="34" charset="-122"/>
              <a:ea typeface="微软雅黑" panose="020B0503020204020204" pitchFamily="34" charset="-122"/>
            </a:endParaRPr>
          </a:p>
        </p:txBody>
      </p:sp>
      <p:sp>
        <p:nvSpPr>
          <p:cNvPr id="17" name="step3b-summary-dot-3"/>
          <p:cNvSpPr/>
          <p:nvPr/>
        </p:nvSpPr>
        <p:spPr>
          <a:xfrm>
            <a:off x="742950" y="2083832"/>
            <a:ext cx="95250" cy="95250"/>
          </a:xfrm>
          <a:prstGeom prst="ellipse">
            <a:avLst/>
          </a:prstGeom>
          <a:solidFill>
            <a:srgbClr val="B00020"/>
          </a:solidFill>
          <a:ln>
            <a:noFill/>
          </a:ln>
        </p:spPr>
      </p:sp>
      <p:sp>
        <p:nvSpPr>
          <p:cNvPr id="18" name="step3b-summary-text-3"/>
          <p:cNvSpPr txBox="1"/>
          <p:nvPr/>
        </p:nvSpPr>
        <p:spPr>
          <a:xfrm>
            <a:off x="971550" y="2056447"/>
            <a:ext cx="5876925" cy="300038"/>
          </a:xfrm>
          <a:prstGeom prst="rect">
            <a:avLst/>
          </a:prstGeom>
          <a:noFill/>
          <a:ln>
            <a:noFill/>
          </a:ln>
        </p:spPr>
        <p:txBody>
          <a:bodyPr wrap="square" lIns="0" tIns="0" rIns="0" bIns="0" anchor="t">
            <a:noAutofit/>
          </a:bodyPr>
          <a:lstStyle/>
          <a:p>
            <a:pPr algn="l"/>
            <a:r>
              <a:rPr lang="zh-CN" sz="900" b="0">
                <a:solidFill>
                  <a:srgbClr val="000000"/>
                </a:solidFill>
                <a:latin typeface="微软雅黑" panose="020B0503020204020204" pitchFamily="34" charset="-122"/>
                <a:ea typeface="微软雅黑" panose="020B0503020204020204" pitchFamily="34" charset="-122"/>
              </a:rPr>
              <a:t>国泰金色年华固定收益型养老金产品今年以来收益率1.38%，本月以来收益率0.54%。月末最后一周，央行开始净投放资金，且隔夜回购利率低于市场预期，资金面预期转松，资金利率下行，债市收益率逐渐下行。</a:t>
            </a:r>
            <a:endParaRPr lang="zh-CN" sz="900" b="0">
              <a:solidFill>
                <a:srgbClr val="000000"/>
              </a:solidFill>
              <a:latin typeface="微软雅黑" panose="020B0503020204020204" pitchFamily="34" charset="-122"/>
              <a:ea typeface="微软雅黑" panose="020B0503020204020204" pitchFamily="34" charset="-122"/>
            </a:endParaRPr>
          </a:p>
        </p:txBody>
      </p:sp>
      <p:sp>
        <p:nvSpPr>
          <p:cNvPr id="19" name="step3b-summary-dot-4"/>
          <p:cNvSpPr/>
          <p:nvPr/>
        </p:nvSpPr>
        <p:spPr>
          <a:xfrm>
            <a:off x="742950" y="2473881"/>
            <a:ext cx="95250" cy="95250"/>
          </a:xfrm>
          <a:prstGeom prst="ellipse">
            <a:avLst/>
          </a:prstGeom>
          <a:solidFill>
            <a:srgbClr val="B00020"/>
          </a:solidFill>
          <a:ln>
            <a:noFill/>
          </a:ln>
        </p:spPr>
      </p:sp>
      <p:sp>
        <p:nvSpPr>
          <p:cNvPr id="20" name="step3b-summary-text-4"/>
          <p:cNvSpPr txBox="1"/>
          <p:nvPr/>
        </p:nvSpPr>
        <p:spPr>
          <a:xfrm>
            <a:off x="971550" y="2446496"/>
            <a:ext cx="5876925" cy="300038"/>
          </a:xfrm>
          <a:prstGeom prst="rect">
            <a:avLst/>
          </a:prstGeom>
          <a:noFill/>
          <a:ln>
            <a:noFill/>
          </a:ln>
        </p:spPr>
        <p:txBody>
          <a:bodyPr wrap="square" lIns="0" tIns="0" rIns="0" bIns="0" anchor="t">
            <a:noAutofit/>
          </a:bodyPr>
          <a:lstStyle/>
          <a:p>
            <a:pPr algn="l"/>
            <a:r>
              <a:rPr lang="zh-CN" sz="900" b="0">
                <a:solidFill>
                  <a:srgbClr val="000000"/>
                </a:solidFill>
                <a:latin typeface="微软雅黑" panose="020B0503020204020204" pitchFamily="34" charset="-122"/>
                <a:ea typeface="微软雅黑" panose="020B0503020204020204" pitchFamily="34" charset="-122"/>
              </a:rPr>
              <a:t>国泰金色年华混合型养老金产品今年以来收益率3.53%，本月以来收益率0.22%。组合内部做高低切换调整，增持医药生物、基础化工、家用电器，减持电子、公用事业、电力设备。转债性价仍然较弱且波动不小，整体仍以控制仓位为主。</a:t>
            </a:r>
            <a:endParaRPr lang="zh-CN" sz="900" b="0">
              <a:solidFill>
                <a:srgbClr val="000000"/>
              </a:solidFill>
              <a:latin typeface="微软雅黑" panose="020B0503020204020204" pitchFamily="34" charset="-122"/>
              <a:ea typeface="微软雅黑" panose="020B0503020204020204" pitchFamily="34" charset="-122"/>
            </a:endParaRPr>
          </a:p>
        </p:txBody>
      </p:sp>
      <p:sp>
        <p:nvSpPr>
          <p:cNvPr id="21" name="step3b-summary-dot-5"/>
          <p:cNvSpPr/>
          <p:nvPr/>
        </p:nvSpPr>
        <p:spPr>
          <a:xfrm>
            <a:off x="742950" y="2863929"/>
            <a:ext cx="95250" cy="95250"/>
          </a:xfrm>
          <a:prstGeom prst="ellipse">
            <a:avLst/>
          </a:prstGeom>
          <a:solidFill>
            <a:srgbClr val="B00020"/>
          </a:solidFill>
          <a:ln>
            <a:noFill/>
          </a:ln>
        </p:spPr>
      </p:sp>
      <p:sp>
        <p:nvSpPr>
          <p:cNvPr id="22" name="step3b-summary-text-5"/>
          <p:cNvSpPr txBox="1"/>
          <p:nvPr/>
        </p:nvSpPr>
        <p:spPr>
          <a:xfrm>
            <a:off x="971550" y="2836545"/>
            <a:ext cx="5876925" cy="300038"/>
          </a:xfrm>
          <a:prstGeom prst="rect">
            <a:avLst/>
          </a:prstGeom>
          <a:noFill/>
          <a:ln>
            <a:noFill/>
          </a:ln>
        </p:spPr>
        <p:txBody>
          <a:bodyPr wrap="square" lIns="0" tIns="0" rIns="0" bIns="0" anchor="t">
            <a:noAutofit/>
          </a:bodyPr>
          <a:lstStyle/>
          <a:p>
            <a:pPr algn="l"/>
            <a:r>
              <a:rPr lang="zh-CN" sz="900" b="0">
                <a:solidFill>
                  <a:srgbClr val="000000"/>
                </a:solidFill>
                <a:latin typeface="微软雅黑" panose="020B0503020204020204" pitchFamily="34" charset="-122"/>
                <a:ea typeface="微软雅黑" panose="020B0503020204020204" pitchFamily="34" charset="-122"/>
              </a:rPr>
              <a:t>国泰佳泰股票专项型养老金产品今年以来收益率9.77%，本月以来收益率-0.24%。组合内部做高低切换调整，增持医药生物、基础化工、家用电器，减持电子、公用事业、电力设备。</a:t>
            </a:r>
            <a:endParaRPr lang="zh-CN" sz="900" b="0">
              <a:solidFill>
                <a:srgbClr val="000000"/>
              </a:solidFill>
              <a:latin typeface="微软雅黑" panose="020B0503020204020204" pitchFamily="34" charset="-122"/>
              <a:ea typeface="微软雅黑" panose="020B0503020204020204" pitchFamily="34" charset="-122"/>
            </a:endParaRPr>
          </a:p>
        </p:txBody>
      </p:sp>
      <p:pic>
        <p:nvPicPr>
          <p:cNvPr id="24" name="step3b-image-6-1"/>
          <p:cNvPicPr>
            <a:picLocks noChangeAspect="1"/>
          </p:cNvPicPr>
          <p:nvPr/>
        </p:nvPicPr>
        <p:blipFill>
          <a:blip r:embed="rId1"/>
          <a:stretch>
            <a:fillRect/>
          </a:stretch>
        </p:blipFill>
        <p:spPr>
          <a:xfrm>
            <a:off x="7922532" y="1143000"/>
            <a:ext cx="2728686" cy="2238375"/>
          </a:xfrm>
          <a:prstGeom prst="rect">
            <a:avLst/>
          </a:prstGeom>
          <a:ln w="6350">
            <a:solidFill>
              <a:srgbClr val="D9D9D9"/>
            </a:solidFill>
          </a:ln>
        </p:spPr>
      </p:pic>
      <p:pic>
        <p:nvPicPr>
          <p:cNvPr id="25" name="step3b-image-6-2"/>
          <p:cNvPicPr>
            <a:picLocks noChangeAspect="1"/>
          </p:cNvPicPr>
          <p:nvPr/>
        </p:nvPicPr>
        <p:blipFill>
          <a:blip r:embed="rId2"/>
          <a:stretch>
            <a:fillRect/>
          </a:stretch>
        </p:blipFill>
        <p:spPr>
          <a:xfrm>
            <a:off x="1892243" y="3667125"/>
            <a:ext cx="2597263" cy="2143125"/>
          </a:xfrm>
          <a:prstGeom prst="rect">
            <a:avLst/>
          </a:prstGeom>
          <a:ln w="6350">
            <a:solidFill>
              <a:srgbClr val="D9D9D9"/>
            </a:solidFill>
          </a:ln>
        </p:spPr>
      </p:pic>
      <p:pic>
        <p:nvPicPr>
          <p:cNvPr id="26" name="step3b-image-6-3"/>
          <p:cNvPicPr>
            <a:picLocks noChangeAspect="1"/>
          </p:cNvPicPr>
          <p:nvPr/>
        </p:nvPicPr>
        <p:blipFill>
          <a:blip r:embed="rId3"/>
          <a:stretch>
            <a:fillRect/>
          </a:stretch>
        </p:blipFill>
        <p:spPr>
          <a:xfrm>
            <a:off x="6096000" y="3892815"/>
            <a:ext cx="5238750" cy="1691745"/>
          </a:xfrm>
          <a:prstGeom prst="rect">
            <a:avLst/>
          </a:prstGeom>
          <a:ln w="6350">
            <a:solidFill>
              <a:srgbClr val="D9D9D9"/>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占位符 16"/>
          <p:cNvSpPr>
            <a:spLocks noGrp="1"/>
          </p:cNvSpPr>
          <p:nvPr>
            <p:ph type="body" sz="quarter" idx="18"/>
          </p:nvPr>
        </p:nvSpPr>
        <p:spPr>
          <a:xfrm>
            <a:off x="2417763" y="2143148"/>
            <a:ext cx="1211262" cy="939754"/>
          </a:xfrm>
        </p:spPr>
        <p:txBody>
          <a:bodyPr/>
          <a:lstStyle/>
          <a:p>
            <a:pPr lvl="0"/>
            <a:r>
              <a:rPr lang="en-US" altLang="zh-CN"/>
              <a:t>02</a:t>
            </a:r>
            <a:endParaRPr lang="zh-CN" altLang="en-US" dirty="0"/>
          </a:p>
        </p:txBody>
      </p:sp>
      <p:sp>
        <p:nvSpPr>
          <p:cNvPr id="11" name="标题 10"/>
          <p:cNvSpPr>
            <a:spLocks noGrp="1"/>
          </p:cNvSpPr>
          <p:nvPr>
            <p:ph type="title"/>
          </p:nvPr>
        </p:nvSpPr>
        <p:spPr/>
        <p:txBody>
          <a:bodyPr>
            <a:normAutofit/>
          </a:bodyPr>
          <a:lstStyle/>
          <a:p>
            <a:r>
              <a:rPr lang="zh-CN" altLang="en-US" sz="2400" dirty="0"/>
              <a:t>投资操作回顾</a:t>
            </a:r>
            <a:endParaRPr lang="zh-CN" altLang="en-US" sz="2400" dirty="0"/>
          </a:p>
        </p:txBody>
      </p:sp>
      <p:sp>
        <p:nvSpPr>
          <p:cNvPr id="3" name="灯片编号占位符 2"/>
          <p:cNvSpPr>
            <a:spLocks noGrp="1"/>
          </p:cNvSpPr>
          <p:nvPr>
            <p:ph type="sldNum" sz="quarter" idx="4"/>
          </p:nvPr>
        </p:nvSpPr>
        <p:spPr/>
        <p:txBody>
          <a:bodyPr/>
          <a:lstStyle/>
          <a:p>
            <a:fld id="{7F65B630-C7FF-41C0-9923-C5E5E29EED81}" type="slidenum">
              <a:rPr lang="de-DE" smtClean="0"/>
            </a:fld>
            <a:endParaRPr lang="de-DE"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组合固收投资回顾</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sp>
        <p:nvSpPr>
          <p:cNvPr id="12" name="step3b-summary-bg"/>
          <p:cNvSpPr/>
          <p:nvPr/>
        </p:nvSpPr>
        <p:spPr>
          <a:xfrm>
            <a:off x="571500" y="1162050"/>
            <a:ext cx="10763250" cy="1714500"/>
          </a:xfrm>
          <a:prstGeom prst="rect">
            <a:avLst/>
          </a:prstGeom>
          <a:solidFill>
            <a:srgbClr val="F2F2F2"/>
          </a:solidFill>
          <a:ln>
            <a:noFill/>
          </a:ln>
        </p:spPr>
      </p:sp>
      <p:sp>
        <p:nvSpPr>
          <p:cNvPr id="13" name="step3b-summary-dot-1"/>
          <p:cNvSpPr/>
          <p:nvPr/>
        </p:nvSpPr>
        <p:spPr>
          <a:xfrm>
            <a:off x="742950" y="1328738"/>
            <a:ext cx="95250" cy="95250"/>
          </a:xfrm>
          <a:prstGeom prst="ellipse">
            <a:avLst/>
          </a:prstGeom>
          <a:solidFill>
            <a:srgbClr val="B00020"/>
          </a:solidFill>
          <a:ln>
            <a:noFill/>
          </a:ln>
        </p:spPr>
      </p:sp>
      <p:sp>
        <p:nvSpPr>
          <p:cNvPr id="14" name="step3b-summary-text-1"/>
          <p:cNvSpPr txBox="1"/>
          <p:nvPr/>
        </p:nvSpPr>
        <p:spPr>
          <a:xfrm>
            <a:off x="971550" y="1276350"/>
            <a:ext cx="10210800" cy="20002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组合穿透后持仓债券久期为1.45年，穿透层面下杠杆比率109.05%。</a:t>
            </a:r>
            <a:endParaRPr lang="zh-CN" sz="1200" b="0">
              <a:solidFill>
                <a:srgbClr val="000000"/>
              </a:solidFill>
              <a:latin typeface="微软雅黑" panose="020B0503020204020204" pitchFamily="34" charset="-122"/>
              <a:ea typeface="微软雅黑" panose="020B0503020204020204" pitchFamily="34" charset="-122"/>
            </a:endParaRPr>
          </a:p>
        </p:txBody>
      </p:sp>
      <p:sp>
        <p:nvSpPr>
          <p:cNvPr id="15" name="step3b-summary-dot-2"/>
          <p:cNvSpPr/>
          <p:nvPr/>
        </p:nvSpPr>
        <p:spPr>
          <a:xfrm>
            <a:off x="742950" y="1648778"/>
            <a:ext cx="95250" cy="95250"/>
          </a:xfrm>
          <a:prstGeom prst="ellipse">
            <a:avLst/>
          </a:prstGeom>
          <a:solidFill>
            <a:srgbClr val="B00020"/>
          </a:solidFill>
          <a:ln>
            <a:noFill/>
          </a:ln>
        </p:spPr>
      </p:sp>
      <p:sp>
        <p:nvSpPr>
          <p:cNvPr id="16" name="step3b-summary-text-2"/>
          <p:cNvSpPr txBox="1"/>
          <p:nvPr/>
        </p:nvSpPr>
        <p:spPr>
          <a:xfrm>
            <a:off x="971550" y="1596390"/>
            <a:ext cx="10210800" cy="20002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穿透后，成本计价类资产方面，主要以私募债（20.94%）和PPN（5.07%）为主</a:t>
            </a:r>
            <a:endParaRPr lang="zh-CN" sz="1200" b="0">
              <a:solidFill>
                <a:srgbClr val="000000"/>
              </a:solidFill>
              <a:latin typeface="微软雅黑" panose="020B0503020204020204" pitchFamily="34" charset="-122"/>
              <a:ea typeface="微软雅黑" panose="020B0503020204020204" pitchFamily="34" charset="-122"/>
            </a:endParaRPr>
          </a:p>
        </p:txBody>
      </p:sp>
      <p:sp>
        <p:nvSpPr>
          <p:cNvPr id="17" name="step3b-summary-dot-3"/>
          <p:cNvSpPr/>
          <p:nvPr/>
        </p:nvSpPr>
        <p:spPr>
          <a:xfrm>
            <a:off x="742950" y="1968818"/>
            <a:ext cx="95250" cy="95250"/>
          </a:xfrm>
          <a:prstGeom prst="ellipse">
            <a:avLst/>
          </a:prstGeom>
          <a:solidFill>
            <a:srgbClr val="B00020"/>
          </a:solidFill>
          <a:ln>
            <a:noFill/>
          </a:ln>
        </p:spPr>
      </p:sp>
      <p:sp>
        <p:nvSpPr>
          <p:cNvPr id="18" name="step3b-summary-text-3"/>
          <p:cNvSpPr txBox="1"/>
          <p:nvPr/>
        </p:nvSpPr>
        <p:spPr>
          <a:xfrm>
            <a:off x="971550" y="1916430"/>
            <a:ext cx="10210800" cy="20002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穿透后，市值计价类资产方面，主要以中期票据（22.65%）和公司债（16.38%）为主</a:t>
            </a:r>
            <a:endParaRPr lang="zh-CN" sz="1200" b="0">
              <a:solidFill>
                <a:srgbClr val="000000"/>
              </a:solidFill>
              <a:latin typeface="微软雅黑" panose="020B0503020204020204" pitchFamily="34" charset="-122"/>
              <a:ea typeface="微软雅黑" panose="020B0503020204020204" pitchFamily="34" charset="-122"/>
            </a:endParaRPr>
          </a:p>
        </p:txBody>
      </p:sp>
      <p:sp>
        <p:nvSpPr>
          <p:cNvPr id="19" name="step3b-summary-dot-4"/>
          <p:cNvSpPr/>
          <p:nvPr/>
        </p:nvSpPr>
        <p:spPr>
          <a:xfrm>
            <a:off x="742950" y="2288858"/>
            <a:ext cx="95250" cy="95250"/>
          </a:xfrm>
          <a:prstGeom prst="ellipse">
            <a:avLst/>
          </a:prstGeom>
          <a:solidFill>
            <a:srgbClr val="B00020"/>
          </a:solidFill>
          <a:ln>
            <a:noFill/>
          </a:ln>
        </p:spPr>
      </p:sp>
      <p:sp>
        <p:nvSpPr>
          <p:cNvPr id="20" name="step3b-summary-text-4"/>
          <p:cNvSpPr txBox="1"/>
          <p:nvPr/>
        </p:nvSpPr>
        <p:spPr>
          <a:xfrm>
            <a:off x="971550" y="2236470"/>
            <a:ext cx="10210800" cy="400050"/>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固收方面，组合以直接投资与配置国泰内部的国泰固收型和混合型养老金作为主要投资方式。直接持仓主要包括中期票据、公司债、私募债。主要增持私募债券，减持PPN；产品配置方面，无养老金增持，减持国泰金色年华固定收益型养老金产品。</a:t>
            </a:r>
            <a:endParaRPr lang="zh-CN" sz="1200" b="0">
              <a:solidFill>
                <a:srgbClr val="000000"/>
              </a:solidFill>
              <a:latin typeface="微软雅黑" panose="020B0503020204020204" pitchFamily="34" charset="-122"/>
              <a:ea typeface="微软雅黑" panose="020B0503020204020204" pitchFamily="34" charset="-122"/>
            </a:endParaRPr>
          </a:p>
        </p:txBody>
      </p:sp>
      <p:pic>
        <p:nvPicPr>
          <p:cNvPr id="22" name="step3b-image-9-1"/>
          <p:cNvPicPr>
            <a:picLocks noChangeAspect="1"/>
          </p:cNvPicPr>
          <p:nvPr/>
        </p:nvPicPr>
        <p:blipFill>
          <a:blip r:embed="rId1"/>
          <a:stretch>
            <a:fillRect/>
          </a:stretch>
        </p:blipFill>
        <p:spPr>
          <a:xfrm>
            <a:off x="1285398" y="3190875"/>
            <a:ext cx="3810955" cy="2476500"/>
          </a:xfrm>
          <a:prstGeom prst="rect">
            <a:avLst/>
          </a:prstGeom>
          <a:ln w="6350">
            <a:solidFill>
              <a:srgbClr val="D9D9D9"/>
            </a:solidFill>
          </a:ln>
        </p:spPr>
      </p:pic>
      <p:pic>
        <p:nvPicPr>
          <p:cNvPr id="23" name="step3b-image-9-2"/>
          <p:cNvPicPr>
            <a:picLocks noChangeAspect="1"/>
          </p:cNvPicPr>
          <p:nvPr/>
        </p:nvPicPr>
        <p:blipFill>
          <a:blip r:embed="rId2"/>
          <a:stretch>
            <a:fillRect/>
          </a:stretch>
        </p:blipFill>
        <p:spPr>
          <a:xfrm>
            <a:off x="6809898" y="3190875"/>
            <a:ext cx="3810955" cy="2476500"/>
          </a:xfrm>
          <a:prstGeom prst="rect">
            <a:avLst/>
          </a:prstGeom>
          <a:ln w="6350">
            <a:solidFill>
              <a:srgbClr val="D9D9D9"/>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组合固收投资回顾（2）</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sp>
        <p:nvSpPr>
          <p:cNvPr id="12" name="step3b-summary-bg"/>
          <p:cNvSpPr/>
          <p:nvPr/>
        </p:nvSpPr>
        <p:spPr>
          <a:xfrm>
            <a:off x="571500" y="1162050"/>
            <a:ext cx="10763250" cy="1714500"/>
          </a:xfrm>
          <a:prstGeom prst="rect">
            <a:avLst/>
          </a:prstGeom>
          <a:solidFill>
            <a:srgbClr val="F2F2F2"/>
          </a:solidFill>
          <a:ln>
            <a:noFill/>
          </a:ln>
        </p:spPr>
      </p:sp>
      <p:sp>
        <p:nvSpPr>
          <p:cNvPr id="13" name="step3b-summary-dot-1"/>
          <p:cNvSpPr/>
          <p:nvPr/>
        </p:nvSpPr>
        <p:spPr>
          <a:xfrm>
            <a:off x="742950" y="1328738"/>
            <a:ext cx="95250" cy="95250"/>
          </a:xfrm>
          <a:prstGeom prst="ellipse">
            <a:avLst/>
          </a:prstGeom>
          <a:solidFill>
            <a:srgbClr val="B00020"/>
          </a:solidFill>
          <a:ln>
            <a:noFill/>
          </a:ln>
        </p:spPr>
      </p:sp>
      <p:sp>
        <p:nvSpPr>
          <p:cNvPr id="14" name="step3b-summary-text-1"/>
          <p:cNvSpPr txBox="1"/>
          <p:nvPr/>
        </p:nvSpPr>
        <p:spPr>
          <a:xfrm>
            <a:off x="971550" y="1276350"/>
            <a:ext cx="10210800" cy="20002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截至2023年03月31日，固收资产YTM为3.59%，其中市值类YTM3.51%，成本类YTM3.73%。久期为1.45，其中市值类久期1.34，成本类久期1.68。</a:t>
            </a:r>
            <a:endParaRPr lang="zh-CN" sz="1200" b="0">
              <a:solidFill>
                <a:srgbClr val="000000"/>
              </a:solidFill>
              <a:latin typeface="微软雅黑" panose="020B0503020204020204" pitchFamily="34" charset="-122"/>
              <a:ea typeface="微软雅黑" panose="020B0503020204020204" pitchFamily="34" charset="-122"/>
            </a:endParaRPr>
          </a:p>
        </p:txBody>
      </p:sp>
      <p:pic>
        <p:nvPicPr>
          <p:cNvPr id="16" name="step3b-image-10-1"/>
          <p:cNvPicPr>
            <a:picLocks noChangeAspect="1"/>
          </p:cNvPicPr>
          <p:nvPr/>
        </p:nvPicPr>
        <p:blipFill>
          <a:blip r:embed="rId1"/>
          <a:stretch>
            <a:fillRect/>
          </a:stretch>
        </p:blipFill>
        <p:spPr>
          <a:xfrm>
            <a:off x="1207059" y="3190875"/>
            <a:ext cx="3967632" cy="2476500"/>
          </a:xfrm>
          <a:prstGeom prst="rect">
            <a:avLst/>
          </a:prstGeom>
          <a:ln w="6350">
            <a:solidFill>
              <a:srgbClr val="D9D9D9"/>
            </a:solidFill>
          </a:ln>
        </p:spPr>
      </p:pic>
      <p:pic>
        <p:nvPicPr>
          <p:cNvPr id="17" name="step3b-image-10-2"/>
          <p:cNvPicPr>
            <a:picLocks noChangeAspect="1"/>
          </p:cNvPicPr>
          <p:nvPr/>
        </p:nvPicPr>
        <p:blipFill>
          <a:blip r:embed="rId2"/>
          <a:stretch>
            <a:fillRect/>
          </a:stretch>
        </p:blipFill>
        <p:spPr>
          <a:xfrm>
            <a:off x="6369676" y="3190875"/>
            <a:ext cx="4691398" cy="2476500"/>
          </a:xfrm>
          <a:prstGeom prst="rect">
            <a:avLst/>
          </a:prstGeom>
          <a:ln w="6350">
            <a:solidFill>
              <a:srgbClr val="D9D9D9"/>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组合固收投资回顾（3）</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sp>
        <p:nvSpPr>
          <p:cNvPr id="12" name="step3b-summary-bg"/>
          <p:cNvSpPr/>
          <p:nvPr/>
        </p:nvSpPr>
        <p:spPr>
          <a:xfrm>
            <a:off x="571500" y="1162050"/>
            <a:ext cx="10763250" cy="1714500"/>
          </a:xfrm>
          <a:prstGeom prst="rect">
            <a:avLst/>
          </a:prstGeom>
          <a:solidFill>
            <a:srgbClr val="F2F2F2"/>
          </a:solidFill>
          <a:ln>
            <a:noFill/>
          </a:ln>
        </p:spPr>
      </p:sp>
      <p:sp>
        <p:nvSpPr>
          <p:cNvPr id="13" name="step3b-summary-dot-1"/>
          <p:cNvSpPr/>
          <p:nvPr/>
        </p:nvSpPr>
        <p:spPr>
          <a:xfrm>
            <a:off x="742950" y="1328738"/>
            <a:ext cx="95250" cy="95250"/>
          </a:xfrm>
          <a:prstGeom prst="ellipse">
            <a:avLst/>
          </a:prstGeom>
          <a:solidFill>
            <a:srgbClr val="B00020"/>
          </a:solidFill>
          <a:ln>
            <a:noFill/>
          </a:ln>
        </p:spPr>
      </p:sp>
      <p:sp>
        <p:nvSpPr>
          <p:cNvPr id="14" name="step3b-summary-text-1"/>
          <p:cNvSpPr txBox="1"/>
          <p:nvPr/>
        </p:nvSpPr>
        <p:spPr>
          <a:xfrm>
            <a:off x="971550" y="1276350"/>
            <a:ext cx="10210800" cy="20002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截至2023年03月31日，组合信用债持仓为73.21%，其中AAA占比61.05%，AA+占比10.62%；久期方面，1年以内占比29.20%，1-3年以内占比47.18%，3年以上占比4.93%。</a:t>
            </a:r>
            <a:endParaRPr lang="zh-CN" sz="1200" b="0">
              <a:solidFill>
                <a:srgbClr val="000000"/>
              </a:solidFill>
              <a:latin typeface="微软雅黑" panose="020B0503020204020204" pitchFamily="34" charset="-122"/>
              <a:ea typeface="微软雅黑" panose="020B0503020204020204" pitchFamily="34" charset="-122"/>
            </a:endParaRPr>
          </a:p>
        </p:txBody>
      </p:sp>
      <p:pic>
        <p:nvPicPr>
          <p:cNvPr id="16" name="step3b-image-11-1"/>
          <p:cNvPicPr>
            <a:picLocks noChangeAspect="1"/>
          </p:cNvPicPr>
          <p:nvPr/>
        </p:nvPicPr>
        <p:blipFill>
          <a:blip r:embed="rId1"/>
          <a:stretch>
            <a:fillRect/>
          </a:stretch>
        </p:blipFill>
        <p:spPr>
          <a:xfrm>
            <a:off x="2427353" y="3190875"/>
            <a:ext cx="1527043" cy="2476500"/>
          </a:xfrm>
          <a:prstGeom prst="rect">
            <a:avLst/>
          </a:prstGeom>
          <a:ln w="6350">
            <a:solidFill>
              <a:srgbClr val="D9D9D9"/>
            </a:solidFill>
          </a:ln>
        </p:spPr>
      </p:pic>
      <p:pic>
        <p:nvPicPr>
          <p:cNvPr id="17" name="step3b-image-11-2"/>
          <p:cNvPicPr>
            <a:picLocks noChangeAspect="1"/>
          </p:cNvPicPr>
          <p:nvPr/>
        </p:nvPicPr>
        <p:blipFill>
          <a:blip r:embed="rId2"/>
          <a:stretch>
            <a:fillRect/>
          </a:stretch>
        </p:blipFill>
        <p:spPr>
          <a:xfrm>
            <a:off x="7951853" y="3190875"/>
            <a:ext cx="1527043" cy="2476500"/>
          </a:xfrm>
          <a:prstGeom prst="rect">
            <a:avLst/>
          </a:prstGeom>
          <a:ln w="6350">
            <a:solidFill>
              <a:srgbClr val="D9D9D9"/>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组合固收投资回顾（4）</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sp>
        <p:nvSpPr>
          <p:cNvPr id="12" name="step3b-summary-bg"/>
          <p:cNvSpPr/>
          <p:nvPr/>
        </p:nvSpPr>
        <p:spPr>
          <a:xfrm>
            <a:off x="571500" y="1162050"/>
            <a:ext cx="6429375" cy="2238375"/>
          </a:xfrm>
          <a:prstGeom prst="rect">
            <a:avLst/>
          </a:prstGeom>
          <a:solidFill>
            <a:srgbClr val="F2F2F2"/>
          </a:solidFill>
          <a:ln>
            <a:noFill/>
          </a:ln>
        </p:spPr>
      </p:sp>
      <p:sp>
        <p:nvSpPr>
          <p:cNvPr id="13" name="step3b-summary-dot-1"/>
          <p:cNvSpPr/>
          <p:nvPr/>
        </p:nvSpPr>
        <p:spPr>
          <a:xfrm>
            <a:off x="742950" y="1328738"/>
            <a:ext cx="95250" cy="95250"/>
          </a:xfrm>
          <a:prstGeom prst="ellipse">
            <a:avLst/>
          </a:prstGeom>
          <a:solidFill>
            <a:srgbClr val="B00020"/>
          </a:solidFill>
          <a:ln>
            <a:noFill/>
          </a:ln>
        </p:spPr>
      </p:sp>
      <p:sp>
        <p:nvSpPr>
          <p:cNvPr id="14" name="step3b-summary-text-1"/>
          <p:cNvSpPr txBox="1"/>
          <p:nvPr/>
        </p:nvSpPr>
        <p:spPr>
          <a:xfrm>
            <a:off x="971550" y="1276350"/>
            <a:ext cx="5876925" cy="400050"/>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可转债方面，截至2023年3月31日，组合直接持仓可转债仓位2.73%，穿透养老金产品后可转债仓位3.15%。</a:t>
            </a:r>
            <a:endParaRPr lang="zh-CN" sz="1200" b="0">
              <a:solidFill>
                <a:srgbClr val="000000"/>
              </a:solidFill>
              <a:latin typeface="微软雅黑" panose="020B0503020204020204" pitchFamily="34" charset="-122"/>
              <a:ea typeface="微软雅黑" panose="020B0503020204020204" pitchFamily="34" charset="-122"/>
            </a:endParaRPr>
          </a:p>
        </p:txBody>
      </p:sp>
      <p:sp>
        <p:nvSpPr>
          <p:cNvPr id="15" name="step3b-summary-dot-2"/>
          <p:cNvSpPr/>
          <p:nvPr/>
        </p:nvSpPr>
        <p:spPr>
          <a:xfrm>
            <a:off x="742950" y="1848802"/>
            <a:ext cx="95250" cy="95250"/>
          </a:xfrm>
          <a:prstGeom prst="ellipse">
            <a:avLst/>
          </a:prstGeom>
          <a:solidFill>
            <a:srgbClr val="B00020"/>
          </a:solidFill>
          <a:ln>
            <a:noFill/>
          </a:ln>
        </p:spPr>
      </p:sp>
      <p:sp>
        <p:nvSpPr>
          <p:cNvPr id="16" name="step3b-summary-text-2"/>
          <p:cNvSpPr txBox="1"/>
          <p:nvPr/>
        </p:nvSpPr>
        <p:spPr>
          <a:xfrm>
            <a:off x="971550" y="1796415"/>
            <a:ext cx="5876925" cy="20002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组合穿透后，持仓转债大盘占比2.28%，中盘占比0.57%，小盘占比0.01%。</a:t>
            </a:r>
            <a:endParaRPr lang="zh-CN" sz="1200" b="0">
              <a:solidFill>
                <a:srgbClr val="000000"/>
              </a:solidFill>
              <a:latin typeface="微软雅黑" panose="020B0503020204020204" pitchFamily="34" charset="-122"/>
              <a:ea typeface="微软雅黑" panose="020B0503020204020204" pitchFamily="34" charset="-122"/>
            </a:endParaRPr>
          </a:p>
        </p:txBody>
      </p:sp>
      <p:sp>
        <p:nvSpPr>
          <p:cNvPr id="17" name="step3b-summary-dot-3"/>
          <p:cNvSpPr/>
          <p:nvPr/>
        </p:nvSpPr>
        <p:spPr>
          <a:xfrm>
            <a:off x="742950" y="2168842"/>
            <a:ext cx="95250" cy="95250"/>
          </a:xfrm>
          <a:prstGeom prst="ellipse">
            <a:avLst/>
          </a:prstGeom>
          <a:solidFill>
            <a:srgbClr val="B00020"/>
          </a:solidFill>
          <a:ln>
            <a:noFill/>
          </a:ln>
        </p:spPr>
      </p:sp>
      <p:sp>
        <p:nvSpPr>
          <p:cNvPr id="18" name="step3b-summary-text-3"/>
          <p:cNvSpPr txBox="1"/>
          <p:nvPr/>
        </p:nvSpPr>
        <p:spPr>
          <a:xfrm>
            <a:off x="971550" y="2116455"/>
            <a:ext cx="5876925" cy="60007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组合穿透后主要持有以下行业的可转债：金融、工业、日常消费品、公用事业、信息技术，增持金融、可选消费、信息技术，减持工业、日常消费品、公用事业，正贡献主要来自于日常消费品、工业、信息技术，负贡献主要来自于金融、医疗保健。</a:t>
            </a:r>
            <a:endParaRPr lang="zh-CN" sz="1200" b="0">
              <a:solidFill>
                <a:srgbClr val="000000"/>
              </a:solidFill>
              <a:latin typeface="微软雅黑" panose="020B0503020204020204" pitchFamily="34" charset="-122"/>
              <a:ea typeface="微软雅黑" panose="020B0503020204020204" pitchFamily="34" charset="-122"/>
            </a:endParaRPr>
          </a:p>
        </p:txBody>
      </p:sp>
      <p:pic>
        <p:nvPicPr>
          <p:cNvPr id="20" name="step3b-image-12-1"/>
          <p:cNvPicPr>
            <a:picLocks noChangeAspect="1"/>
          </p:cNvPicPr>
          <p:nvPr/>
        </p:nvPicPr>
        <p:blipFill>
          <a:blip r:embed="rId1"/>
          <a:stretch>
            <a:fillRect/>
          </a:stretch>
        </p:blipFill>
        <p:spPr>
          <a:xfrm>
            <a:off x="7915256" y="1143000"/>
            <a:ext cx="2743238" cy="2238375"/>
          </a:xfrm>
          <a:prstGeom prst="rect">
            <a:avLst/>
          </a:prstGeom>
          <a:ln w="6350">
            <a:solidFill>
              <a:srgbClr val="D9D9D9"/>
            </a:solidFill>
          </a:ln>
        </p:spPr>
      </p:pic>
      <p:pic>
        <p:nvPicPr>
          <p:cNvPr id="21" name="step3b-image-12-2"/>
          <p:cNvPicPr>
            <a:picLocks noChangeAspect="1"/>
          </p:cNvPicPr>
          <p:nvPr/>
        </p:nvPicPr>
        <p:blipFill>
          <a:blip r:embed="rId2"/>
          <a:stretch>
            <a:fillRect/>
          </a:stretch>
        </p:blipFill>
        <p:spPr>
          <a:xfrm>
            <a:off x="840046" y="3667125"/>
            <a:ext cx="4701657" cy="2143125"/>
          </a:xfrm>
          <a:prstGeom prst="rect">
            <a:avLst/>
          </a:prstGeom>
          <a:ln w="6350">
            <a:solidFill>
              <a:srgbClr val="D9D9D9"/>
            </a:solidFill>
          </a:ln>
        </p:spPr>
      </p:pic>
      <p:pic>
        <p:nvPicPr>
          <p:cNvPr id="22" name="step3b-image-12-3"/>
          <p:cNvPicPr>
            <a:picLocks noChangeAspect="1"/>
          </p:cNvPicPr>
          <p:nvPr/>
        </p:nvPicPr>
        <p:blipFill>
          <a:blip r:embed="rId3"/>
          <a:stretch>
            <a:fillRect/>
          </a:stretch>
        </p:blipFill>
        <p:spPr>
          <a:xfrm>
            <a:off x="6364546" y="3667125"/>
            <a:ext cx="4701657" cy="2143125"/>
          </a:xfrm>
          <a:prstGeom prst="rect">
            <a:avLst/>
          </a:prstGeom>
          <a:ln w="6350">
            <a:solidFill>
              <a:srgbClr val="D9D9D9"/>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组合固收投资回顾（5）</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pic>
        <p:nvPicPr>
          <p:cNvPr id="13" name="step3b-image-13-1"/>
          <p:cNvPicPr>
            <a:picLocks noChangeAspect="1"/>
          </p:cNvPicPr>
          <p:nvPr/>
        </p:nvPicPr>
        <p:blipFill>
          <a:blip r:embed="rId1"/>
          <a:stretch>
            <a:fillRect/>
          </a:stretch>
        </p:blipFill>
        <p:spPr>
          <a:xfrm>
            <a:off x="3038469" y="1143000"/>
            <a:ext cx="5829313" cy="4667250"/>
          </a:xfrm>
          <a:prstGeom prst="rect">
            <a:avLst/>
          </a:prstGeom>
          <a:ln w="6350">
            <a:solidFill>
              <a:srgbClr val="D9D9D9"/>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组合权益投资回顾</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sp>
        <p:nvSpPr>
          <p:cNvPr id="12" name="step3b-summary-bg"/>
          <p:cNvSpPr/>
          <p:nvPr/>
        </p:nvSpPr>
        <p:spPr>
          <a:xfrm>
            <a:off x="571500" y="1162050"/>
            <a:ext cx="6429375" cy="2238375"/>
          </a:xfrm>
          <a:prstGeom prst="rect">
            <a:avLst/>
          </a:prstGeom>
          <a:solidFill>
            <a:srgbClr val="F2F2F2"/>
          </a:solidFill>
          <a:ln>
            <a:noFill/>
          </a:ln>
        </p:spPr>
      </p:sp>
      <p:sp>
        <p:nvSpPr>
          <p:cNvPr id="13" name="step3b-summary-dot-1"/>
          <p:cNvSpPr/>
          <p:nvPr/>
        </p:nvSpPr>
        <p:spPr>
          <a:xfrm>
            <a:off x="742950" y="1328738"/>
            <a:ext cx="95250" cy="95250"/>
          </a:xfrm>
          <a:prstGeom prst="ellipse">
            <a:avLst/>
          </a:prstGeom>
          <a:solidFill>
            <a:srgbClr val="B00020"/>
          </a:solidFill>
          <a:ln>
            <a:noFill/>
          </a:ln>
        </p:spPr>
      </p:sp>
      <p:sp>
        <p:nvSpPr>
          <p:cNvPr id="14" name="step3b-summary-text-1"/>
          <p:cNvSpPr txBox="1"/>
          <p:nvPr/>
        </p:nvSpPr>
        <p:spPr>
          <a:xfrm>
            <a:off x="971550" y="1276350"/>
            <a:ext cx="5876925" cy="400050"/>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权益方面，组合投资以（直接持股为主，养老金产品配置作为补充）。期末产品持仓占比1.58%，直接持股占比12.45%。</a:t>
            </a:r>
            <a:endParaRPr lang="zh-CN" sz="1200" b="0">
              <a:solidFill>
                <a:srgbClr val="000000"/>
              </a:solidFill>
              <a:latin typeface="微软雅黑" panose="020B0503020204020204" pitchFamily="34" charset="-122"/>
              <a:ea typeface="微软雅黑" panose="020B0503020204020204" pitchFamily="34" charset="-122"/>
            </a:endParaRPr>
          </a:p>
        </p:txBody>
      </p:sp>
      <p:sp>
        <p:nvSpPr>
          <p:cNvPr id="15" name="step3b-summary-dot-2"/>
          <p:cNvSpPr/>
          <p:nvPr/>
        </p:nvSpPr>
        <p:spPr>
          <a:xfrm>
            <a:off x="742950" y="1848802"/>
            <a:ext cx="95250" cy="95250"/>
          </a:xfrm>
          <a:prstGeom prst="ellipse">
            <a:avLst/>
          </a:prstGeom>
          <a:solidFill>
            <a:srgbClr val="B00020"/>
          </a:solidFill>
          <a:ln>
            <a:noFill/>
          </a:ln>
        </p:spPr>
      </p:sp>
      <p:sp>
        <p:nvSpPr>
          <p:cNvPr id="16" name="step3b-summary-text-2"/>
          <p:cNvSpPr txBox="1"/>
          <p:nvPr/>
        </p:nvSpPr>
        <p:spPr>
          <a:xfrm>
            <a:off x="971550" y="1796415"/>
            <a:ext cx="5876925" cy="400050"/>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养老金产品方面，组合主要持有：国泰佳泰股票专项型养老金产品，今年同期收益率分别为9.77%，全市场排名14/195。</a:t>
            </a:r>
            <a:endParaRPr lang="zh-CN" sz="1200" b="0">
              <a:solidFill>
                <a:srgbClr val="000000"/>
              </a:solidFill>
              <a:latin typeface="微软雅黑" panose="020B0503020204020204" pitchFamily="34" charset="-122"/>
              <a:ea typeface="微软雅黑" panose="020B0503020204020204" pitchFamily="34" charset="-122"/>
            </a:endParaRPr>
          </a:p>
        </p:txBody>
      </p:sp>
      <p:sp>
        <p:nvSpPr>
          <p:cNvPr id="17" name="step3b-summary-dot-3"/>
          <p:cNvSpPr/>
          <p:nvPr/>
        </p:nvSpPr>
        <p:spPr>
          <a:xfrm>
            <a:off x="742950" y="2368868"/>
            <a:ext cx="95250" cy="95250"/>
          </a:xfrm>
          <a:prstGeom prst="ellipse">
            <a:avLst/>
          </a:prstGeom>
          <a:solidFill>
            <a:srgbClr val="B00020"/>
          </a:solidFill>
          <a:ln>
            <a:noFill/>
          </a:ln>
        </p:spPr>
      </p:sp>
      <p:sp>
        <p:nvSpPr>
          <p:cNvPr id="18" name="step3b-summary-text-3"/>
          <p:cNvSpPr txBox="1"/>
          <p:nvPr/>
        </p:nvSpPr>
        <p:spPr>
          <a:xfrm>
            <a:off x="971550" y="2316480"/>
            <a:ext cx="5876925" cy="60007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组合穿透后主要持有计算机、电子、基础化工、医药生物、食品饮料，增持电子、银行、医药生物，减持石油石化、建筑装饰、机械设备，正贡献主要来自于计算机、电子、医药生物，负贡献主要来自于银行、基础化工、家用电器。</a:t>
            </a:r>
            <a:endParaRPr lang="zh-CN" sz="1200" b="0">
              <a:solidFill>
                <a:srgbClr val="000000"/>
              </a:solidFill>
              <a:latin typeface="微软雅黑" panose="020B0503020204020204" pitchFamily="34" charset="-122"/>
              <a:ea typeface="微软雅黑" panose="020B0503020204020204" pitchFamily="34" charset="-122"/>
            </a:endParaRPr>
          </a:p>
        </p:txBody>
      </p:sp>
      <p:pic>
        <p:nvPicPr>
          <p:cNvPr id="20" name="step3b-image-14-1"/>
          <p:cNvPicPr>
            <a:picLocks noChangeAspect="1"/>
          </p:cNvPicPr>
          <p:nvPr/>
        </p:nvPicPr>
        <p:blipFill>
          <a:blip r:embed="rId1"/>
          <a:stretch>
            <a:fillRect/>
          </a:stretch>
        </p:blipFill>
        <p:spPr>
          <a:xfrm>
            <a:off x="7498544" y="1143000"/>
            <a:ext cx="3576663" cy="2238375"/>
          </a:xfrm>
          <a:prstGeom prst="rect">
            <a:avLst/>
          </a:prstGeom>
          <a:ln w="6350">
            <a:solidFill>
              <a:srgbClr val="D9D9D9"/>
            </a:solidFill>
          </a:ln>
        </p:spPr>
      </p:pic>
      <p:pic>
        <p:nvPicPr>
          <p:cNvPr id="21" name="step3b-image-14-2"/>
          <p:cNvPicPr>
            <a:picLocks noChangeAspect="1"/>
          </p:cNvPicPr>
          <p:nvPr/>
        </p:nvPicPr>
        <p:blipFill>
          <a:blip r:embed="rId2"/>
          <a:stretch>
            <a:fillRect/>
          </a:stretch>
        </p:blipFill>
        <p:spPr>
          <a:xfrm>
            <a:off x="571500" y="3723897"/>
            <a:ext cx="5238750" cy="2029582"/>
          </a:xfrm>
          <a:prstGeom prst="rect">
            <a:avLst/>
          </a:prstGeom>
          <a:ln w="6350">
            <a:solidFill>
              <a:srgbClr val="D9D9D9"/>
            </a:solidFill>
          </a:ln>
        </p:spPr>
      </p:pic>
      <p:pic>
        <p:nvPicPr>
          <p:cNvPr id="22" name="step3b-image-14-3"/>
          <p:cNvPicPr>
            <a:picLocks noChangeAspect="1"/>
          </p:cNvPicPr>
          <p:nvPr/>
        </p:nvPicPr>
        <p:blipFill>
          <a:blip r:embed="rId3"/>
          <a:stretch>
            <a:fillRect/>
          </a:stretch>
        </p:blipFill>
        <p:spPr>
          <a:xfrm>
            <a:off x="6096000" y="3894687"/>
            <a:ext cx="5238750" cy="1688000"/>
          </a:xfrm>
          <a:prstGeom prst="rect">
            <a:avLst/>
          </a:prstGeom>
          <a:ln w="6350">
            <a:solidFill>
              <a:srgbClr val="D9D9D9"/>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组合权益投资回顾（2）</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sp>
        <p:nvSpPr>
          <p:cNvPr id="12" name="step3b-summary-bg"/>
          <p:cNvSpPr/>
          <p:nvPr/>
        </p:nvSpPr>
        <p:spPr>
          <a:xfrm>
            <a:off x="571500" y="1162050"/>
            <a:ext cx="6429375" cy="2238375"/>
          </a:xfrm>
          <a:prstGeom prst="rect">
            <a:avLst/>
          </a:prstGeom>
          <a:solidFill>
            <a:srgbClr val="F2F2F2"/>
          </a:solidFill>
          <a:ln>
            <a:noFill/>
          </a:ln>
        </p:spPr>
      </p:sp>
      <p:sp>
        <p:nvSpPr>
          <p:cNvPr id="13" name="step3b-summary-dot-1"/>
          <p:cNvSpPr/>
          <p:nvPr/>
        </p:nvSpPr>
        <p:spPr>
          <a:xfrm>
            <a:off x="742950" y="1328738"/>
            <a:ext cx="95250" cy="95250"/>
          </a:xfrm>
          <a:prstGeom prst="ellipse">
            <a:avLst/>
          </a:prstGeom>
          <a:solidFill>
            <a:srgbClr val="B00020"/>
          </a:solidFill>
          <a:ln>
            <a:noFill/>
          </a:ln>
        </p:spPr>
      </p:sp>
      <p:sp>
        <p:nvSpPr>
          <p:cNvPr id="14" name="step3b-summary-text-1"/>
          <p:cNvSpPr txBox="1"/>
          <p:nvPr/>
        </p:nvSpPr>
        <p:spPr>
          <a:xfrm>
            <a:off x="971550" y="1276350"/>
            <a:ext cx="5876925" cy="400050"/>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截至2023年03月31日，组合股票持仓为14.89%，其中大盘占比6.57%，中盘占比5.26%，小盘占比3.06%；板块分布方面，主板占比11.50%，创业板占比1.99%。</a:t>
            </a:r>
            <a:endParaRPr lang="zh-CN" sz="1200" b="0">
              <a:solidFill>
                <a:srgbClr val="000000"/>
              </a:solidFill>
              <a:latin typeface="微软雅黑" panose="020B0503020204020204" pitchFamily="34" charset="-122"/>
              <a:ea typeface="微软雅黑" panose="020B0503020204020204" pitchFamily="34" charset="-122"/>
            </a:endParaRPr>
          </a:p>
        </p:txBody>
      </p:sp>
      <p:pic>
        <p:nvPicPr>
          <p:cNvPr id="16" name="step3b-image-15-1"/>
          <p:cNvPicPr>
            <a:picLocks noChangeAspect="1"/>
          </p:cNvPicPr>
          <p:nvPr/>
        </p:nvPicPr>
        <p:blipFill>
          <a:blip r:embed="rId1"/>
          <a:stretch>
            <a:fillRect/>
          </a:stretch>
        </p:blipFill>
        <p:spPr>
          <a:xfrm>
            <a:off x="8605630" y="1143000"/>
            <a:ext cx="1362489" cy="2238375"/>
          </a:xfrm>
          <a:prstGeom prst="rect">
            <a:avLst/>
          </a:prstGeom>
          <a:ln w="6350">
            <a:solidFill>
              <a:srgbClr val="D9D9D9"/>
            </a:solidFill>
          </a:ln>
        </p:spPr>
      </p:pic>
      <p:pic>
        <p:nvPicPr>
          <p:cNvPr id="17" name="step3b-image-15-2"/>
          <p:cNvPicPr>
            <a:picLocks noChangeAspect="1"/>
          </p:cNvPicPr>
          <p:nvPr/>
        </p:nvPicPr>
        <p:blipFill>
          <a:blip r:embed="rId2"/>
          <a:stretch>
            <a:fillRect/>
          </a:stretch>
        </p:blipFill>
        <p:spPr>
          <a:xfrm>
            <a:off x="2538620" y="3667125"/>
            <a:ext cx="1304511" cy="2143125"/>
          </a:xfrm>
          <a:prstGeom prst="rect">
            <a:avLst/>
          </a:prstGeom>
          <a:ln w="6350">
            <a:solidFill>
              <a:srgbClr val="D9D9D9"/>
            </a:solidFill>
          </a:ln>
        </p:spPr>
      </p:pic>
      <p:pic>
        <p:nvPicPr>
          <p:cNvPr id="18" name="step3b-image-15-3"/>
          <p:cNvPicPr>
            <a:picLocks noChangeAspect="1"/>
          </p:cNvPicPr>
          <p:nvPr/>
        </p:nvPicPr>
        <p:blipFill>
          <a:blip r:embed="rId3"/>
          <a:stretch>
            <a:fillRect/>
          </a:stretch>
        </p:blipFill>
        <p:spPr>
          <a:xfrm>
            <a:off x="6096000" y="3922791"/>
            <a:ext cx="5238750" cy="1631793"/>
          </a:xfrm>
          <a:prstGeom prst="rect">
            <a:avLst/>
          </a:prstGeom>
          <a:ln w="6350">
            <a:solidFill>
              <a:srgbClr val="D9D9D9"/>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组合权益投资回顾（3）</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pic>
        <p:nvPicPr>
          <p:cNvPr id="13" name="step3b-image-16-1"/>
          <p:cNvPicPr>
            <a:picLocks noChangeAspect="1"/>
          </p:cNvPicPr>
          <p:nvPr/>
        </p:nvPicPr>
        <p:blipFill>
          <a:blip r:embed="rId1"/>
          <a:stretch>
            <a:fillRect/>
          </a:stretch>
        </p:blipFill>
        <p:spPr>
          <a:xfrm>
            <a:off x="1161307" y="1190625"/>
            <a:ext cx="4059135" cy="4191000"/>
          </a:xfrm>
          <a:prstGeom prst="rect">
            <a:avLst/>
          </a:prstGeom>
          <a:ln w="6350">
            <a:solidFill>
              <a:srgbClr val="D9D9D9"/>
            </a:solidFill>
          </a:ln>
        </p:spPr>
      </p:pic>
      <p:pic>
        <p:nvPicPr>
          <p:cNvPr id="14" name="step3b-image-16-2"/>
          <p:cNvPicPr>
            <a:picLocks noChangeAspect="1"/>
          </p:cNvPicPr>
          <p:nvPr/>
        </p:nvPicPr>
        <p:blipFill>
          <a:blip r:embed="rId2"/>
          <a:stretch>
            <a:fillRect/>
          </a:stretch>
        </p:blipFill>
        <p:spPr>
          <a:xfrm>
            <a:off x="6096000" y="1465881"/>
            <a:ext cx="5238750" cy="3640487"/>
          </a:xfrm>
          <a:prstGeom prst="rect">
            <a:avLst/>
          </a:prstGeom>
          <a:ln w="6350">
            <a:solidFill>
              <a:srgbClr val="D9D9D9"/>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占位符 16"/>
          <p:cNvSpPr>
            <a:spLocks noGrp="1"/>
          </p:cNvSpPr>
          <p:nvPr>
            <p:ph type="body" sz="quarter" idx="18"/>
          </p:nvPr>
        </p:nvSpPr>
        <p:spPr>
          <a:xfrm>
            <a:off x="2417763" y="2143148"/>
            <a:ext cx="1211262" cy="939754"/>
          </a:xfrm>
        </p:spPr>
        <p:txBody>
          <a:bodyPr/>
          <a:lstStyle/>
          <a:p>
            <a:pPr lvl="0"/>
            <a:r>
              <a:rPr lang="en-US" altLang="zh-CN"/>
              <a:t>03</a:t>
            </a:r>
            <a:endParaRPr lang="zh-CN" altLang="en-US" dirty="0"/>
          </a:p>
        </p:txBody>
      </p:sp>
      <p:sp>
        <p:nvSpPr>
          <p:cNvPr id="11" name="标题 10"/>
          <p:cNvSpPr>
            <a:spLocks noGrp="1"/>
          </p:cNvSpPr>
          <p:nvPr>
            <p:ph type="title"/>
          </p:nvPr>
        </p:nvSpPr>
        <p:spPr/>
        <p:txBody>
          <a:bodyPr>
            <a:normAutofit/>
          </a:bodyPr>
          <a:lstStyle/>
          <a:p>
            <a:r>
              <a:rPr lang="zh-CN" altLang="en-US" sz="2400" dirty="0"/>
              <a:t>下阶段市场研判及组合操作策略</a:t>
            </a:r>
            <a:endParaRPr lang="zh-CN" altLang="en-US" sz="2400" dirty="0"/>
          </a:p>
        </p:txBody>
      </p:sp>
      <p:sp>
        <p:nvSpPr>
          <p:cNvPr id="3" name="灯片编号占位符 2"/>
          <p:cNvSpPr>
            <a:spLocks noGrp="1"/>
          </p:cNvSpPr>
          <p:nvPr>
            <p:ph type="sldNum" sz="quarter" idx="4"/>
          </p:nvPr>
        </p:nvSpPr>
        <p:spPr/>
        <p:txBody>
          <a:bodyPr/>
          <a:lstStyle/>
          <a:p>
            <a:fld id="{7F65B630-C7FF-41C0-9923-C5E5E29EED81}" type="slidenum">
              <a:rPr lang="de-DE" smtClean="0"/>
            </a:fld>
            <a:endParaRPr lang="de-DE"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市场回顾</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sp>
        <p:nvSpPr>
          <p:cNvPr id="12" name="step3b-summary-bg"/>
          <p:cNvSpPr/>
          <p:nvPr/>
        </p:nvSpPr>
        <p:spPr>
          <a:xfrm>
            <a:off x="571500" y="1162050"/>
            <a:ext cx="6429375" cy="2238375"/>
          </a:xfrm>
          <a:prstGeom prst="rect">
            <a:avLst/>
          </a:prstGeom>
          <a:solidFill>
            <a:srgbClr val="F2F2F2"/>
          </a:solidFill>
          <a:ln>
            <a:noFill/>
          </a:ln>
        </p:spPr>
      </p:sp>
      <p:sp>
        <p:nvSpPr>
          <p:cNvPr id="13" name="step3b-summary-dot-1"/>
          <p:cNvSpPr/>
          <p:nvPr/>
        </p:nvSpPr>
        <p:spPr>
          <a:xfrm>
            <a:off x="742950" y="1328738"/>
            <a:ext cx="95250" cy="95250"/>
          </a:xfrm>
          <a:prstGeom prst="ellipse">
            <a:avLst/>
          </a:prstGeom>
          <a:solidFill>
            <a:srgbClr val="B00020"/>
          </a:solidFill>
          <a:ln>
            <a:noFill/>
          </a:ln>
        </p:spPr>
      </p:sp>
      <p:sp>
        <p:nvSpPr>
          <p:cNvPr id="14" name="step3b-summary-text-1"/>
          <p:cNvSpPr txBox="1"/>
          <p:nvPr/>
        </p:nvSpPr>
        <p:spPr>
          <a:xfrm>
            <a:off x="971550" y="1276350"/>
            <a:ext cx="5876925" cy="20002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上涨股票3505家，下跌股票1419家，全部A股的中位数涨幅6.81%。</a:t>
            </a:r>
            <a:endParaRPr lang="zh-CN" sz="1200" b="0">
              <a:solidFill>
                <a:srgbClr val="000000"/>
              </a:solidFill>
              <a:latin typeface="微软雅黑" panose="020B0503020204020204" pitchFamily="34" charset="-122"/>
              <a:ea typeface="微软雅黑" panose="020B0503020204020204" pitchFamily="34" charset="-122"/>
            </a:endParaRPr>
          </a:p>
        </p:txBody>
      </p:sp>
      <p:sp>
        <p:nvSpPr>
          <p:cNvPr id="15" name="step3b-summary-dot-2"/>
          <p:cNvSpPr/>
          <p:nvPr/>
        </p:nvSpPr>
        <p:spPr>
          <a:xfrm>
            <a:off x="742950" y="1648778"/>
            <a:ext cx="95250" cy="95250"/>
          </a:xfrm>
          <a:prstGeom prst="ellipse">
            <a:avLst/>
          </a:prstGeom>
          <a:solidFill>
            <a:srgbClr val="B00020"/>
          </a:solidFill>
          <a:ln>
            <a:noFill/>
          </a:ln>
        </p:spPr>
      </p:sp>
      <p:sp>
        <p:nvSpPr>
          <p:cNvPr id="16" name="step3b-summary-text-2"/>
          <p:cNvSpPr txBox="1"/>
          <p:nvPr/>
        </p:nvSpPr>
        <p:spPr>
          <a:xfrm>
            <a:off x="971550" y="1596390"/>
            <a:ext cx="5876925" cy="20002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板块方面，31个申万一级行业算数平均收益率为6.15%。</a:t>
            </a:r>
            <a:endParaRPr lang="zh-CN" sz="1200" b="0">
              <a:solidFill>
                <a:srgbClr val="000000"/>
              </a:solidFill>
              <a:latin typeface="微软雅黑" panose="020B0503020204020204" pitchFamily="34" charset="-122"/>
              <a:ea typeface="微软雅黑" panose="020B0503020204020204" pitchFamily="34" charset="-122"/>
            </a:endParaRPr>
          </a:p>
        </p:txBody>
      </p:sp>
      <p:pic>
        <p:nvPicPr>
          <p:cNvPr id="18" name="step3b-image-18-1"/>
          <p:cNvPicPr>
            <a:picLocks noChangeAspect="1"/>
          </p:cNvPicPr>
          <p:nvPr/>
        </p:nvPicPr>
        <p:blipFill>
          <a:blip r:embed="rId1"/>
          <a:stretch>
            <a:fillRect/>
          </a:stretch>
        </p:blipFill>
        <p:spPr>
          <a:xfrm>
            <a:off x="7377150" y="1143000"/>
            <a:ext cx="3819449" cy="2238375"/>
          </a:xfrm>
          <a:prstGeom prst="rect">
            <a:avLst/>
          </a:prstGeom>
          <a:ln w="6350">
            <a:solidFill>
              <a:srgbClr val="D9D9D9"/>
            </a:solidFill>
          </a:ln>
        </p:spPr>
      </p:pic>
      <p:pic>
        <p:nvPicPr>
          <p:cNvPr id="19" name="step3b-image-18-2"/>
          <p:cNvPicPr>
            <a:picLocks noChangeAspect="1"/>
          </p:cNvPicPr>
          <p:nvPr/>
        </p:nvPicPr>
        <p:blipFill>
          <a:blip r:embed="rId2"/>
          <a:stretch>
            <a:fillRect/>
          </a:stretch>
        </p:blipFill>
        <p:spPr>
          <a:xfrm>
            <a:off x="1362415" y="3667125"/>
            <a:ext cx="3656920" cy="2143125"/>
          </a:xfrm>
          <a:prstGeom prst="rect">
            <a:avLst/>
          </a:prstGeom>
          <a:ln w="6350">
            <a:solidFill>
              <a:srgbClr val="D9D9D9"/>
            </a:solidFill>
          </a:ln>
        </p:spPr>
      </p:pic>
      <p:pic>
        <p:nvPicPr>
          <p:cNvPr id="20" name="step3b-image-18-3"/>
          <p:cNvPicPr>
            <a:picLocks noChangeAspect="1"/>
          </p:cNvPicPr>
          <p:nvPr/>
        </p:nvPicPr>
        <p:blipFill>
          <a:blip r:embed="rId3"/>
          <a:stretch>
            <a:fillRect/>
          </a:stretch>
        </p:blipFill>
        <p:spPr>
          <a:xfrm>
            <a:off x="6886915" y="3667125"/>
            <a:ext cx="3656920" cy="2143125"/>
          </a:xfrm>
          <a:prstGeom prst="rect">
            <a:avLst/>
          </a:prstGeom>
          <a:ln w="6350">
            <a:solidFill>
              <a:srgbClr val="D9D9D9"/>
            </a:solid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市场回顾（2）</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sp>
        <p:nvSpPr>
          <p:cNvPr id="12" name="step3b-summary-bg"/>
          <p:cNvSpPr/>
          <p:nvPr/>
        </p:nvSpPr>
        <p:spPr>
          <a:xfrm>
            <a:off x="571500" y="1162050"/>
            <a:ext cx="6429375" cy="2238375"/>
          </a:xfrm>
          <a:prstGeom prst="rect">
            <a:avLst/>
          </a:prstGeom>
          <a:solidFill>
            <a:srgbClr val="F2F2F2"/>
          </a:solidFill>
          <a:ln>
            <a:noFill/>
          </a:ln>
        </p:spPr>
      </p:sp>
      <p:sp>
        <p:nvSpPr>
          <p:cNvPr id="13" name="step3b-summary-dot-1"/>
          <p:cNvSpPr/>
          <p:nvPr/>
        </p:nvSpPr>
        <p:spPr>
          <a:xfrm>
            <a:off x="742950" y="1328738"/>
            <a:ext cx="95250" cy="95250"/>
          </a:xfrm>
          <a:prstGeom prst="ellipse">
            <a:avLst/>
          </a:prstGeom>
          <a:solidFill>
            <a:srgbClr val="B00020"/>
          </a:solidFill>
          <a:ln>
            <a:noFill/>
          </a:ln>
        </p:spPr>
      </p:sp>
      <p:sp>
        <p:nvSpPr>
          <p:cNvPr id="14" name="step3b-summary-text-1"/>
          <p:cNvSpPr txBox="1"/>
          <p:nvPr/>
        </p:nvSpPr>
        <p:spPr>
          <a:xfrm>
            <a:off x="971550" y="1276350"/>
            <a:ext cx="5876925" cy="600075"/>
          </a:xfrm>
          <a:prstGeom prst="rect">
            <a:avLst/>
          </a:prstGeom>
          <a:noFill/>
          <a:ln>
            <a:noFill/>
          </a:ln>
        </p:spPr>
        <p:txBody>
          <a:bodyPr wrap="square" lIns="0" tIns="0" rIns="0" bIns="0" anchor="t">
            <a:noAutofit/>
          </a:bodyPr>
          <a:lstStyle/>
          <a:p>
            <a:pPr algn="l"/>
            <a:r>
              <a:rPr lang="zh-CN" sz="1200" b="0">
                <a:solidFill>
                  <a:srgbClr val="000000"/>
                </a:solidFill>
                <a:latin typeface="微软雅黑" panose="020B0503020204020204" pitchFamily="34" charset="-122"/>
                <a:ea typeface="微软雅黑" panose="020B0503020204020204" pitchFamily="34" charset="-122"/>
              </a:rPr>
              <a:t>固收方面，2023年1月1日-2023年3月31日。信用债方面，截至期末，3年期AAA、AA评级中期票据收益率分别为0.00%和0.00%，较期初上行0BP和0BP；等级利差走阔0BP；转债方面，中证转债区间涨幅为3.53%。</a:t>
            </a:r>
            <a:endParaRPr lang="zh-CN" sz="1200" b="0">
              <a:solidFill>
                <a:srgbClr val="000000"/>
              </a:solidFill>
              <a:latin typeface="微软雅黑" panose="020B0503020204020204" pitchFamily="34" charset="-122"/>
              <a:ea typeface="微软雅黑" panose="020B0503020204020204" pitchFamily="34" charset="-122"/>
            </a:endParaRPr>
          </a:p>
        </p:txBody>
      </p:sp>
      <p:pic>
        <p:nvPicPr>
          <p:cNvPr id="16" name="step3b-image-19-1"/>
          <p:cNvPicPr>
            <a:picLocks noChangeAspect="1"/>
          </p:cNvPicPr>
          <p:nvPr/>
        </p:nvPicPr>
        <p:blipFill>
          <a:blip r:embed="rId1"/>
          <a:stretch>
            <a:fillRect/>
          </a:stretch>
        </p:blipFill>
        <p:spPr>
          <a:xfrm>
            <a:off x="7377150" y="1143000"/>
            <a:ext cx="3819449" cy="2238375"/>
          </a:xfrm>
          <a:prstGeom prst="rect">
            <a:avLst/>
          </a:prstGeom>
          <a:ln w="6350">
            <a:solidFill>
              <a:srgbClr val="D9D9D9"/>
            </a:solidFill>
          </a:ln>
        </p:spPr>
      </p:pic>
      <p:pic>
        <p:nvPicPr>
          <p:cNvPr id="17" name="step3b-image-19-2"/>
          <p:cNvPicPr>
            <a:picLocks noChangeAspect="1"/>
          </p:cNvPicPr>
          <p:nvPr/>
        </p:nvPicPr>
        <p:blipFill>
          <a:blip r:embed="rId2"/>
          <a:stretch>
            <a:fillRect/>
          </a:stretch>
        </p:blipFill>
        <p:spPr>
          <a:xfrm>
            <a:off x="1362415" y="3667125"/>
            <a:ext cx="3656920" cy="2143125"/>
          </a:xfrm>
          <a:prstGeom prst="rect">
            <a:avLst/>
          </a:prstGeom>
          <a:ln w="6350">
            <a:solidFill>
              <a:srgbClr val="D9D9D9"/>
            </a:solidFill>
          </a:ln>
        </p:spPr>
      </p:pic>
      <p:pic>
        <p:nvPicPr>
          <p:cNvPr id="18" name="step3b-image-19-3"/>
          <p:cNvPicPr>
            <a:picLocks noChangeAspect="1"/>
          </p:cNvPicPr>
          <p:nvPr/>
        </p:nvPicPr>
        <p:blipFill>
          <a:blip r:embed="rId3"/>
          <a:stretch>
            <a:fillRect/>
          </a:stretch>
        </p:blipFill>
        <p:spPr>
          <a:xfrm>
            <a:off x="6886915" y="3667125"/>
            <a:ext cx="3656920" cy="2143125"/>
          </a:xfrm>
          <a:prstGeom prst="rect">
            <a:avLst/>
          </a:prstGeom>
          <a:ln w="6350">
            <a:solidFill>
              <a:srgbClr val="D9D9D9"/>
            </a:solid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投资策略</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sp>
        <p:nvSpPr>
          <p:cNvPr id="12" name="step3b-summary-bg"/>
          <p:cNvSpPr/>
          <p:nvPr/>
        </p:nvSpPr>
        <p:spPr>
          <a:xfrm>
            <a:off x="571500" y="1162050"/>
            <a:ext cx="10763250" cy="3333750"/>
          </a:xfrm>
          <a:prstGeom prst="rect">
            <a:avLst/>
          </a:prstGeom>
          <a:solidFill>
            <a:srgbClr val="F2F2F2"/>
          </a:solidFill>
          <a:ln>
            <a:noFill/>
          </a:ln>
        </p:spPr>
      </p:sp>
      <p:sp>
        <p:nvSpPr>
          <p:cNvPr id="13" name="step3b-summary-dot-1"/>
          <p:cNvSpPr/>
          <p:nvPr/>
        </p:nvSpPr>
        <p:spPr>
          <a:xfrm>
            <a:off x="742950" y="1344216"/>
            <a:ext cx="114300" cy="114300"/>
          </a:xfrm>
          <a:prstGeom prst="ellipse">
            <a:avLst/>
          </a:prstGeom>
          <a:solidFill>
            <a:srgbClr val="B00020"/>
          </a:solidFill>
          <a:ln>
            <a:noFill/>
          </a:ln>
        </p:spPr>
      </p:sp>
      <p:sp>
        <p:nvSpPr>
          <p:cNvPr id="14" name="step3b-summary-text-1"/>
          <p:cNvSpPr txBox="1"/>
          <p:nvPr/>
        </p:nvSpPr>
        <p:spPr>
          <a:xfrm>
            <a:off x="971550" y="1276350"/>
            <a:ext cx="10210800" cy="500062"/>
          </a:xfrm>
          <a:prstGeom prst="rect">
            <a:avLst/>
          </a:prstGeom>
          <a:noFill/>
          <a:ln>
            <a:noFill/>
          </a:ln>
        </p:spPr>
        <p:txBody>
          <a:bodyPr wrap="square" lIns="0" tIns="0" rIns="0" bIns="0" anchor="t">
            <a:noAutofit/>
          </a:bodyPr>
          <a:lstStyle/>
          <a:p>
            <a:pPr algn="l"/>
            <a:r>
              <a:rPr lang="zh-CN" sz="1500" b="0">
                <a:solidFill>
                  <a:srgbClr val="000000"/>
                </a:solidFill>
                <a:latin typeface="微软雅黑" panose="020B0503020204020204" pitchFamily="34" charset="-122"/>
                <a:ea typeface="微软雅黑" panose="020B0503020204020204" pitchFamily="34" charset="-122"/>
              </a:rPr>
              <a:t>固收总观点：短端品种偏谨慎，长端品种视供给情况进行波段操作。转债部分低价品种适当布局。6月债券市场呈现"先上后下、窄幅震荡、资金主导"的特征。月中后，央行态度转向呵护，加大投放力度稳定市场预期，利率重回下行。资金面可能较前期有一定收紧。</a:t>
            </a:r>
            <a:endParaRPr lang="zh-CN" sz="1500" b="0">
              <a:solidFill>
                <a:srgbClr val="000000"/>
              </a:solidFill>
              <a:latin typeface="微软雅黑" panose="020B0503020204020204" pitchFamily="34" charset="-122"/>
              <a:ea typeface="微软雅黑" panose="020B0503020204020204" pitchFamily="34" charset="-122"/>
            </a:endParaRPr>
          </a:p>
        </p:txBody>
      </p:sp>
      <p:sp>
        <p:nvSpPr>
          <p:cNvPr id="15" name="step3b-summary-dot-2"/>
          <p:cNvSpPr/>
          <p:nvPr/>
        </p:nvSpPr>
        <p:spPr>
          <a:xfrm>
            <a:off x="742950" y="1994297"/>
            <a:ext cx="114300" cy="114300"/>
          </a:xfrm>
          <a:prstGeom prst="ellipse">
            <a:avLst/>
          </a:prstGeom>
          <a:solidFill>
            <a:srgbClr val="B00020"/>
          </a:solidFill>
          <a:ln>
            <a:noFill/>
          </a:ln>
        </p:spPr>
      </p:sp>
      <p:sp>
        <p:nvSpPr>
          <p:cNvPr id="16" name="step3b-summary-text-2"/>
          <p:cNvSpPr txBox="1"/>
          <p:nvPr/>
        </p:nvSpPr>
        <p:spPr>
          <a:xfrm>
            <a:off x="971550" y="1926431"/>
            <a:ext cx="10210800" cy="500062"/>
          </a:xfrm>
          <a:prstGeom prst="rect">
            <a:avLst/>
          </a:prstGeom>
          <a:noFill/>
          <a:ln>
            <a:noFill/>
          </a:ln>
        </p:spPr>
        <p:txBody>
          <a:bodyPr wrap="square" lIns="0" tIns="0" rIns="0" bIns="0" anchor="t">
            <a:noAutofit/>
          </a:bodyPr>
          <a:lstStyle/>
          <a:p>
            <a:pPr algn="l"/>
            <a:r>
              <a:rPr lang="zh-CN" sz="1500" b="0">
                <a:solidFill>
                  <a:srgbClr val="000000"/>
                </a:solidFill>
                <a:latin typeface="微软雅黑" panose="020B0503020204020204" pitchFamily="34" charset="-122"/>
                <a:ea typeface="微软雅黑" panose="020B0503020204020204" pitchFamily="34" charset="-122"/>
              </a:rPr>
              <a:t>权益总观点：布局方向上，由于当前市场交易结构较为极致，且经济复苏势头震荡，我们继续建议在结构上主动降波，看好AI硬件、新能源、工业金属、化工、非银。另一方面，国内逆周期政策力度放缓，地方政府促投资和促消费力度减弱。</a:t>
            </a:r>
            <a:endParaRPr lang="zh-CN" sz="1500" b="0">
              <a:solidFill>
                <a:srgbClr val="000000"/>
              </a:solidFill>
              <a:latin typeface="微软雅黑" panose="020B0503020204020204" pitchFamily="34" charset="-122"/>
              <a:ea typeface="微软雅黑" panose="020B0503020204020204" pitchFamily="34" charset="-122"/>
            </a:endParaRPr>
          </a:p>
        </p:txBody>
      </p:sp>
      <p:sp>
        <p:nvSpPr>
          <p:cNvPr id="17" name="step3b-summary-dot-3"/>
          <p:cNvSpPr/>
          <p:nvPr/>
        </p:nvSpPr>
        <p:spPr>
          <a:xfrm>
            <a:off x="742950" y="2644378"/>
            <a:ext cx="114300" cy="114300"/>
          </a:xfrm>
          <a:prstGeom prst="ellipse">
            <a:avLst/>
          </a:prstGeom>
          <a:solidFill>
            <a:srgbClr val="B00020"/>
          </a:solidFill>
          <a:ln>
            <a:noFill/>
          </a:ln>
        </p:spPr>
      </p:sp>
      <p:sp>
        <p:nvSpPr>
          <p:cNvPr id="18" name="step3b-summary-text-3"/>
          <p:cNvSpPr txBox="1"/>
          <p:nvPr/>
        </p:nvSpPr>
        <p:spPr>
          <a:xfrm>
            <a:off x="971550" y="2576512"/>
            <a:ext cx="10210800" cy="500062"/>
          </a:xfrm>
          <a:prstGeom prst="rect">
            <a:avLst/>
          </a:prstGeom>
          <a:noFill/>
          <a:ln>
            <a:noFill/>
          </a:ln>
        </p:spPr>
        <p:txBody>
          <a:bodyPr wrap="square" lIns="0" tIns="0" rIns="0" bIns="0" anchor="t">
            <a:noAutofit/>
          </a:bodyPr>
          <a:lstStyle/>
          <a:p>
            <a:pPr algn="l"/>
            <a:r>
              <a:rPr lang="zh-CN" sz="1500" b="0">
                <a:solidFill>
                  <a:srgbClr val="000000"/>
                </a:solidFill>
                <a:latin typeface="微软雅黑" panose="020B0503020204020204" pitchFamily="34" charset="-122"/>
                <a:ea typeface="微软雅黑" panose="020B0503020204020204" pitchFamily="34" charset="-122"/>
              </a:rPr>
              <a:t>展望海外，美伊冲突缓和，美国经济“空中加油”，全球央行“降息潮”基本结束。美国经济增长在AI技术革命、财政补贴前置、全球产业链重构的基础上保持韧性超预期。但全球央行的宽松空间正在收敛。</a:t>
            </a:r>
            <a:endParaRPr lang="zh-CN" sz="1500" b="0">
              <a:solidFill>
                <a:srgbClr val="000000"/>
              </a:solidFill>
              <a:latin typeface="微软雅黑" panose="020B0503020204020204" pitchFamily="34" charset="-122"/>
              <a:ea typeface="微软雅黑" panose="020B0503020204020204" pitchFamily="34" charset="-122"/>
            </a:endParaRPr>
          </a:p>
        </p:txBody>
      </p:sp>
      <p:sp>
        <p:nvSpPr>
          <p:cNvPr id="19" name="step3b-summary-dot-4"/>
          <p:cNvSpPr/>
          <p:nvPr/>
        </p:nvSpPr>
        <p:spPr>
          <a:xfrm>
            <a:off x="742950" y="3294459"/>
            <a:ext cx="114300" cy="114300"/>
          </a:xfrm>
          <a:prstGeom prst="ellipse">
            <a:avLst/>
          </a:prstGeom>
          <a:solidFill>
            <a:srgbClr val="B00020"/>
          </a:solidFill>
          <a:ln>
            <a:noFill/>
          </a:ln>
        </p:spPr>
      </p:sp>
      <p:sp>
        <p:nvSpPr>
          <p:cNvPr id="20" name="step3b-summary-text-4"/>
          <p:cNvSpPr txBox="1"/>
          <p:nvPr/>
        </p:nvSpPr>
        <p:spPr>
          <a:xfrm>
            <a:off x="971550" y="3226594"/>
            <a:ext cx="10210800" cy="500062"/>
          </a:xfrm>
          <a:prstGeom prst="rect">
            <a:avLst/>
          </a:prstGeom>
          <a:noFill/>
          <a:ln>
            <a:noFill/>
          </a:ln>
        </p:spPr>
        <p:txBody>
          <a:bodyPr wrap="square" lIns="0" tIns="0" rIns="0" bIns="0" anchor="t">
            <a:noAutofit/>
          </a:bodyPr>
          <a:lstStyle/>
          <a:p>
            <a:pPr algn="l"/>
            <a:r>
              <a:rPr lang="zh-CN" sz="1500" b="0">
                <a:solidFill>
                  <a:srgbClr val="000000"/>
                </a:solidFill>
                <a:latin typeface="微软雅黑" panose="020B0503020204020204" pitchFamily="34" charset="-122"/>
                <a:ea typeface="微软雅黑" panose="020B0503020204020204" pitchFamily="34" charset="-122"/>
              </a:rPr>
              <a:t>估值上看，虽然A股的股票资产性价比依然处于中位数水平，但半导体板块估值扩张程度达历史绝对高位。目前股债比处于95%分位数，万得全A股权风险溢价处于44%分位数。但半导体板块整体PB接近15x， 处于历史分位的100%。</a:t>
            </a:r>
            <a:endParaRPr lang="zh-CN" sz="1500" b="0">
              <a:solidFill>
                <a:srgbClr val="000000"/>
              </a:solidFill>
              <a:latin typeface="微软雅黑" panose="020B0503020204020204" pitchFamily="34" charset="-122"/>
              <a:ea typeface="微软雅黑" panose="020B0503020204020204" pitchFamily="34" charset="-122"/>
            </a:endParaRPr>
          </a:p>
        </p:txBody>
      </p:sp>
      <p:sp>
        <p:nvSpPr>
          <p:cNvPr id="21" name="step3b-summary-dot-5"/>
          <p:cNvSpPr/>
          <p:nvPr/>
        </p:nvSpPr>
        <p:spPr>
          <a:xfrm>
            <a:off x="742950" y="3944541"/>
            <a:ext cx="114300" cy="114300"/>
          </a:xfrm>
          <a:prstGeom prst="ellipse">
            <a:avLst/>
          </a:prstGeom>
          <a:solidFill>
            <a:srgbClr val="B00020"/>
          </a:solidFill>
          <a:ln>
            <a:noFill/>
          </a:ln>
        </p:spPr>
      </p:sp>
      <p:sp>
        <p:nvSpPr>
          <p:cNvPr id="22" name="step3b-summary-text-5"/>
          <p:cNvSpPr txBox="1"/>
          <p:nvPr/>
        </p:nvSpPr>
        <p:spPr>
          <a:xfrm>
            <a:off x="971550" y="3876675"/>
            <a:ext cx="10210800" cy="500062"/>
          </a:xfrm>
          <a:prstGeom prst="rect">
            <a:avLst/>
          </a:prstGeom>
          <a:noFill/>
          <a:ln>
            <a:noFill/>
          </a:ln>
        </p:spPr>
        <p:txBody>
          <a:bodyPr wrap="square" lIns="0" tIns="0" rIns="0" bIns="0" anchor="t">
            <a:noAutofit/>
          </a:bodyPr>
          <a:lstStyle/>
          <a:p>
            <a:pPr algn="l"/>
            <a:r>
              <a:rPr lang="zh-CN" sz="1500" b="0">
                <a:solidFill>
                  <a:srgbClr val="000000"/>
                </a:solidFill>
                <a:latin typeface="微软雅黑" panose="020B0503020204020204" pitchFamily="34" charset="-122"/>
                <a:ea typeface="微软雅黑" panose="020B0503020204020204" pitchFamily="34" charset="-122"/>
              </a:rPr>
              <a:t>经济正进入新周期，我们中期继续看好市场。但考虑到市场行情和估值极端分化，同时7月进入业绩验证期，我们建议短期适度降仓，暂作观望，等待风格平衡时机。</a:t>
            </a:r>
            <a:endParaRPr lang="zh-CN" sz="1500" b="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投资策略（2）</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sp>
        <p:nvSpPr>
          <p:cNvPr id="12" name="step3b-summary-bg"/>
          <p:cNvSpPr/>
          <p:nvPr/>
        </p:nvSpPr>
        <p:spPr>
          <a:xfrm>
            <a:off x="571500" y="1162050"/>
            <a:ext cx="10763250" cy="3333750"/>
          </a:xfrm>
          <a:prstGeom prst="rect">
            <a:avLst/>
          </a:prstGeom>
          <a:solidFill>
            <a:srgbClr val="F2F2F2"/>
          </a:solidFill>
          <a:ln>
            <a:noFill/>
          </a:ln>
        </p:spPr>
      </p:sp>
      <p:sp>
        <p:nvSpPr>
          <p:cNvPr id="13" name="step3b-summary-dot-1"/>
          <p:cNvSpPr/>
          <p:nvPr/>
        </p:nvSpPr>
        <p:spPr>
          <a:xfrm>
            <a:off x="742950" y="1344216"/>
            <a:ext cx="114300" cy="114300"/>
          </a:xfrm>
          <a:prstGeom prst="ellipse">
            <a:avLst/>
          </a:prstGeom>
          <a:solidFill>
            <a:srgbClr val="B00020"/>
          </a:solidFill>
          <a:ln>
            <a:noFill/>
          </a:ln>
        </p:spPr>
      </p:sp>
      <p:sp>
        <p:nvSpPr>
          <p:cNvPr id="14" name="step3b-summary-text-1"/>
          <p:cNvSpPr txBox="1"/>
          <p:nvPr/>
        </p:nvSpPr>
        <p:spPr>
          <a:xfrm>
            <a:off x="971550" y="1276350"/>
            <a:ext cx="10210800" cy="250031"/>
          </a:xfrm>
          <a:prstGeom prst="rect">
            <a:avLst/>
          </a:prstGeom>
          <a:noFill/>
          <a:ln>
            <a:noFill/>
          </a:ln>
        </p:spPr>
        <p:txBody>
          <a:bodyPr wrap="square" lIns="0" tIns="0" rIns="0" bIns="0" anchor="t">
            <a:noAutofit/>
          </a:bodyPr>
          <a:lstStyle/>
          <a:p>
            <a:pPr algn="l"/>
            <a:r>
              <a:rPr lang="zh-CN" sz="1500" b="0">
                <a:solidFill>
                  <a:srgbClr val="000000"/>
                </a:solidFill>
                <a:latin typeface="微软雅黑" panose="020B0503020204020204" pitchFamily="34" charset="-122"/>
                <a:ea typeface="微软雅黑" panose="020B0503020204020204" pitchFamily="34" charset="-122"/>
              </a:rPr>
              <a:t>权益AI板块观点：分散配置光模块/PCB/服务器/燃气轮机等龙头，降低高估值二三线敞口，耐心等布局点。</a:t>
            </a:r>
            <a:endParaRPr lang="zh-CN" sz="1500" b="0">
              <a:solidFill>
                <a:srgbClr val="000000"/>
              </a:solidFill>
              <a:latin typeface="微软雅黑" panose="020B0503020204020204" pitchFamily="34" charset="-122"/>
              <a:ea typeface="微软雅黑" panose="020B0503020204020204" pitchFamily="34" charset="-122"/>
            </a:endParaRPr>
          </a:p>
        </p:txBody>
      </p:sp>
      <p:sp>
        <p:nvSpPr>
          <p:cNvPr id="15" name="step3b-summary-dot-2"/>
          <p:cNvSpPr/>
          <p:nvPr/>
        </p:nvSpPr>
        <p:spPr>
          <a:xfrm>
            <a:off x="742950" y="1744266"/>
            <a:ext cx="114300" cy="114300"/>
          </a:xfrm>
          <a:prstGeom prst="ellipse">
            <a:avLst/>
          </a:prstGeom>
          <a:solidFill>
            <a:srgbClr val="B00020"/>
          </a:solidFill>
          <a:ln>
            <a:noFill/>
          </a:ln>
        </p:spPr>
      </p:sp>
      <p:sp>
        <p:nvSpPr>
          <p:cNvPr id="16" name="step3b-summary-text-2"/>
          <p:cNvSpPr txBox="1"/>
          <p:nvPr/>
        </p:nvSpPr>
        <p:spPr>
          <a:xfrm>
            <a:off x="971550" y="1676400"/>
            <a:ext cx="10210800" cy="250031"/>
          </a:xfrm>
          <a:prstGeom prst="rect">
            <a:avLst/>
          </a:prstGeom>
          <a:noFill/>
          <a:ln>
            <a:noFill/>
          </a:ln>
        </p:spPr>
        <p:txBody>
          <a:bodyPr wrap="square" lIns="0" tIns="0" rIns="0" bIns="0" anchor="t">
            <a:noAutofit/>
          </a:bodyPr>
          <a:lstStyle/>
          <a:p>
            <a:pPr algn="l"/>
            <a:r>
              <a:rPr lang="zh-CN" sz="1500" b="0">
                <a:solidFill>
                  <a:srgbClr val="000000"/>
                </a:solidFill>
                <a:latin typeface="微软雅黑" panose="020B0503020204020204" pitchFamily="34" charset="-122"/>
                <a:ea typeface="微软雅黑" panose="020B0503020204020204" pitchFamily="34" charset="-122"/>
              </a:rPr>
              <a:t>权益红利观点：在市场结构化行情趋于极致的情况下，也建议可以考虑低估值因子的保险、券商以及小仓位的红利来降波。</a:t>
            </a:r>
            <a:endParaRPr lang="zh-CN" sz="1500" b="0">
              <a:solidFill>
                <a:srgbClr val="000000"/>
              </a:solidFill>
              <a:latin typeface="微软雅黑" panose="020B0503020204020204" pitchFamily="34" charset="-122"/>
              <a:ea typeface="微软雅黑" panose="020B0503020204020204" pitchFamily="34" charset="-122"/>
            </a:endParaRPr>
          </a:p>
        </p:txBody>
      </p:sp>
      <p:sp>
        <p:nvSpPr>
          <p:cNvPr id="17" name="step3b-summary-dot-3"/>
          <p:cNvSpPr/>
          <p:nvPr/>
        </p:nvSpPr>
        <p:spPr>
          <a:xfrm>
            <a:off x="742950" y="2144316"/>
            <a:ext cx="114300" cy="114300"/>
          </a:xfrm>
          <a:prstGeom prst="ellipse">
            <a:avLst/>
          </a:prstGeom>
          <a:solidFill>
            <a:srgbClr val="B00020"/>
          </a:solidFill>
          <a:ln>
            <a:noFill/>
          </a:ln>
        </p:spPr>
      </p:sp>
      <p:sp>
        <p:nvSpPr>
          <p:cNvPr id="18" name="step3b-summary-text-3"/>
          <p:cNvSpPr txBox="1"/>
          <p:nvPr/>
        </p:nvSpPr>
        <p:spPr>
          <a:xfrm>
            <a:off x="971550" y="2076450"/>
            <a:ext cx="10210800" cy="500062"/>
          </a:xfrm>
          <a:prstGeom prst="rect">
            <a:avLst/>
          </a:prstGeom>
          <a:noFill/>
          <a:ln>
            <a:noFill/>
          </a:ln>
        </p:spPr>
        <p:txBody>
          <a:bodyPr wrap="square" lIns="0" tIns="0" rIns="0" bIns="0" anchor="t">
            <a:noAutofit/>
          </a:bodyPr>
          <a:lstStyle/>
          <a:p>
            <a:pPr algn="l"/>
            <a:r>
              <a:rPr lang="zh-CN" sz="1500" b="0">
                <a:solidFill>
                  <a:srgbClr val="000000"/>
                </a:solidFill>
                <a:latin typeface="微软雅黑" panose="020B0503020204020204" pitchFamily="34" charset="-122"/>
                <a:ea typeface="微软雅黑" panose="020B0503020204020204" pitchFamily="34" charset="-122"/>
              </a:rPr>
              <a:t>权益周期观点：在经济结构性复苏、制造业中上游率先进入新周期的背景下，新能源、有色、化工是后续能够受益于制造业供应链修复的行业。</a:t>
            </a:r>
            <a:endParaRPr lang="zh-CN" sz="1500" b="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占位符 16"/>
          <p:cNvSpPr>
            <a:spLocks noGrp="1"/>
          </p:cNvSpPr>
          <p:nvPr>
            <p:ph type="body" sz="quarter" idx="18"/>
          </p:nvPr>
        </p:nvSpPr>
        <p:spPr>
          <a:xfrm>
            <a:off x="2417763" y="2143148"/>
            <a:ext cx="1211262" cy="939754"/>
          </a:xfrm>
        </p:spPr>
        <p:txBody>
          <a:bodyPr/>
          <a:lstStyle/>
          <a:p>
            <a:pPr lvl="0"/>
            <a:r>
              <a:rPr lang="en-US" altLang="zh-CN"/>
              <a:t>04</a:t>
            </a:r>
            <a:endParaRPr lang="zh-CN" altLang="en-US" dirty="0"/>
          </a:p>
        </p:txBody>
      </p:sp>
      <p:sp>
        <p:nvSpPr>
          <p:cNvPr id="11" name="标题 10"/>
          <p:cNvSpPr>
            <a:spLocks noGrp="1"/>
          </p:cNvSpPr>
          <p:nvPr>
            <p:ph type="title"/>
          </p:nvPr>
        </p:nvSpPr>
        <p:spPr/>
        <p:txBody>
          <a:bodyPr>
            <a:normAutofit/>
          </a:bodyPr>
          <a:lstStyle/>
          <a:p>
            <a:r>
              <a:rPr lang="zh-CN" altLang="en-US" sz="2400" dirty="0"/>
              <a:t>补充数据图表</a:t>
            </a:r>
            <a:endParaRPr lang="zh-CN" altLang="en-US" sz="2400" dirty="0"/>
          </a:p>
        </p:txBody>
      </p:sp>
      <p:sp>
        <p:nvSpPr>
          <p:cNvPr id="3" name="灯片编号占位符 2"/>
          <p:cNvSpPr>
            <a:spLocks noGrp="1"/>
          </p:cNvSpPr>
          <p:nvPr>
            <p:ph type="sldNum" sz="quarter" idx="4"/>
          </p:nvPr>
        </p:nvSpPr>
        <p:spPr/>
        <p:txBody>
          <a:bodyPr/>
          <a:lstStyle/>
          <a:p>
            <a:fld id="{7F65B630-C7FF-41C0-9923-C5E5E29EED81}" type="slidenum">
              <a:rPr lang="de-DE" smtClean="0"/>
            </a:fld>
            <a:endParaRPr lang="de-DE"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养老金产品时序图_数据</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pic>
        <p:nvPicPr>
          <p:cNvPr id="13" name="step3b-image-23-1"/>
          <p:cNvPicPr>
            <a:picLocks noChangeAspect="1"/>
          </p:cNvPicPr>
          <p:nvPr/>
        </p:nvPicPr>
        <p:blipFill>
          <a:blip r:embed="rId1"/>
          <a:stretch>
            <a:fillRect/>
          </a:stretch>
        </p:blipFill>
        <p:spPr>
          <a:xfrm>
            <a:off x="2519532" y="1143000"/>
            <a:ext cx="6867187" cy="4667250"/>
          </a:xfrm>
          <a:prstGeom prst="rect">
            <a:avLst/>
          </a:prstGeom>
          <a:ln w="6350">
            <a:solidFill>
              <a:srgbClr val="D9D9D9"/>
            </a:solid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组合可转债仓位变动情况（穿透后）_数据</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pic>
        <p:nvPicPr>
          <p:cNvPr id="13" name="step3b-image-24-1"/>
          <p:cNvPicPr>
            <a:picLocks noChangeAspect="1"/>
          </p:cNvPicPr>
          <p:nvPr/>
        </p:nvPicPr>
        <p:blipFill>
          <a:blip r:embed="rId1"/>
          <a:stretch>
            <a:fillRect/>
          </a:stretch>
        </p:blipFill>
        <p:spPr>
          <a:xfrm>
            <a:off x="2576312" y="1143000"/>
            <a:ext cx="6753626" cy="4667250"/>
          </a:xfrm>
          <a:prstGeom prst="rect">
            <a:avLst/>
          </a:prstGeom>
          <a:ln w="6350">
            <a:solidFill>
              <a:srgbClr val="D9D9D9"/>
            </a:solid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可转债正股行业时序图(不穿透)_数据</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pic>
        <p:nvPicPr>
          <p:cNvPr id="13" name="step3b-image-25-1"/>
          <p:cNvPicPr>
            <a:picLocks noChangeAspect="1"/>
          </p:cNvPicPr>
          <p:nvPr/>
        </p:nvPicPr>
        <p:blipFill>
          <a:blip r:embed="rId1"/>
          <a:stretch>
            <a:fillRect/>
          </a:stretch>
        </p:blipFill>
        <p:spPr>
          <a:xfrm>
            <a:off x="2686050" y="1143000"/>
            <a:ext cx="6534150" cy="4667250"/>
          </a:xfrm>
          <a:prstGeom prst="rect">
            <a:avLst/>
          </a:prstGeom>
          <a:ln w="6350">
            <a:solidFill>
              <a:srgbClr val="D9D9D9"/>
            </a:solid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669925" y="0"/>
            <a:ext cx="10848975" cy="1028700"/>
          </a:xfrm>
        </p:spPr>
        <p:txBody>
          <a:bodyPr/>
          <a:lstStyle/>
          <a:p>
            <a:r>
              <a:rPr lang="zh-CN" altLang="en-US" dirty="0"/>
              <a:t>可转债正股行业时序图(穿透)_数据</a:t>
            </a:r>
            <a:endParaRPr lang="zh-CN" altLang="en-US" dirty="0"/>
          </a:p>
        </p:txBody>
      </p:sp>
      <p:sp>
        <p:nvSpPr>
          <p:cNvPr id="3" name="灯片编号占位符 2"/>
          <p:cNvSpPr>
            <a:spLocks noGrp="1"/>
          </p:cNvSpPr>
          <p:nvPr>
            <p:ph type="sldNum" sz="quarter" idx="4294967295"/>
          </p:nvPr>
        </p:nvSpPr>
        <p:spPr/>
        <p:txBody>
          <a:bodyPr/>
          <a:lstStyle/>
          <a:p>
            <a:fld id="{7F65B630-C7FF-41C0-9923-C5E5E29EED81}" type="slidenum">
              <a:rPr lang="en-US" altLang="zh-CN" smtClean="0"/>
            </a:fld>
            <a:endParaRPr lang="zh-CN" altLang="en-US" dirty="0"/>
          </a:p>
        </p:txBody>
      </p:sp>
      <p:pic>
        <p:nvPicPr>
          <p:cNvPr id="13" name="step3b-image-26-1"/>
          <p:cNvPicPr>
            <a:picLocks noChangeAspect="1"/>
          </p:cNvPicPr>
          <p:nvPr/>
        </p:nvPicPr>
        <p:blipFill>
          <a:blip r:embed="rId1"/>
          <a:stretch>
            <a:fillRect/>
          </a:stretch>
        </p:blipFill>
        <p:spPr>
          <a:xfrm>
            <a:off x="571500" y="1933441"/>
            <a:ext cx="5238750" cy="2705367"/>
          </a:xfrm>
          <a:prstGeom prst="rect">
            <a:avLst/>
          </a:prstGeom>
          <a:ln w="6350">
            <a:solidFill>
              <a:srgbClr val="D9D9D9"/>
            </a:solidFill>
          </a:ln>
        </p:spPr>
      </p:pic>
      <p:pic>
        <p:nvPicPr>
          <p:cNvPr id="14" name="step3b-image-26-2"/>
          <p:cNvPicPr>
            <a:picLocks noChangeAspect="1"/>
          </p:cNvPicPr>
          <p:nvPr/>
        </p:nvPicPr>
        <p:blipFill>
          <a:blip r:embed="rId2"/>
          <a:stretch>
            <a:fillRect/>
          </a:stretch>
        </p:blipFill>
        <p:spPr>
          <a:xfrm>
            <a:off x="6096000" y="1349945"/>
            <a:ext cx="5238750" cy="3872360"/>
          </a:xfrm>
          <a:prstGeom prst="rect">
            <a:avLst/>
          </a:prstGeom>
          <a:ln w="6350">
            <a:solidFill>
              <a:srgbClr val="D9D9D9"/>
            </a:solid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43000" y="2190750"/>
            <a:ext cx="8896350" cy="707886"/>
          </a:xfrm>
          <a:prstGeom prst="rect">
            <a:avLst/>
          </a:prstGeom>
          <a:noFill/>
        </p:spPr>
        <p:txBody>
          <a:bodyPr wrap="square" rtlCol="0">
            <a:spAutoFit/>
          </a:bodyPr>
          <a:lstStyle/>
          <a:p>
            <a:r>
              <a:rPr lang="zh-CN" altLang="en-US" sz="4000" dirty="0">
                <a:solidFill>
                  <a:srgbClr val="A30117"/>
                </a:solidFill>
              </a:rPr>
              <a:t>谋虑尽善 未来尽美 </a:t>
            </a:r>
            <a:endParaRPr lang="zh-CN" altLang="en-US" sz="4000" dirty="0">
              <a:solidFill>
                <a:srgbClr val="A30117"/>
              </a:solidFill>
            </a:endParaRPr>
          </a:p>
        </p:txBody>
      </p:sp>
    </p:spTree>
  </p:cSld>
  <p:clrMapOvr>
    <a:masterClrMapping/>
  </p:clrMapOvr>
</p:sld>
</file>

<file path=ppt/theme/theme1.xml><?xml version="1.0" encoding="utf-8"?>
<a:theme xmlns:a="http://schemas.openxmlformats.org/drawingml/2006/main" name="国泰基金-16x9">
  <a:themeElements>
    <a:clrScheme name="国泰基金-红2">
      <a:dk1>
        <a:srgbClr val="000000"/>
      </a:dk1>
      <a:lt1>
        <a:srgbClr val="FFFFFF"/>
      </a:lt1>
      <a:dk2>
        <a:srgbClr val="6E6E6E"/>
      </a:dk2>
      <a:lt2>
        <a:srgbClr val="F4EDE5"/>
      </a:lt2>
      <a:accent1>
        <a:srgbClr val="9E0116"/>
      </a:accent1>
      <a:accent2>
        <a:srgbClr val="5D070C"/>
      </a:accent2>
      <a:accent3>
        <a:srgbClr val="706F71"/>
      </a:accent3>
      <a:accent4>
        <a:srgbClr val="A7A7A7"/>
      </a:accent4>
      <a:accent5>
        <a:srgbClr val="BF9D5A"/>
      </a:accent5>
      <a:accent6>
        <a:srgbClr val="D8C49B"/>
      </a:accent6>
      <a:hlink>
        <a:srgbClr val="A3B4DC"/>
      </a:hlink>
      <a:folHlink>
        <a:srgbClr val="C9C9CA"/>
      </a:folHlink>
    </a:clrScheme>
    <a:fontScheme name="主题标准">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3408</Words>
  <Application>WPS 演示</Application>
  <PresentationFormat>宽屏</PresentationFormat>
  <Paragraphs>212</Paragraphs>
  <Slides>27</Slides>
  <Notes>3</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27</vt:i4>
      </vt:variant>
    </vt:vector>
  </HeadingPairs>
  <TitlesOfParts>
    <vt:vector size="34" baseType="lpstr">
      <vt:lpstr>Arial</vt:lpstr>
      <vt:lpstr>宋体</vt:lpstr>
      <vt:lpstr>Wingdings</vt:lpstr>
      <vt:lpstr>微软雅黑</vt:lpstr>
      <vt:lpstr>Arial Unicode MS</vt:lpstr>
      <vt:lpstr>Calibri</vt:lpstr>
      <vt:lpstr>国泰基金-16x9</vt:lpstr>
      <vt:lpstr>PowerPoint 演示文稿</vt:lpstr>
      <vt:lpstr>PowerPoint 演示文稿</vt:lpstr>
      <vt:lpstr>组合业绩分析</vt:lpstr>
      <vt:lpstr>组合业绩情况</vt:lpstr>
      <vt:lpstr>组合业绩归因</vt:lpstr>
      <vt:lpstr>今年以来资产配置回顾</vt:lpstr>
      <vt:lpstr>组合资产配置</vt:lpstr>
      <vt:lpstr>投资操作回顾</vt:lpstr>
      <vt:lpstr>组合固收投资回顾</vt:lpstr>
      <vt:lpstr>组合固收投资回顾（2）</vt:lpstr>
      <vt:lpstr>组合固收投资回顾（3）</vt:lpstr>
      <vt:lpstr>组合固收投资回顾（4）</vt:lpstr>
      <vt:lpstr>组合固收投资回顾（5）</vt:lpstr>
      <vt:lpstr>组合权益投资回顾</vt:lpstr>
      <vt:lpstr>组合权益投资回顾（2）</vt:lpstr>
      <vt:lpstr>组合权益投资回顾（3）</vt:lpstr>
      <vt:lpstr>下阶段市场研判及组合操作策略</vt:lpstr>
      <vt:lpstr>市场回顾</vt:lpstr>
      <vt:lpstr>市场回顾（2）</vt:lpstr>
      <vt:lpstr>投资策略</vt:lpstr>
      <vt:lpstr>投资策略（2）</vt:lpstr>
      <vt:lpstr>补充数据图表</vt:lpstr>
      <vt:lpstr>养老金产品时序图_数据</vt:lpstr>
      <vt:lpstr>组合可转债仓位变动情况（穿透后）_数据</vt:lpstr>
      <vt:lpstr>可转债正股行业时序图(不穿透)_数据</vt:lpstr>
      <vt:lpstr>可转债正股行业时序图(穿透)_数据</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夏田儒</dc:creator>
  <cp:lastModifiedBy>肖健</cp:lastModifiedBy>
  <cp:revision>489</cp:revision>
  <cp:lastPrinted>2022-06-28T16:00:00Z</cp:lastPrinted>
  <dcterms:created xsi:type="dcterms:W3CDTF">2022-06-28T16:00:00Z</dcterms:created>
  <dcterms:modified xsi:type="dcterms:W3CDTF">2026-08-04T09:06:19Z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85ca73c1-eec4-4a33-8a9a-111dbd304963</vt:lpwstr>
  </property>
  <property fmtid="{D5CDD505-2E9C-101B-9397-08002B2CF9AE}" pid="3" name="ICV">
    <vt:lpwstr>E5F2C678CA0B4FAAB9FAC379F98CEED4</vt:lpwstr>
  </property>
  <property fmtid="{D5CDD505-2E9C-101B-9397-08002B2CF9AE}" pid="4" name="KSOProductBuildVer">
    <vt:lpwstr>2052-12.1.0.28043</vt:lpwstr>
  </property>
</Properties>
</file>