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16667973" r:id="rId2"/>
    <p:sldId id="16667974" r:id="rId3"/>
    <p:sldId id="16667975" r:id="rId4"/>
    <p:sldId id="16667976" r:id="rId5"/>
    <p:sldId id="16667977" r:id="rId6"/>
    <p:sldId id="16667978" r:id="rId7"/>
    <p:sldId id="16667979" r:id="rId8"/>
    <p:sldId id="16667980" r:id="rId9"/>
    <p:sldId id="16667981" r:id="rId10"/>
    <p:sldId id="16667982" r:id="rId11"/>
    <p:sldId id="16667983" r:id="rId12"/>
    <p:sldId id="16667984" r:id="rId13"/>
    <p:sldId id="16667985" r:id="rId14"/>
    <p:sldId id="16667986" r:id="rId15"/>
    <p:sldId id="16667987" r:id="rId16"/>
    <p:sldId id="16667988" r:id="rId17"/>
    <p:sldId id="16667989" r:id="rId18"/>
    <p:sldId id="16667990" r:id="rId19"/>
    <p:sldId id="16667991" r:id="rId20"/>
    <p:sldId id="16667992" r:id="rId21"/>
    <p:sldId id="16667993" r:id="rId22"/>
    <p:sldId id="16667994" r:id="rId23"/>
    <p:sldId id="16667995" r:id="rId24"/>
    <p:sldId id="16667996" r:id="rId25"/>
    <p:sldId id="16667997" r:id="rId26"/>
    <p:sldId id="16667998" r:id="rId27"/>
    <p:sldId id="16667999"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风格主题" id="{1E75E4EB-81CC-4C04-BBC2-B758850C44D7}">
          <p14:sldIdLst>
            <p14:sldId id="16667973"/>
            <p14:sldId id="16667974"/>
            <p14:sldId id="16667975"/>
            <p14:sldId id="16667976"/>
            <p14:sldId id="16667977"/>
            <p14:sldId id="16667978"/>
            <p14:sldId id="16667979"/>
            <p14:sldId id="16667980"/>
            <p14:sldId id="16667981"/>
            <p14:sldId id="16667982"/>
            <p14:sldId id="16667983"/>
            <p14:sldId id="16667984"/>
            <p14:sldId id="16667985"/>
            <p14:sldId id="16667986"/>
            <p14:sldId id="16667987"/>
            <p14:sldId id="16667988"/>
            <p14:sldId id="16667989"/>
            <p14:sldId id="16667990"/>
            <p14:sldId id="16667991"/>
            <p14:sldId id="16667992"/>
            <p14:sldId id="16667993"/>
            <p14:sldId id="16667994"/>
            <p14:sldId id="16667995"/>
            <p14:sldId id="16667996"/>
            <p14:sldId id="16667997"/>
            <p14:sldId id="16667998"/>
            <p14:sldId id="16667999"/>
          </p14:sldIdLst>
        </p14:section>
      </p14:sectionLst>
    </p:ext>
    <p:ext uri="{EFAFB233-063F-42B5-8137-9DF3F51BA10A}">
      <p15:sldGuideLst xmlns:p15="http://schemas.microsoft.com/office/powerpoint/2012/main">
        <p15:guide id="1" pos="393" userDrawn="1">
          <p15:clr>
            <a:srgbClr val="A4A3A4"/>
          </p15:clr>
        </p15:guide>
        <p15:guide id="2" pos="7265">
          <p15:clr>
            <a:srgbClr val="A4A3A4"/>
          </p15:clr>
        </p15:guide>
        <p15:guide id="3" orient="horz" pos="648">
          <p15:clr>
            <a:srgbClr val="A4A3A4"/>
          </p15:clr>
        </p15:guide>
        <p15:guide id="4" orient="horz" pos="712">
          <p15:clr>
            <a:srgbClr val="A4A3A4"/>
          </p15:clr>
        </p15:guide>
        <p15:guide id="5" orient="horz" pos="3929" userDrawn="1">
          <p15:clr>
            <a:srgbClr val="A4A3A4"/>
          </p15:clr>
        </p15:guide>
        <p15:guide id="6" orient="horz" pos="386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蒙思" initials="王蒙思" lastIdx="5" clrIdx="0">
    <p:extLst>
      <p:ext uri="{19B8F6BF-5375-455C-9EA6-DF929625EA0E}">
        <p15:presenceInfo xmlns:p15="http://schemas.microsoft.com/office/powerpoint/2012/main" userId="S-1-5-21-1862079002-905668813-1295184657-9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0117"/>
    <a:srgbClr val="B5B5B5"/>
    <a:srgbClr val="8F8E8F"/>
    <a:srgbClr val="7D373C"/>
    <a:srgbClr val="9E0116"/>
    <a:srgbClr val="D9D9D9"/>
    <a:srgbClr val="898989"/>
    <a:srgbClr val="F2F2F2"/>
    <a:srgbClr val="A3B4D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40" autoAdjust="0"/>
  </p:normalViewPr>
  <p:slideViewPr>
    <p:cSldViewPr snapToGrid="0" showGuides="1">
      <p:cViewPr varScale="1">
        <p:scale>
          <a:sx n="92" d="100"/>
          <a:sy n="92" d="100"/>
        </p:scale>
        <p:origin x="72" y="144"/>
      </p:cViewPr>
      <p:guideLst>
        <p:guide pos="393"/>
        <p:guide pos="7265"/>
        <p:guide orient="horz" pos="648"/>
        <p:guide orient="horz" pos="712"/>
        <p:guide orient="horz" pos="3929"/>
        <p:guide orient="horz" pos="3861"/>
      </p:guideLst>
    </p:cSldViewPr>
  </p:slideViewPr>
  <p:outlineViewPr>
    <p:cViewPr>
      <p:scale>
        <a:sx n="33" d="100"/>
        <a:sy n="33" d="100"/>
      </p:scale>
      <p:origin x="0" y="-468"/>
    </p:cViewPr>
  </p:outlineViewPr>
  <p:notesTextViewPr>
    <p:cViewPr>
      <p:scale>
        <a:sx n="1" d="1"/>
        <a:sy n="1" d="1"/>
      </p:scale>
      <p:origin x="0" y="0"/>
    </p:cViewPr>
  </p:notesTextViewPr>
  <p:sorterViewPr>
    <p:cViewPr varScale="1">
      <p:scale>
        <a:sx n="1" d="1"/>
        <a:sy n="1" d="1"/>
      </p:scale>
      <p:origin x="0" y="-111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582A3D24-6083-4546-8C6D-DEE86BAAAE49}" type="datetimeFigureOut">
              <a:rPr lang="zh-CN" altLang="en-US" smtClean="0"/>
              <a:t>2026/7/20</a:t>
            </a:fld>
            <a:endParaRPr lang="zh-CN" alt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A3ED8765-8EF3-408C-9341-152904E414ED}"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22864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196675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17</a:t>
            </a:fld>
            <a:endParaRPr lang="zh-CN" altLang="en-US"/>
          </a:p>
        </p:txBody>
      </p:sp>
    </p:spTree>
    <p:extLst>
      <p:ext uri="{BB962C8B-B14F-4D97-AF65-F5344CB8AC3E}">
        <p14:creationId xmlns:p14="http://schemas.microsoft.com/office/powerpoint/2010/main" val="2551865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22</a:t>
            </a:fld>
            <a:endParaRPr lang="zh-CN" altLang="en-US"/>
          </a:p>
        </p:txBody>
      </p:sp>
    </p:spTree>
    <p:extLst>
      <p:ext uri="{BB962C8B-B14F-4D97-AF65-F5344CB8AC3E}">
        <p14:creationId xmlns:p14="http://schemas.microsoft.com/office/powerpoint/2010/main" val="174451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sp>
        <p:nvSpPr>
          <p:cNvPr id="40" name="Subtitle 2"/>
          <p:cNvSpPr>
            <a:spLocks noGrp="1"/>
          </p:cNvSpPr>
          <p:nvPr>
            <p:ph type="subTitle" idx="1" hasCustomPrompt="1"/>
          </p:nvPr>
        </p:nvSpPr>
        <p:spPr>
          <a:xfrm>
            <a:off x="1010923" y="3232633"/>
            <a:ext cx="8414494" cy="451268"/>
          </a:xfrm>
        </p:spPr>
        <p:txBody>
          <a:bodyPr vert="horz" lIns="91440" tIns="72000" rIns="91440" bIns="45720" rtlCol="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2400" kern="1200" dirty="0">
                <a:solidFill>
                  <a:schemeClr val="tx1"/>
                </a:solidFill>
                <a:latin typeface="+mn-lt"/>
                <a:ea typeface="+mn-ea"/>
                <a:cs typeface="+mn-cs"/>
              </a:defRPr>
            </a:lvl1pPr>
          </a:lstStyle>
          <a:p>
            <a:pPr marL="0" indent="0">
              <a:buNone/>
            </a:pPr>
            <a:r>
              <a:rPr lang="zh-CN" altLang="en-US" sz="2400" dirty="0"/>
              <a:t>单击此处添加副标题 </a:t>
            </a:r>
            <a:r>
              <a:rPr lang="en-US" altLang="zh-CN" sz="2400" dirty="0"/>
              <a:t>-24pt</a:t>
            </a:r>
          </a:p>
        </p:txBody>
      </p:sp>
      <p:pic>
        <p:nvPicPr>
          <p:cNvPr id="63" name="图形 62"/>
          <p:cNvPicPr>
            <a:picLocks noChangeAspect="1"/>
          </p:cNvPicPr>
          <p:nvPr userDrawn="1"/>
        </p:nvPicPr>
        <p:blipFill>
          <a:blip>
            <a:alphaModFix amt="50000"/>
            <a:extLst>
              <a:ext uri="{96DAC541-7B7A-43D3-8B79-37D633B846F1}">
                <asvg:svgBlip xmlns:asvg="http://schemas.microsoft.com/office/drawing/2016/SVG/main" r:embed="rId5"/>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619" y="3965767"/>
            <a:ext cx="8964636" cy="2270897"/>
          </a:xfrm>
          <a:prstGeom prst="rect">
            <a:avLst/>
          </a:prstGeom>
        </p:spPr>
      </p:pic>
      <p:sp>
        <p:nvSpPr>
          <p:cNvPr id="65" name="矩形 64"/>
          <p:cNvSpPr/>
          <p:nvPr userDrawn="1"/>
        </p:nvSpPr>
        <p:spPr>
          <a:xfrm>
            <a:off x="835661" y="1670164"/>
            <a:ext cx="72000" cy="198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占位符 5"/>
          <p:cNvSpPr>
            <a:spLocks noGrp="1"/>
          </p:cNvSpPr>
          <p:nvPr>
            <p:ph type="body" sz="quarter" idx="19" hasCustomPrompt="1"/>
          </p:nvPr>
        </p:nvSpPr>
        <p:spPr>
          <a:xfrm>
            <a:off x="1010923" y="1668046"/>
            <a:ext cx="8414494" cy="1478799"/>
          </a:xfrm>
        </p:spPr>
        <p:txBody>
          <a:bodyPr anchor="b" anchorCtr="0">
            <a:noAutofit/>
          </a:bodyPr>
          <a:lstStyle>
            <a:lvl1pPr marL="0" indent="0" algn="l" defTabSz="914400" rtl="0" eaLnBrk="1" latinLnBrk="0" hangingPunct="1">
              <a:lnSpc>
                <a:spcPct val="100000"/>
              </a:lnSpc>
              <a:buFontTx/>
              <a:buNone/>
              <a:defRPr lang="zh-CN" altLang="en-US" sz="4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br>
              <a:rPr lang="zh-CN" altLang="en-US" dirty="0"/>
            </a:br>
            <a:r>
              <a:rPr lang="en-US" altLang="zh-CN" dirty="0"/>
              <a:t>PPT</a:t>
            </a:r>
            <a:r>
              <a:rPr lang="zh-CN" altLang="en-US" dirty="0"/>
              <a:t>应用标准模板</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黑暗中的标志&#10;&#10;描述已自动生成">
            <a:extLst>
              <a:ext uri="{FF2B5EF4-FFF2-40B4-BE49-F238E27FC236}">
                <a16:creationId xmlns:a16="http://schemas.microsoft.com/office/drawing/2014/main" id="{83B8D2D0-9CF1-9F26-67BB-7A527B75938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pic>
        <p:nvPicPr>
          <p:cNvPr id="63" name="图形 62"/>
          <p:cNvPicPr>
            <a:picLocks noChangeAspect="1"/>
          </p:cNvPicPr>
          <p:nvPr userDrawn="1"/>
        </p:nvPicPr>
        <p:blipFill>
          <a:blip>
            <a:alphaModFix amt="50000"/>
            <a:extLst>
              <a:ext uri="{96DAC541-7B7A-43D3-8B79-37D633B846F1}">
                <asvg:svgBlip xmlns:asvg="http://schemas.microsoft.com/office/drawing/2016/SVG/main" r:embed="rId5"/>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619" y="3965767"/>
            <a:ext cx="8964636" cy="2270897"/>
          </a:xfrm>
          <a:prstGeom prst="rect">
            <a:avLst/>
          </a:prstGeom>
        </p:spPr>
      </p:pic>
      <p:sp>
        <p:nvSpPr>
          <p:cNvPr id="67" name="文本占位符 5"/>
          <p:cNvSpPr>
            <a:spLocks noGrp="1"/>
          </p:cNvSpPr>
          <p:nvPr>
            <p:ph type="body" sz="quarter" idx="19" hasCustomPrompt="1"/>
          </p:nvPr>
        </p:nvSpPr>
        <p:spPr>
          <a:xfrm>
            <a:off x="660400" y="1621612"/>
            <a:ext cx="10858500" cy="1260000"/>
          </a:xfrm>
        </p:spPr>
        <p:txBody>
          <a:bodyPr anchor="ctr" anchorCtr="0">
            <a:noAutofit/>
          </a:bodyPr>
          <a:lstStyle>
            <a:lvl1pPr marL="0" indent="0" algn="l" defTabSz="914400" rtl="0" eaLnBrk="1" latinLnBrk="0" hangingPunct="1">
              <a:lnSpc>
                <a:spcPct val="100000"/>
              </a:lnSpc>
              <a:buFontTx/>
              <a:buNone/>
              <a:defRPr lang="zh-CN" altLang="en-US" sz="5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黑暗中的标志&#10;&#10;描述已自动生成">
            <a:extLst>
              <a:ext uri="{FF2B5EF4-FFF2-40B4-BE49-F238E27FC236}">
                <a16:creationId xmlns:a16="http://schemas.microsoft.com/office/drawing/2014/main" id="{83B8D2D0-9CF1-9F26-67BB-7A527B75938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0400" y="507694"/>
            <a:ext cx="1744094" cy="48409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4" name="矩形 33"/>
          <p:cNvSpPr/>
          <p:nvPr userDrawn="1"/>
        </p:nvSpPr>
        <p:spPr>
          <a:xfrm>
            <a:off x="0" y="1"/>
            <a:ext cx="5424488"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userDrawn="1"/>
        </p:nvPicPr>
        <p:blipFill rotWithShape="1">
          <a:blip r:embed="rId2"/>
          <a:srcRect b="32181"/>
          <a:stretch>
            <a:fillRect/>
          </a:stretch>
        </p:blipFill>
        <p:spPr>
          <a:xfrm>
            <a:off x="2422533" y="4278003"/>
            <a:ext cx="1103472" cy="2579997"/>
          </a:xfrm>
          <a:prstGeom prst="rect">
            <a:avLst/>
          </a:prstGeom>
        </p:spPr>
      </p:pic>
      <p:pic>
        <p:nvPicPr>
          <p:cNvPr id="91" name="图片 90"/>
          <p:cNvPicPr>
            <a:picLocks noChangeAspect="1"/>
          </p:cNvPicPr>
          <p:nvPr userDrawn="1"/>
        </p:nvPicPr>
        <p:blipFill rotWithShape="1">
          <a:blip r:embed="rId3"/>
          <a:srcRect l="388" r="31460" b="30866"/>
          <a:stretch>
            <a:fillRect/>
          </a:stretch>
        </p:blipFill>
        <p:spPr>
          <a:xfrm>
            <a:off x="0" y="4114166"/>
            <a:ext cx="2409825" cy="2743834"/>
          </a:xfrm>
          <a:custGeom>
            <a:avLst/>
            <a:gdLst>
              <a:gd name="connsiteX0" fmla="*/ 0 w 3522220"/>
              <a:gd name="connsiteY0" fmla="*/ 0 h 2743834"/>
              <a:gd name="connsiteX1" fmla="*/ 3522220 w 3522220"/>
              <a:gd name="connsiteY1" fmla="*/ 0 h 2743834"/>
              <a:gd name="connsiteX2" fmla="*/ 3522220 w 3522220"/>
              <a:gd name="connsiteY2" fmla="*/ 2743834 h 2743834"/>
              <a:gd name="connsiteX3" fmla="*/ 0 w 3522220"/>
              <a:gd name="connsiteY3" fmla="*/ 2743834 h 2743834"/>
            </a:gdLst>
            <a:ahLst/>
            <a:cxnLst>
              <a:cxn ang="0">
                <a:pos x="connsiteX0" y="connsiteY0"/>
              </a:cxn>
              <a:cxn ang="0">
                <a:pos x="connsiteX1" y="connsiteY1"/>
              </a:cxn>
              <a:cxn ang="0">
                <a:pos x="connsiteX2" y="connsiteY2"/>
              </a:cxn>
              <a:cxn ang="0">
                <a:pos x="connsiteX3" y="connsiteY3"/>
              </a:cxn>
            </a:cxnLst>
            <a:rect l="l" t="t" r="r" b="b"/>
            <a:pathLst>
              <a:path w="3522220" h="2743834">
                <a:moveTo>
                  <a:pt x="0" y="0"/>
                </a:moveTo>
                <a:lnTo>
                  <a:pt x="3522220" y="0"/>
                </a:lnTo>
                <a:lnTo>
                  <a:pt x="3522220" y="2743834"/>
                </a:lnTo>
                <a:lnTo>
                  <a:pt x="0" y="2743834"/>
                </a:lnTo>
                <a:close/>
              </a:path>
            </a:pathLst>
          </a:custGeom>
        </p:spPr>
      </p:pic>
      <p:sp>
        <p:nvSpPr>
          <p:cNvPr id="35" name="矩形 34"/>
          <p:cNvSpPr/>
          <p:nvPr userDrawn="1"/>
        </p:nvSpPr>
        <p:spPr>
          <a:xfrm>
            <a:off x="660400" y="0"/>
            <a:ext cx="72000" cy="15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Content Placeholder 2"/>
          <p:cNvSpPr>
            <a:spLocks noGrp="1"/>
          </p:cNvSpPr>
          <p:nvPr>
            <p:ph type="body" sz="quarter" idx="28" hasCustomPrompt="1"/>
          </p:nvPr>
        </p:nvSpPr>
        <p:spPr>
          <a:xfrm>
            <a:off x="5795318" y="2046858"/>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40" name="文本占位符 10"/>
          <p:cNvSpPr>
            <a:spLocks noGrp="1"/>
          </p:cNvSpPr>
          <p:nvPr>
            <p:ph type="body" sz="quarter" idx="29" hasCustomPrompt="1"/>
          </p:nvPr>
        </p:nvSpPr>
        <p:spPr>
          <a:xfrm>
            <a:off x="5148840" y="2046858"/>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01</a:t>
            </a:r>
            <a:endParaRPr lang="zh-CN" altLang="en-US" dirty="0"/>
          </a:p>
        </p:txBody>
      </p:sp>
      <p:sp>
        <p:nvSpPr>
          <p:cNvPr id="41" name="文本占位符 10"/>
          <p:cNvSpPr>
            <a:spLocks noGrp="1"/>
          </p:cNvSpPr>
          <p:nvPr>
            <p:ph type="body" sz="quarter" idx="30" hasCustomPrompt="1"/>
          </p:nvPr>
        </p:nvSpPr>
        <p:spPr>
          <a:xfrm>
            <a:off x="825232" y="1077944"/>
            <a:ext cx="1381413" cy="535531"/>
          </a:xfrm>
        </p:spPr>
        <p:txBody>
          <a:bodyPr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3200" b="1" kern="1200" dirty="0">
                <a:solidFill>
                  <a:schemeClr val="tx1"/>
                </a:solidFill>
                <a:latin typeface="+mn-lt"/>
                <a:ea typeface="+mn-ea"/>
                <a:cs typeface="+mn-cs"/>
              </a:defRPr>
            </a:lvl1pPr>
          </a:lstStyle>
          <a:p>
            <a:r>
              <a:rPr lang="zh-CN" altLang="en-US" sz="3200" b="1" dirty="0"/>
              <a:t>目 录</a:t>
            </a:r>
          </a:p>
        </p:txBody>
      </p:sp>
      <p:sp>
        <p:nvSpPr>
          <p:cNvPr id="44" name="文本占位符 4"/>
          <p:cNvSpPr>
            <a:spLocks noGrp="1"/>
          </p:cNvSpPr>
          <p:nvPr>
            <p:ph type="body" sz="quarter" idx="31" hasCustomPrompt="1"/>
          </p:nvPr>
        </p:nvSpPr>
        <p:spPr>
          <a:xfrm>
            <a:off x="1999733" y="1305698"/>
            <a:ext cx="2229367" cy="347957"/>
          </a:xfrm>
        </p:spPr>
        <p:txBody>
          <a:bodyPr vert="horz" wrap="square" lIns="91440" tIns="90000" rIns="91440" bIns="90000" rtlCol="0" anchor="ctr" anchorCtr="0">
            <a:spAutoFit/>
          </a:bodyPr>
          <a:lstStyle>
            <a:lvl1pPr marL="0" indent="0">
              <a:buNone/>
              <a:defRPr lang="en-US" altLang="zh-CN" sz="1200" spc="600" dirty="0">
                <a:solidFill>
                  <a:schemeClr val="bg1">
                    <a:lumMod val="65000"/>
                  </a:schemeClr>
                </a:solidFill>
              </a:defRPr>
            </a:lvl1p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45" name="Content Placeholder 2"/>
          <p:cNvSpPr>
            <a:spLocks noGrp="1"/>
          </p:cNvSpPr>
          <p:nvPr>
            <p:ph type="body" sz="quarter" idx="32" hasCustomPrompt="1"/>
          </p:nvPr>
        </p:nvSpPr>
        <p:spPr>
          <a:xfrm>
            <a:off x="5795318" y="2777381"/>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48" name="文本占位符 10"/>
          <p:cNvSpPr>
            <a:spLocks noGrp="1"/>
          </p:cNvSpPr>
          <p:nvPr>
            <p:ph type="body" sz="quarter" idx="33" hasCustomPrompt="1"/>
          </p:nvPr>
        </p:nvSpPr>
        <p:spPr>
          <a:xfrm>
            <a:off x="5148840" y="2777381"/>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02</a:t>
            </a:r>
            <a:endParaRPr lang="zh-CN" altLang="en-US" dirty="0"/>
          </a:p>
        </p:txBody>
      </p:sp>
      <p:sp>
        <p:nvSpPr>
          <p:cNvPr id="49" name="Content Placeholder 2"/>
          <p:cNvSpPr>
            <a:spLocks noGrp="1"/>
          </p:cNvSpPr>
          <p:nvPr>
            <p:ph type="body" sz="quarter" idx="34" hasCustomPrompt="1"/>
          </p:nvPr>
        </p:nvSpPr>
        <p:spPr>
          <a:xfrm>
            <a:off x="5795318" y="3507904"/>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1" name="文本占位符 10"/>
          <p:cNvSpPr>
            <a:spLocks noGrp="1"/>
          </p:cNvSpPr>
          <p:nvPr>
            <p:ph type="body" sz="quarter" idx="35" hasCustomPrompt="1"/>
          </p:nvPr>
        </p:nvSpPr>
        <p:spPr>
          <a:xfrm>
            <a:off x="5148840" y="3507904"/>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03</a:t>
            </a:r>
            <a:endParaRPr lang="zh-CN" altLang="en-US" dirty="0"/>
          </a:p>
        </p:txBody>
      </p:sp>
      <p:sp>
        <p:nvSpPr>
          <p:cNvPr id="52" name="Content Placeholder 2"/>
          <p:cNvSpPr>
            <a:spLocks noGrp="1"/>
          </p:cNvSpPr>
          <p:nvPr>
            <p:ph type="body" sz="quarter" idx="36" hasCustomPrompt="1"/>
          </p:nvPr>
        </p:nvSpPr>
        <p:spPr>
          <a:xfrm>
            <a:off x="5795318" y="4238427"/>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3" name="文本占位符 10"/>
          <p:cNvSpPr>
            <a:spLocks noGrp="1"/>
          </p:cNvSpPr>
          <p:nvPr>
            <p:ph type="body" sz="quarter" idx="37" hasCustomPrompt="1"/>
          </p:nvPr>
        </p:nvSpPr>
        <p:spPr>
          <a:xfrm>
            <a:off x="5148840" y="4238427"/>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04</a:t>
            </a:r>
            <a:endParaRPr lang="zh-CN" altLang="en-US" dirty="0"/>
          </a:p>
        </p:txBody>
      </p:sp>
      <p:sp>
        <p:nvSpPr>
          <p:cNvPr id="54" name="Content Placeholder 2"/>
          <p:cNvSpPr>
            <a:spLocks noGrp="1"/>
          </p:cNvSpPr>
          <p:nvPr>
            <p:ph type="body" sz="quarter" idx="38" hasCustomPrompt="1"/>
          </p:nvPr>
        </p:nvSpPr>
        <p:spPr>
          <a:xfrm>
            <a:off x="5795318" y="4968950"/>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5" name="文本占位符 10"/>
          <p:cNvSpPr>
            <a:spLocks noGrp="1"/>
          </p:cNvSpPr>
          <p:nvPr>
            <p:ph type="body" sz="quarter" idx="39" hasCustomPrompt="1"/>
          </p:nvPr>
        </p:nvSpPr>
        <p:spPr>
          <a:xfrm>
            <a:off x="5148840" y="4968950"/>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05</a:t>
            </a:r>
            <a:endParaRPr lang="zh-CN" altLang="en-US" dirty="0"/>
          </a:p>
        </p:txBody>
      </p:sp>
      <p:pic>
        <p:nvPicPr>
          <p:cNvPr id="86" name="图形 85"/>
          <p:cNvPicPr>
            <a:picLocks noChangeAspect="1"/>
          </p:cNvPicPr>
          <p:nvPr userDrawn="1"/>
        </p:nvPicPr>
        <p:blipFill rotWithShape="1">
          <a:blip>
            <a:alphaModFix amt="50000"/>
            <a:extLst>
              <a:ext uri="{96DAC541-7B7A-43D3-8B79-37D633B846F1}">
                <asvg:svgBlip xmlns:asvg="http://schemas.microsoft.com/office/drawing/2016/SVG/main" r:embed="rId4"/>
              </a:ext>
            </a:extLst>
          </a:blip>
          <a:srcRect r="841"/>
          <a:stretch>
            <a:fillRect/>
          </a:stretch>
        </p:blipFill>
        <p:spPr>
          <a:xfrm>
            <a:off x="-3660" y="4758622"/>
            <a:ext cx="2413486" cy="1464098"/>
          </a:xfrm>
          <a:prstGeom prst="rect">
            <a:avLst/>
          </a:prstGeom>
        </p:spPr>
      </p:pic>
      <p:sp>
        <p:nvSpPr>
          <p:cNvPr id="88" name="矩形 87"/>
          <p:cNvSpPr/>
          <p:nvPr userDrawn="1"/>
        </p:nvSpPr>
        <p:spPr>
          <a:xfrm>
            <a:off x="0" y="6210616"/>
            <a:ext cx="12199621" cy="647384"/>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userDrawn="1"/>
        </p:nvSpPr>
        <p:spPr>
          <a:xfrm>
            <a:off x="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26" name="图片 25"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rcRect l="80" b="67282"/>
          <a:stretch>
            <a:fillRect/>
          </a:stretch>
        </p:blipFill>
        <p:spPr>
          <a:xfrm>
            <a:off x="0" y="6139918"/>
            <a:ext cx="8650130" cy="718082"/>
          </a:xfrm>
          <a:custGeom>
            <a:avLst/>
            <a:gdLst>
              <a:gd name="connsiteX0" fmla="*/ 0 w 8650130"/>
              <a:gd name="connsiteY0" fmla="*/ 0 h 718082"/>
              <a:gd name="connsiteX1" fmla="*/ 8650130 w 8650130"/>
              <a:gd name="connsiteY1" fmla="*/ 0 h 718082"/>
              <a:gd name="connsiteX2" fmla="*/ 8650130 w 8650130"/>
              <a:gd name="connsiteY2" fmla="*/ 718082 h 718082"/>
              <a:gd name="connsiteX3" fmla="*/ 0 w 8650130"/>
              <a:gd name="connsiteY3" fmla="*/ 718082 h 718082"/>
            </a:gdLst>
            <a:ahLst/>
            <a:cxnLst>
              <a:cxn ang="0">
                <a:pos x="connsiteX0" y="connsiteY0"/>
              </a:cxn>
              <a:cxn ang="0">
                <a:pos x="connsiteX1" y="connsiteY1"/>
              </a:cxn>
              <a:cxn ang="0">
                <a:pos x="connsiteX2" y="connsiteY2"/>
              </a:cxn>
              <a:cxn ang="0">
                <a:pos x="connsiteX3" y="connsiteY3"/>
              </a:cxn>
            </a:cxnLst>
            <a:rect l="l" t="t" r="r" b="b"/>
            <a:pathLst>
              <a:path w="8650130" h="718082">
                <a:moveTo>
                  <a:pt x="0" y="0"/>
                </a:moveTo>
                <a:lnTo>
                  <a:pt x="8650130" y="0"/>
                </a:lnTo>
                <a:lnTo>
                  <a:pt x="8650130" y="718082"/>
                </a:lnTo>
                <a:lnTo>
                  <a:pt x="0" y="718082"/>
                </a:lnTo>
                <a:close/>
              </a:path>
            </a:pathLst>
          </a:custGeom>
        </p:spPr>
      </p:pic>
      <p:sp>
        <p:nvSpPr>
          <p:cNvPr id="19" name="矩形 18"/>
          <p:cNvSpPr/>
          <p:nvPr userDrawn="1"/>
        </p:nvSpPr>
        <p:spPr>
          <a:xfrm flipH="1">
            <a:off x="3028950" y="1"/>
            <a:ext cx="9170670"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形 21"/>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619" y="4043333"/>
            <a:ext cx="8658434" cy="2193331"/>
          </a:xfrm>
          <a:prstGeom prst="rect">
            <a:avLst/>
          </a:prstGeom>
        </p:spPr>
      </p:pic>
      <p:sp>
        <p:nvSpPr>
          <p:cNvPr id="23" name="矩形 22"/>
          <p:cNvSpPr/>
          <p:nvPr/>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5"/>
          <p:cNvSpPr>
            <a:spLocks noGrp="1"/>
          </p:cNvSpPr>
          <p:nvPr userDrawn="1">
            <p:ph type="body" sz="quarter" idx="18" hasCustomPrompt="1"/>
          </p:nvPr>
        </p:nvSpPr>
        <p:spPr>
          <a:xfrm>
            <a:off x="2339706" y="2264208"/>
            <a:ext cx="1217882" cy="944166"/>
          </a:xfrm>
          <a:solidFill>
            <a:schemeClr val="accent1"/>
          </a:solidFill>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3200" b="1" kern="1200" dirty="0">
                <a:solidFill>
                  <a:schemeClr val="bg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01</a:t>
            </a:r>
            <a:endParaRPr lang="zh-CN" altLang="en-US" dirty="0"/>
          </a:p>
        </p:txBody>
      </p:sp>
      <p:sp>
        <p:nvSpPr>
          <p:cNvPr id="28" name="文本占位符 6"/>
          <p:cNvSpPr>
            <a:spLocks noGrp="1"/>
          </p:cNvSpPr>
          <p:nvPr userDrawn="1">
            <p:ph type="body" sz="quarter" idx="19" hasCustomPrompt="1"/>
          </p:nvPr>
        </p:nvSpPr>
        <p:spPr>
          <a:xfrm>
            <a:off x="4639171" y="3126382"/>
            <a:ext cx="6879729" cy="1566923"/>
          </a:xfrm>
        </p:spPr>
        <p:txBody>
          <a:bodyPr vert="horz" lIns="91440" tIns="45720" rIns="91440" bIns="45720" rtlCol="0">
            <a:noAutofit/>
          </a:bodyPr>
          <a:lstStyle>
            <a:lvl1pPr marL="0" indent="0">
              <a:buFont typeface="+mj-ea"/>
              <a:buAutoNum type="circleNumDbPlain"/>
              <a:defRPr lang="en-US" altLang="zh-CN" sz="1400" dirty="0"/>
            </a:lvl1pPr>
          </a:lstStyle>
          <a:p>
            <a:pPr marL="400050" lvl="0" indent="-400050" defTabSz="914400">
              <a:lnSpc>
                <a:spcPct val="120000"/>
              </a:lnSpc>
              <a:buFont typeface="+mj-ea"/>
              <a:buAutoNum type="ea1JpnChsDbPeriod"/>
            </a:pPr>
            <a:r>
              <a:rPr lang="zh-CN" altLang="en-US" dirty="0"/>
              <a:t>单击此处添加章节内容概况</a:t>
            </a:r>
            <a:r>
              <a:rPr lang="en-US" altLang="zh-CN" dirty="0"/>
              <a:t>-14pt</a:t>
            </a:r>
            <a:endParaRPr lang="zh-CN" altLang="en-US" dirty="0"/>
          </a:p>
          <a:p>
            <a:pPr marL="400050" lvl="0" indent="-400050" defTabSz="914400">
              <a:lnSpc>
                <a:spcPct val="120000"/>
              </a:lnSpc>
              <a:buFont typeface="+mj-ea"/>
              <a:buAutoNum type="ea1JpnChsDbPeriod"/>
            </a:pPr>
            <a:r>
              <a:rPr lang="zh-CN" altLang="en-US" dirty="0"/>
              <a:t>单击此处添加章节内容概况</a:t>
            </a:r>
          </a:p>
          <a:p>
            <a:pPr marL="400050" lvl="0" indent="-400050" defTabSz="914400">
              <a:lnSpc>
                <a:spcPct val="120000"/>
              </a:lnSpc>
              <a:buFont typeface="+mj-ea"/>
              <a:buAutoNum type="ea1JpnChsDbPeriod"/>
            </a:pPr>
            <a:r>
              <a:rPr lang="en-US" altLang="zh-CN" dirty="0"/>
              <a:t>……</a:t>
            </a:r>
          </a:p>
          <a:p>
            <a:pPr marL="400050" lvl="0" indent="-400050" defTabSz="914400">
              <a:lnSpc>
                <a:spcPct val="120000"/>
              </a:lnSpc>
              <a:buFont typeface="+mj-ea"/>
              <a:buAutoNum type="ea1JpnChsDbPeriod"/>
            </a:pPr>
            <a:endParaRPr lang="en-US" altLang="zh-CN" dirty="0"/>
          </a:p>
        </p:txBody>
      </p:sp>
      <p:sp>
        <p:nvSpPr>
          <p:cNvPr id="29" name="标题 1"/>
          <p:cNvSpPr>
            <a:spLocks noGrp="1"/>
          </p:cNvSpPr>
          <p:nvPr userDrawn="1">
            <p:ph type="title" hasCustomPrompt="1"/>
          </p:nvPr>
        </p:nvSpPr>
        <p:spPr>
          <a:xfrm>
            <a:off x="4639171" y="1959878"/>
            <a:ext cx="6879729" cy="1028700"/>
          </a:xfrm>
        </p:spPr>
        <p:txBody>
          <a:bodyPr vert="horz" lIns="72000" tIns="45720" rIns="91440" bIns="45720" rtlCol="0" anchor="b">
            <a:normAutofit/>
          </a:bodyPr>
          <a:lstStyle>
            <a:lvl1pPr marL="0" indent="0">
              <a:lnSpc>
                <a:spcPct val="100000"/>
              </a:lnSpc>
              <a:defRPr lang="zh-CN" altLang="en-US" sz="2000" dirty="0"/>
            </a:lvl1pPr>
          </a:lstStyle>
          <a:p>
            <a:pPr marL="268605" lvl="0" indent="-179705"/>
            <a:r>
              <a:rPr lang="zh-CN" altLang="en-US" dirty="0"/>
              <a:t>单击此处编辑标题样式</a:t>
            </a:r>
            <a:r>
              <a:rPr lang="en-US" altLang="zh-CN" dirty="0"/>
              <a:t>-20pt</a:t>
            </a:r>
            <a:endParaRPr lang="zh-CN" altLang="en-US" dirty="0"/>
          </a:p>
        </p:txBody>
      </p:sp>
      <p:cxnSp>
        <p:nvCxnSpPr>
          <p:cNvPr id="25" name="直接连接符 24"/>
          <p:cNvCxnSpPr/>
          <p:nvPr userDrawn="1"/>
        </p:nvCxnSpPr>
        <p:spPr>
          <a:xfrm>
            <a:off x="3550920" y="2988578"/>
            <a:ext cx="798068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98" name="矩形 4597"/>
          <p:cNvSpPr/>
          <p:nvPr userDrawn="1"/>
        </p:nvSpPr>
        <p:spPr>
          <a:xfrm>
            <a:off x="5868033" y="5463873"/>
            <a:ext cx="2963917" cy="1394127"/>
          </a:xfrm>
          <a:prstGeom prst="rect">
            <a:avLst/>
          </a:prstGeom>
          <a:gradFill>
            <a:gsLst>
              <a:gs pos="57000">
                <a:schemeClr val="bg1"/>
              </a:gs>
              <a:gs pos="54000">
                <a:srgbClr val="F2F2F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矩形 23"/>
          <p:cNvSpPr/>
          <p:nvPr/>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15" name="图片 14"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9" name="矩形 8"/>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6" name="图片 5"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空白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7"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4"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重要观点1">
    <p:spTree>
      <p:nvGrpSpPr>
        <p:cNvPr id="1" name=""/>
        <p:cNvGrpSpPr/>
        <p:nvPr/>
      </p:nvGrpSpPr>
      <p:grpSpPr>
        <a:xfrm>
          <a:off x="0" y="0"/>
          <a:ext cx="0" cy="0"/>
          <a:chOff x="0" y="0"/>
          <a:chExt cx="0" cy="0"/>
        </a:xfrm>
      </p:grpSpPr>
      <p:sp>
        <p:nvSpPr>
          <p:cNvPr id="20" name="文本占位符 4"/>
          <p:cNvSpPr>
            <a:spLocks noGrp="1"/>
          </p:cNvSpPr>
          <p:nvPr>
            <p:ph type="body" sz="quarter" idx="13" hasCustomPrompt="1"/>
          </p:nvPr>
        </p:nvSpPr>
        <p:spPr>
          <a:xfrm>
            <a:off x="660400" y="1266657"/>
            <a:ext cx="10858500" cy="328551"/>
          </a:xfrm>
          <a:solidFill>
            <a:schemeClr val="bg1">
              <a:lumMod val="95000"/>
            </a:schemeClr>
          </a:solidFill>
        </p:spPr>
        <p:txBody>
          <a:bodyPr wrap="square">
            <a:spAutoFit/>
          </a:bodyPr>
          <a:lstStyle>
            <a:lvl1pPr marL="0" indent="0">
              <a:lnSpc>
                <a:spcPct val="120000"/>
              </a:lnSpc>
              <a:spcBef>
                <a:spcPts val="0"/>
              </a:spcBef>
              <a:buFontTx/>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4"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5"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重要观点2">
    <p:spTree>
      <p:nvGrpSpPr>
        <p:cNvPr id="1" name=""/>
        <p:cNvGrpSpPr/>
        <p:nvPr/>
      </p:nvGrpSpPr>
      <p:grpSpPr>
        <a:xfrm>
          <a:off x="0" y="0"/>
          <a:ext cx="0" cy="0"/>
          <a:chOff x="0" y="0"/>
          <a:chExt cx="0" cy="0"/>
        </a:xfrm>
      </p:grpSpPr>
      <p:sp>
        <p:nvSpPr>
          <p:cNvPr id="17" name="文本占位符 4"/>
          <p:cNvSpPr>
            <a:spLocks noGrp="1"/>
          </p:cNvSpPr>
          <p:nvPr>
            <p:ph type="body" sz="quarter" idx="13" hasCustomPrompt="1"/>
          </p:nvPr>
        </p:nvSpPr>
        <p:spPr>
          <a:xfrm>
            <a:off x="660400"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8" name="文本占位符 4"/>
          <p:cNvSpPr>
            <a:spLocks noGrp="1"/>
          </p:cNvSpPr>
          <p:nvPr>
            <p:ph type="body" sz="quarter" idx="14" hasCustomPrompt="1"/>
          </p:nvPr>
        </p:nvSpPr>
        <p:spPr>
          <a:xfrm>
            <a:off x="6177701"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9"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6"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封底1">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5"/>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p>
          </p:txBody>
        </p:sp>
        <p:sp>
          <p:nvSpPr>
            <p:cNvPr id="58" name="文本框 57"/>
            <p:cNvSpPr txBox="1"/>
            <p:nvPr userDrawn="1"/>
          </p:nvSpPr>
          <p:spPr>
            <a:xfrm>
              <a:off x="835661" y="4502141"/>
              <a:ext cx="697628" cy="246221"/>
            </a:xfrm>
            <a:prstGeom prst="rect">
              <a:avLst/>
            </a:prstGeom>
            <a:noFill/>
          </p:spPr>
          <p:txBody>
            <a:bodyPr wrap="none" rtlCol="0">
              <a:spAutoFit/>
            </a:bodyPr>
            <a:lstStyle/>
            <a:p>
              <a:pPr algn="ctr"/>
              <a:r>
                <a:rPr lang="zh-CN" altLang="en-US" sz="1000" dirty="0"/>
                <a:t>乌鲁木齐</a:t>
              </a:r>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p>
          </p:txBody>
        </p:sp>
      </p:grpSp>
      <p:sp>
        <p:nvSpPr>
          <p:cNvPr id="28" name="矩形 27"/>
          <p:cNvSpPr/>
          <p:nvPr userDrawn="1"/>
        </p:nvSpPr>
        <p:spPr>
          <a:xfrm>
            <a:off x="835661" y="1824067"/>
            <a:ext cx="72000" cy="13825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descr="黑暗中的标志&#10;&#10;描述已自动生成">
            <a:extLst>
              <a:ext uri="{FF2B5EF4-FFF2-40B4-BE49-F238E27FC236}">
                <a16:creationId xmlns:a16="http://schemas.microsoft.com/office/drawing/2014/main" id="{9E948157-B906-0CB2-67E5-B29D2C2277F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封底2">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5"/>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连接符 10"/>
          <p:cNvCxnSpPr/>
          <p:nvPr userDrawn="1"/>
        </p:nvCxnSpPr>
        <p:spPr>
          <a:xfrm>
            <a:off x="2939981" y="2387904"/>
            <a:ext cx="0" cy="2019847"/>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916725" y="1327297"/>
            <a:ext cx="3155121" cy="3240000"/>
            <a:chOff x="660399" y="1327297"/>
            <a:chExt cx="3155121" cy="3240000"/>
          </a:xfrm>
        </p:grpSpPr>
        <p:cxnSp>
          <p:nvCxnSpPr>
            <p:cNvPr id="19" name="直接连接符 18"/>
            <p:cNvCxnSpPr/>
            <p:nvPr/>
          </p:nvCxnSpPr>
          <p:spPr>
            <a:xfrm>
              <a:off x="660399" y="1327297"/>
              <a:ext cx="0" cy="3240000"/>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60400" y="1632739"/>
              <a:ext cx="3155120" cy="877163"/>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上海市虹口区公平路</a:t>
              </a:r>
              <a:r>
                <a:rPr lang="en-US" altLang="zh-CN" sz="900" dirty="0">
                  <a:latin typeface="微软雅黑" panose="020B0503020204020204" pitchFamily="34" charset="-122"/>
                  <a:ea typeface="微软雅黑" panose="020B0503020204020204" pitchFamily="34" charset="-122"/>
                </a:rPr>
                <a:t>18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号楼嘉昱大厦</a:t>
              </a:r>
              <a:r>
                <a:rPr lang="en-US" altLang="zh-CN" sz="900">
                  <a:latin typeface="微软雅黑" panose="020B0503020204020204" pitchFamily="34" charset="-122"/>
                  <a:ea typeface="微软雅黑" panose="020B0503020204020204" pitchFamily="34" charset="-122"/>
                </a:rPr>
                <a:t>15-20</a:t>
              </a:r>
              <a:r>
                <a:rPr lang="zh-CN" altLang="en-US" sz="900">
                  <a:latin typeface="微软雅黑" panose="020B0503020204020204" pitchFamily="34" charset="-122"/>
                  <a:ea typeface="微软雅黑" panose="020B0503020204020204" pitchFamily="34" charset="-122"/>
                </a:rPr>
                <a:t>层</a:t>
              </a:r>
              <a:endParaRPr lang="zh-CN" altLang="en-US"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021-31081600</a:t>
              </a: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021-31081800</a:t>
              </a:r>
            </a:p>
            <a:p>
              <a:pPr>
                <a:spcAft>
                  <a:spcPts val="600"/>
                </a:spcAft>
              </a:pPr>
              <a:r>
                <a:rPr lang="zh-CN" altLang="en-US" sz="900" b="1" dirty="0">
                  <a:latin typeface="微软雅黑" panose="020B0503020204020204" pitchFamily="34" charset="-122"/>
                  <a:ea typeface="微软雅黑" panose="020B0503020204020204" pitchFamily="34" charset="-122"/>
                </a:rPr>
                <a:t>邮编：</a:t>
              </a:r>
              <a:r>
                <a:rPr lang="en-US" altLang="zh-CN" sz="900" dirty="0">
                  <a:latin typeface="微软雅黑" panose="020B0503020204020204" pitchFamily="34" charset="-122"/>
                  <a:ea typeface="微软雅黑" panose="020B0503020204020204" pitchFamily="34" charset="-122"/>
                </a:rPr>
                <a:t>200082</a:t>
              </a:r>
            </a:p>
          </p:txBody>
        </p:sp>
        <p:sp>
          <p:nvSpPr>
            <p:cNvPr id="21" name="文本框 20"/>
            <p:cNvSpPr txBox="1"/>
            <p:nvPr/>
          </p:nvSpPr>
          <p:spPr>
            <a:xfrm>
              <a:off x="660400" y="1357213"/>
              <a:ext cx="2804808"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国泰基金管理有限公司（上海总部）</a:t>
              </a:r>
            </a:p>
          </p:txBody>
        </p:sp>
      </p:grpSp>
      <p:cxnSp>
        <p:nvCxnSpPr>
          <p:cNvPr id="25" name="直接连接符 24"/>
          <p:cNvCxnSpPr/>
          <p:nvPr userDrawn="1"/>
        </p:nvCxnSpPr>
        <p:spPr>
          <a:xfrm>
            <a:off x="5539921" y="2448651"/>
            <a:ext cx="0" cy="1077348"/>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26" name="组合 25"/>
          <p:cNvGrpSpPr/>
          <p:nvPr userDrawn="1"/>
        </p:nvGrpSpPr>
        <p:grpSpPr>
          <a:xfrm>
            <a:off x="2958452" y="2509466"/>
            <a:ext cx="3223049" cy="937246"/>
            <a:chOff x="799449" y="1720675"/>
            <a:chExt cx="3223049" cy="937246"/>
          </a:xfrm>
        </p:grpSpPr>
        <p:sp>
          <p:nvSpPr>
            <p:cNvPr id="27" name="文本框 26"/>
            <p:cNvSpPr txBox="1"/>
            <p:nvPr/>
          </p:nvSpPr>
          <p:spPr>
            <a:xfrm>
              <a:off x="799449" y="1996201"/>
              <a:ext cx="3223049" cy="661720"/>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香港金钟轩尼诗道</a:t>
              </a:r>
              <a:r>
                <a:rPr lang="en-US" altLang="zh-CN" sz="900" dirty="0">
                  <a:latin typeface="微软雅黑" panose="020B0503020204020204" pitchFamily="34" charset="-122"/>
                  <a:ea typeface="微软雅黑" panose="020B0503020204020204" pitchFamily="34" charset="-122"/>
                </a:rPr>
                <a:t>28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楼</a:t>
              </a: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(852)39559665</a:t>
              </a: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(852)39563611</a:t>
              </a:r>
            </a:p>
          </p:txBody>
        </p:sp>
        <p:sp>
          <p:nvSpPr>
            <p:cNvPr id="28" name="文本框 27"/>
            <p:cNvSpPr txBox="1"/>
            <p:nvPr/>
          </p:nvSpPr>
          <p:spPr>
            <a:xfrm>
              <a:off x="799450" y="1720675"/>
              <a:ext cx="3223044"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国泰全球投资管理有限公司</a:t>
              </a:r>
            </a:p>
          </p:txBody>
        </p:sp>
      </p:grpSp>
      <p:grpSp>
        <p:nvGrpSpPr>
          <p:cNvPr id="29" name="组合 28"/>
          <p:cNvGrpSpPr/>
          <p:nvPr userDrawn="1"/>
        </p:nvGrpSpPr>
        <p:grpSpPr>
          <a:xfrm>
            <a:off x="9284606" y="2387904"/>
            <a:ext cx="2191618" cy="1415094"/>
            <a:chOff x="8391616" y="2734213"/>
            <a:chExt cx="2191618" cy="1415094"/>
          </a:xfrm>
        </p:grpSpPr>
        <p:grpSp>
          <p:nvGrpSpPr>
            <p:cNvPr id="30" name="组合 29"/>
            <p:cNvGrpSpPr/>
            <p:nvPr/>
          </p:nvGrpSpPr>
          <p:grpSpPr>
            <a:xfrm>
              <a:off x="8550964" y="3872308"/>
              <a:ext cx="2032270" cy="276999"/>
              <a:chOff x="2161998" y="6328198"/>
              <a:chExt cx="2032270" cy="276999"/>
            </a:xfrm>
          </p:grpSpPr>
          <p:pic>
            <p:nvPicPr>
              <p:cNvPr id="35" name="图片 34" descr="7"/>
              <p:cNvPicPr>
                <a:picLocks noChangeAspect="1"/>
              </p:cNvPicPr>
              <p:nvPr/>
            </p:nvPicPr>
            <p:blipFill>
              <a:blip r:embed="rId6" cstate="print">
                <a:duotone>
                  <a:schemeClr val="accent1">
                    <a:shade val="45000"/>
                    <a:satMod val="135000"/>
                  </a:schemeClr>
                  <a:prstClr val="white"/>
                </a:duotone>
              </a:blip>
              <a:stretch>
                <a:fillRect/>
              </a:stretch>
            </p:blipFill>
            <p:spPr>
              <a:xfrm>
                <a:off x="2161998" y="6408587"/>
                <a:ext cx="92892" cy="136385"/>
              </a:xfrm>
              <a:prstGeom prst="rect">
                <a:avLst/>
              </a:prstGeom>
            </p:spPr>
          </p:pic>
          <p:sp>
            <p:nvSpPr>
              <p:cNvPr id="36" name="文本框 35"/>
              <p:cNvSpPr txBox="1"/>
              <p:nvPr/>
            </p:nvSpPr>
            <p:spPr>
              <a:xfrm>
                <a:off x="2223857" y="6328198"/>
                <a:ext cx="1970411" cy="276999"/>
              </a:xfrm>
              <a:prstGeom prst="rect">
                <a:avLst/>
              </a:prstGeom>
              <a:noFill/>
            </p:spPr>
            <p:txBody>
              <a:bodyPr wrap="none" rtlCol="0">
                <a:spAutoFit/>
              </a:bodyPr>
              <a:lstStyle/>
              <a:p>
                <a:r>
                  <a:rPr lang="zh-CN" altLang="en-US" sz="1100" b="1" strike="noStrike" spc="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客户服务：</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400</a:t>
                </a:r>
                <a:r>
                  <a:rPr lang="en-US" altLang="zh-CN"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888-8688</a:t>
                </a:r>
                <a:endParaRPr lang="zh-CN" altLang="en-US" sz="11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31" name="图片 30" descr="9"/>
            <p:cNvPicPr>
              <a:picLocks noChangeAspect="1"/>
            </p:cNvPicPr>
            <p:nvPr/>
          </p:nvPicPr>
          <p:blipFill>
            <a:blip r:embed="rId7" cstate="screen"/>
            <a:stretch>
              <a:fillRect/>
            </a:stretch>
          </p:blipFill>
          <p:spPr>
            <a:xfrm>
              <a:off x="9634461" y="2734213"/>
              <a:ext cx="802976" cy="802976"/>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2" name="文本框 31"/>
            <p:cNvSpPr txBox="1"/>
            <p:nvPr/>
          </p:nvSpPr>
          <p:spPr>
            <a:xfrm>
              <a:off x="8391616"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“国泰基金服务号</a:t>
              </a:r>
              <a:r>
                <a:rPr lang="zh-CN" altLang="en-US" sz="800" b="1" spc="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p>
          </p:txBody>
        </p:sp>
        <p:sp>
          <p:nvSpPr>
            <p:cNvPr id="33" name="文本框 32"/>
            <p:cNvSpPr txBox="1"/>
            <p:nvPr/>
          </p:nvSpPr>
          <p:spPr>
            <a:xfrm>
              <a:off x="9474608"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“国泰基金微幸福”</a:t>
              </a:r>
            </a:p>
          </p:txBody>
        </p:sp>
        <p:pic>
          <p:nvPicPr>
            <p:cNvPr id="34" name="图片 3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1970" y="2741049"/>
              <a:ext cx="789305" cy="789305"/>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p>
          </p:txBody>
        </p:sp>
        <p:sp>
          <p:nvSpPr>
            <p:cNvPr id="58" name="文本框 57"/>
            <p:cNvSpPr txBox="1"/>
            <p:nvPr userDrawn="1"/>
          </p:nvSpPr>
          <p:spPr>
            <a:xfrm>
              <a:off x="835661" y="4067975"/>
              <a:ext cx="697628" cy="246221"/>
            </a:xfrm>
            <a:prstGeom prst="rect">
              <a:avLst/>
            </a:prstGeom>
            <a:noFill/>
          </p:spPr>
          <p:txBody>
            <a:bodyPr wrap="none" rtlCol="0">
              <a:spAutoFit/>
            </a:bodyPr>
            <a:lstStyle/>
            <a:p>
              <a:pPr algn="ctr"/>
              <a:r>
                <a:rPr lang="zh-CN" altLang="en-US" sz="1000" dirty="0"/>
                <a:t>乌鲁木齐</a:t>
              </a:r>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p>
          </p:txBody>
        </p:sp>
      </p:grpSp>
      <p:pic>
        <p:nvPicPr>
          <p:cNvPr id="41" name="图片 40" descr="黑暗中的标志&#10;&#10;描述已自动生成">
            <a:extLst>
              <a:ext uri="{FF2B5EF4-FFF2-40B4-BE49-F238E27FC236}">
                <a16:creationId xmlns:a16="http://schemas.microsoft.com/office/drawing/2014/main" id="{0E340B55-ADBA-1780-F55E-3D1CBB31540B}"/>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2" y="0"/>
            <a:ext cx="10858498"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660402"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cxnSp>
        <p:nvCxnSpPr>
          <p:cNvPr id="7" name="直接连接符 6"/>
          <p:cNvCxnSpPr/>
          <p:nvPr userDrawn="1"/>
        </p:nvCxnSpPr>
        <p:spPr>
          <a:xfrm>
            <a:off x="0" y="1026000"/>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660392" y="1026000"/>
            <a:ext cx="378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页脚占位符 8"/>
          <p:cNvSpPr>
            <a:spLocks noGrp="1"/>
          </p:cNvSpPr>
          <p:nvPr>
            <p:ph type="ftr" sz="quarter" idx="3"/>
          </p:nvPr>
        </p:nvSpPr>
        <p:spPr>
          <a:xfrm>
            <a:off x="4019549" y="6513993"/>
            <a:ext cx="4140201" cy="206381"/>
          </a:xfrm>
          <a:prstGeom prst="rect">
            <a:avLst/>
          </a:prstGeom>
        </p:spPr>
        <p:txBody>
          <a:bodyPr vert="horz" lIns="91440" tIns="45720" rIns="91440" bIns="45720" rtlCol="0" anchor="ctr"/>
          <a:lstStyle>
            <a:lvl1pPr algn="ctr">
              <a:defRPr sz="900">
                <a:solidFill>
                  <a:schemeClr val="accent3"/>
                </a:solidFill>
              </a:defRPr>
            </a:lvl1pPr>
          </a:lstStyle>
          <a:p>
            <a:endParaRPr lang="zh-CN" altLang="en-US" dirty="0"/>
          </a:p>
        </p:txBody>
      </p:sp>
      <p:cxnSp>
        <p:nvCxnSpPr>
          <p:cNvPr id="15" name="直接连接符 14"/>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11" name="图片 10" descr="黑暗中的标志&#10;&#10;描述已自动生成">
            <a:extLst>
              <a:ext uri="{FF2B5EF4-FFF2-40B4-BE49-F238E27FC236}">
                <a16:creationId xmlns:a16="http://schemas.microsoft.com/office/drawing/2014/main" id="{45BC3F1B-F0DF-402D-586D-7E344743F5E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46525" y="6478736"/>
            <a:ext cx="952507" cy="2643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5.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8.xml"/><Relationship Id="rId1" Type="http://schemas.openxmlformats.org/officeDocument/2006/relationships/tags" Target="../tags/tag6.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8.xml"/><Relationship Id="rId1" Type="http://schemas.openxmlformats.org/officeDocument/2006/relationships/tags" Target="../tags/tag7.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8.xml"/><Relationship Id="rId1" Type="http://schemas.openxmlformats.org/officeDocument/2006/relationships/tags" Target="../tags/tag13.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8.xml"/><Relationship Id="rId1" Type="http://schemas.openxmlformats.org/officeDocument/2006/relationships/tags" Target="../tags/tag15.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8.xml"/><Relationship Id="rId1" Type="http://schemas.openxmlformats.org/officeDocument/2006/relationships/tags" Target="../tags/tag16.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8.xml"/><Relationship Id="rId1" Type="http://schemas.openxmlformats.org/officeDocument/2006/relationships/tags" Target="../tags/tag17.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8.xml"/><Relationship Id="rId1" Type="http://schemas.openxmlformats.org/officeDocument/2006/relationships/tags" Target="../tags/tag19.xml"/><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8.xml"/><Relationship Id="rId1" Type="http://schemas.openxmlformats.org/officeDocument/2006/relationships/tags" Target="../tags/tag20.xml"/><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8.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8.xml"/><Relationship Id="rId1" Type="http://schemas.openxmlformats.org/officeDocument/2006/relationships/tags" Target="../tags/tag27.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5"/>
          <p:cNvSpPr>
            <a:spLocks noGrp="1"/>
          </p:cNvSpPr>
          <p:nvPr>
            <p:ph type="subTitle" idx="1"/>
          </p:nvPr>
        </p:nvSpPr>
        <p:spPr/>
        <p:txBody>
          <a:bodyPr/>
          <a:lstStyle/>
          <a:p>
            <a:r>
              <a:rPr lang="en-US" altLang="zh-CN" dirty="0"/>
              <a:t>2026</a:t>
            </a:r>
            <a:r>
              <a:rPr lang="zh-CN" altLang="en-US" dirty="0"/>
              <a:t>年</a:t>
            </a:r>
            <a:r>
              <a:rPr lang="en-US" altLang="zh-CN"/>
              <a:t>3</a:t>
            </a:r>
            <a:r>
              <a:rPr lang="zh-CN" altLang="en-US"/>
              <a:t>月</a:t>
            </a:r>
            <a:endParaRPr lang="en-US" altLang="zh-CN" dirty="0"/>
          </a:p>
        </p:txBody>
      </p:sp>
      <p:sp>
        <p:nvSpPr>
          <p:cNvPr id="8" name="文本占位符 7"/>
          <p:cNvSpPr>
            <a:spLocks noGrp="1"/>
          </p:cNvSpPr>
          <p:nvPr>
            <p:ph type="body" sz="quarter" idx="19"/>
          </p:nvPr>
        </p:nvSpPr>
        <p:spPr>
          <a:xfrm>
            <a:off x="1010923" y="1668046"/>
            <a:ext cx="8414494" cy="748583"/>
          </a:xfrm>
        </p:spPr>
        <p:txBody>
          <a:bodyPr>
            <a:normAutofit fontScale="85000" lnSpcReduction="10000"/>
          </a:bodyPr>
          <a:lstStyle/>
          <a:p>
            <a:r>
              <a:rPr lang="zh-CN" altLang="en-US"/>
              <a:t>中国银行股份有限公司企业年金计划</a:t>
            </a:r>
            <a:endParaRPr lang="en-US" altLang="zh-CN" dirty="0"/>
          </a:p>
        </p:txBody>
      </p:sp>
      <p:sp>
        <p:nvSpPr>
          <p:cNvPr id="4" name="文本占位符 7"/>
          <p:cNvSpPr txBox="1">
            <a:spLocks/>
          </p:cNvSpPr>
          <p:nvPr/>
        </p:nvSpPr>
        <p:spPr>
          <a:xfrm>
            <a:off x="1010923" y="2516707"/>
            <a:ext cx="8414494" cy="705040"/>
          </a:xfrm>
          <a:prstGeom prst="rect">
            <a:avLst/>
          </a:prstGeom>
        </p:spPr>
        <p:txBody>
          <a:bodyPr vert="horz" lIns="91440" tIns="45720" rIns="91440" bIns="45720" rtlCol="0" anchor="b" anchorCtr="0">
            <a:normAutofit lnSpcReduction="10000"/>
          </a:bodyPr>
          <a:lstStyle>
            <a:lvl1pPr marL="0" indent="0" algn="l" defTabSz="914400" rtl="0" eaLnBrk="1" latinLnBrk="0" hangingPunct="1">
              <a:lnSpc>
                <a:spcPct val="100000"/>
              </a:lnSpc>
              <a:spcBef>
                <a:spcPts val="1000"/>
              </a:spcBef>
              <a:buFontTx/>
              <a:buNone/>
              <a:defRPr lang="zh-CN" altLang="en-US" sz="4400" b="1" kern="1200" dirty="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国泰基金组合投资汇报</a:t>
            </a:r>
            <a:endParaRPr lang="zh-CN" altLang="en-US" dirty="0"/>
          </a:p>
        </p:txBody>
      </p:sp>
    </p:spTree>
    <p:custDataLst>
      <p:tags r:id="rId1"/>
    </p:custDataLst>
    <p:extLst>
      <p:ext uri="{BB962C8B-B14F-4D97-AF65-F5344CB8AC3E}">
        <p14:creationId xmlns:p14="http://schemas.microsoft.com/office/powerpoint/2010/main" val="2408346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52"/>
          <p:cNvSpPr>
            <a:spLocks noGrp="1"/>
          </p:cNvSpPr>
          <p:nvPr>
            <p:ph type="body" sz="quarter" idx="28"/>
          </p:nvPr>
        </p:nvSpPr>
        <p:spPr>
          <a:xfrm>
            <a:off x="5795318" y="2047330"/>
            <a:ext cx="4320000" cy="431057"/>
          </a:xfrm>
        </p:spPr>
        <p:txBody>
          <a:bodyPr/>
          <a:lstStyle/>
          <a:p>
            <a:pPr>
              <a:spcBef>
                <a:spcPct val="0"/>
              </a:spcBef>
            </a:pPr>
            <a:r>
              <a:rPr lang="zh-CN" altLang="en-US" b="1"/>
              <a:t>组合业绩分析</a:t>
            </a:r>
            <a:endParaRPr lang="en-US" altLang="zh-CN" b="1" dirty="0"/>
          </a:p>
        </p:txBody>
      </p:sp>
      <p:sp>
        <p:nvSpPr>
          <p:cNvPr id="54" name="文本占位符 53"/>
          <p:cNvSpPr>
            <a:spLocks noGrp="1"/>
          </p:cNvSpPr>
          <p:nvPr>
            <p:ph type="body" sz="quarter" idx="29"/>
          </p:nvPr>
        </p:nvSpPr>
        <p:spPr/>
        <p:txBody>
          <a:bodyPr/>
          <a:lstStyle/>
          <a:p>
            <a:r>
              <a:rPr lang="en-US" altLang="zh-CN"/>
              <a:t>01</a:t>
            </a:r>
            <a:endParaRPr lang="zh-CN" altLang="en-US" dirty="0"/>
          </a:p>
        </p:txBody>
      </p:sp>
      <p:sp>
        <p:nvSpPr>
          <p:cNvPr id="55" name="文本占位符 54"/>
          <p:cNvSpPr>
            <a:spLocks noGrp="1"/>
          </p:cNvSpPr>
          <p:nvPr>
            <p:ph type="body" sz="quarter" idx="30"/>
          </p:nvPr>
        </p:nvSpPr>
        <p:spPr/>
        <p:txBody>
          <a:bodyPr/>
          <a:lstStyle/>
          <a:p>
            <a:r>
              <a:rPr lang="zh-CN" altLang="en-US" sz="3200" b="1" dirty="0"/>
              <a:t>目录</a:t>
            </a:r>
          </a:p>
        </p:txBody>
      </p:sp>
      <p:sp>
        <p:nvSpPr>
          <p:cNvPr id="56" name="文本占位符 55"/>
          <p:cNvSpPr>
            <a:spLocks noGrp="1"/>
          </p:cNvSpPr>
          <p:nvPr>
            <p:ph type="body" sz="quarter" idx="31"/>
          </p:nvPr>
        </p:nvSpPr>
        <p:spPr/>
        <p:txBody>
          <a:body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57" name="文本占位符 56"/>
          <p:cNvSpPr>
            <a:spLocks noGrp="1"/>
          </p:cNvSpPr>
          <p:nvPr>
            <p:ph type="body" sz="quarter" idx="32"/>
          </p:nvPr>
        </p:nvSpPr>
        <p:spPr>
          <a:xfrm>
            <a:off x="5795318" y="2777853"/>
            <a:ext cx="4320000" cy="431057"/>
          </a:xfrm>
        </p:spPr>
        <p:txBody>
          <a:bodyPr/>
          <a:lstStyle/>
          <a:p>
            <a:pPr>
              <a:spcBef>
                <a:spcPct val="0"/>
              </a:spcBef>
            </a:pPr>
            <a:r>
              <a:rPr lang="zh-CN" altLang="en-US" b="1"/>
              <a:t>投资操作回顾</a:t>
            </a:r>
            <a:endParaRPr lang="en-US" altLang="zh-CN" b="1" dirty="0"/>
          </a:p>
        </p:txBody>
      </p:sp>
      <p:sp>
        <p:nvSpPr>
          <p:cNvPr id="58" name="文本占位符 57"/>
          <p:cNvSpPr>
            <a:spLocks noGrp="1"/>
          </p:cNvSpPr>
          <p:nvPr>
            <p:ph type="body" sz="quarter" idx="33"/>
          </p:nvPr>
        </p:nvSpPr>
        <p:spPr/>
        <p:txBody>
          <a:bodyPr/>
          <a:lstStyle/>
          <a:p>
            <a:r>
              <a:rPr lang="en-US" altLang="zh-CN"/>
              <a:t>02</a:t>
            </a:r>
            <a:endParaRPr lang="zh-CN" altLang="en-US" dirty="0"/>
          </a:p>
        </p:txBody>
      </p:sp>
      <p:sp>
        <p:nvSpPr>
          <p:cNvPr id="59" name="文本占位符 58"/>
          <p:cNvSpPr>
            <a:spLocks noGrp="1"/>
          </p:cNvSpPr>
          <p:nvPr>
            <p:ph type="body" sz="quarter" idx="34"/>
          </p:nvPr>
        </p:nvSpPr>
        <p:spPr>
          <a:xfrm>
            <a:off x="5795318" y="3508376"/>
            <a:ext cx="4320000" cy="431057"/>
          </a:xfrm>
        </p:spPr>
        <p:txBody>
          <a:bodyPr/>
          <a:lstStyle/>
          <a:p>
            <a:pPr>
              <a:spcBef>
                <a:spcPct val="0"/>
              </a:spcBef>
            </a:pPr>
            <a:r>
              <a:rPr lang="zh-CN" altLang="en-US" b="1"/>
              <a:t>下阶段市场研判及组合操作策略</a:t>
            </a:r>
            <a:endParaRPr lang="zh-CN" altLang="en-US" b="1" dirty="0"/>
          </a:p>
        </p:txBody>
      </p:sp>
      <p:sp>
        <p:nvSpPr>
          <p:cNvPr id="60" name="文本占位符 59"/>
          <p:cNvSpPr>
            <a:spLocks noGrp="1"/>
          </p:cNvSpPr>
          <p:nvPr>
            <p:ph type="body" sz="quarter" idx="35"/>
          </p:nvPr>
        </p:nvSpPr>
        <p:spPr/>
        <p:txBody>
          <a:bodyPr/>
          <a:lstStyle/>
          <a:p>
            <a:r>
              <a:rPr lang="en-US" altLang="zh-CN"/>
              <a:t>03</a:t>
            </a:r>
            <a:endParaRPr lang="zh-CN" altLang="en-US" dirty="0"/>
          </a:p>
        </p:txBody>
      </p:sp>
      <p:sp>
        <p:nvSpPr>
          <p:cNvPr id="3" name="灯片编号占位符 2"/>
          <p:cNvSpPr>
            <a:spLocks noGrp="1"/>
          </p:cNvSpPr>
          <p:nvPr>
            <p:ph type="sldNum" sz="quarter" idx="4"/>
          </p:nvPr>
        </p:nvSpPr>
        <p:spPr/>
        <p:txBody>
          <a:bodyPr/>
          <a:lstStyle/>
          <a:p>
            <a:fld id="{7F65B630-C7FF-41C0-9923-C5E5E29EED81}" type="slidenum">
              <a:rPr lang="de-DE" smtClean="0"/>
              <a:t>2</a:t>
            </a:fld>
            <a:endParaRPr lang="de-DE" dirty="0"/>
          </a:p>
        </p:txBody>
      </p:sp>
    </p:spTree>
    <p:custDataLst>
      <p:tags r:id="rId1"/>
    </p:custDataLst>
    <p:extLst>
      <p:ext uri="{BB962C8B-B14F-4D97-AF65-F5344CB8AC3E}">
        <p14:creationId xmlns:p14="http://schemas.microsoft.com/office/powerpoint/2010/main" val="159039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01</a:t>
            </a:r>
            <a:endParaRPr lang="zh-CN" altLang="en-US" dirty="0"/>
          </a:p>
        </p:txBody>
      </p:sp>
      <p:sp>
        <p:nvSpPr>
          <p:cNvPr id="11" name="标题 10"/>
          <p:cNvSpPr>
            <a:spLocks noGrp="1"/>
          </p:cNvSpPr>
          <p:nvPr>
            <p:ph type="title"/>
          </p:nvPr>
        </p:nvSpPr>
        <p:spPr/>
        <p:txBody>
          <a:bodyPr>
            <a:normAutofit/>
          </a:bodyPr>
          <a:lstStyle/>
          <a:p>
            <a:r>
              <a:rPr lang="zh-CN" altLang="en-US" sz="2400"/>
              <a:t>组合业绩分析</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t>3</a:t>
            </a:fld>
            <a:endParaRPr lang="de-DE" dirty="0"/>
          </a:p>
        </p:txBody>
      </p:sp>
    </p:spTree>
    <p:custDataLst>
      <p:tags r:id="rId1"/>
    </p:custDataLst>
    <p:extLst>
      <p:ext uri="{BB962C8B-B14F-4D97-AF65-F5344CB8AC3E}">
        <p14:creationId xmlns:p14="http://schemas.microsoft.com/office/powerpoint/2010/main" val="860388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组合业绩情况</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4</a:t>
            </a:fld>
            <a:endParaRPr lang="zh-CN" altLang="en-US" dirty="0"/>
          </a:p>
        </p:txBody>
      </p:sp>
      <p:sp>
        <p:nvSpPr>
          <p:cNvPr id="5" name="文本占位符 4">
            <a:extLst>
              <a:ext uri="{FF2B5EF4-FFF2-40B4-BE49-F238E27FC236}">
                <a16:creationId xmlns:a16="http://schemas.microsoft.com/office/drawing/2014/main" id="{AEA28CD0-E0C3-1FF7-134F-D1BC826F0013}"/>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4FE29954-4AE7-C7BC-93BB-CC1AF0670EAA}"/>
              </a:ext>
            </a:extLst>
          </p:cNvPr>
          <p:cNvSpPr/>
          <p:nvPr/>
        </p:nvSpPr>
        <p:spPr>
          <a:xfrm>
            <a:off x="571500" y="1162050"/>
            <a:ext cx="6429375" cy="2238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1C39424-CB3E-84B2-4B24-576A757CFB13}"/>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F1B547E8-198E-084B-C781-66DCF16BEABF}"/>
              </a:ext>
            </a:extLst>
          </p:cNvPr>
          <p:cNvSpPr txBox="1"/>
          <p:nvPr/>
        </p:nvSpPr>
        <p:spPr>
          <a:xfrm>
            <a:off x="971550" y="127635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组合成立于</a:t>
            </a:r>
            <a:r>
              <a:rPr lang="en-US" altLang="zh-CN" sz="1100">
                <a:solidFill>
                  <a:srgbClr val="111111"/>
                </a:solidFill>
                <a:latin typeface="Microsoft YaHei" panose="020B0503020204020204" pitchFamily="34" charset="-122"/>
                <a:ea typeface="Microsoft YaHei" panose="020B0503020204020204" pitchFamily="34" charset="-122"/>
              </a:rPr>
              <a:t>2008</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12</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26</a:t>
            </a:r>
            <a:r>
              <a:rPr lang="zh-CN" altLang="en-US" sz="1100">
                <a:solidFill>
                  <a:srgbClr val="111111"/>
                </a:solidFill>
                <a:latin typeface="Microsoft YaHei" panose="020B0503020204020204" pitchFamily="34" charset="-122"/>
                <a:ea typeface="Microsoft YaHei" panose="020B0503020204020204" pitchFamily="34" charset="-122"/>
              </a:rPr>
              <a:t>日，截至</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日，组合资产净值达到</a:t>
            </a:r>
            <a:r>
              <a:rPr lang="en-US" altLang="zh-CN" sz="1100">
                <a:solidFill>
                  <a:srgbClr val="111111"/>
                </a:solidFill>
                <a:latin typeface="Microsoft YaHei" panose="020B0503020204020204" pitchFamily="34" charset="-122"/>
                <a:ea typeface="Microsoft YaHei" panose="020B0503020204020204" pitchFamily="34" charset="-122"/>
              </a:rPr>
              <a:t>61.3</a:t>
            </a:r>
            <a:r>
              <a:rPr lang="zh-CN" altLang="en-US" sz="1100">
                <a:solidFill>
                  <a:srgbClr val="111111"/>
                </a:solidFill>
                <a:latin typeface="Microsoft YaHei" panose="020B0503020204020204" pitchFamily="34" charset="-122"/>
                <a:ea typeface="Microsoft YaHei" panose="020B0503020204020204" pitchFamily="34" charset="-122"/>
              </a:rPr>
              <a:t>亿元，自运作以来累计实现</a:t>
            </a:r>
            <a:r>
              <a:rPr lang="en-US" altLang="zh-CN" sz="1100">
                <a:solidFill>
                  <a:srgbClr val="111111"/>
                </a:solidFill>
                <a:latin typeface="Microsoft YaHei" panose="020B0503020204020204" pitchFamily="34" charset="-122"/>
                <a:ea typeface="Microsoft YaHei" panose="020B0503020204020204" pitchFamily="34" charset="-122"/>
              </a:rPr>
              <a:t>131.19%</a:t>
            </a:r>
            <a:r>
              <a:rPr lang="zh-CN" altLang="en-US" sz="1100">
                <a:solidFill>
                  <a:srgbClr val="111111"/>
                </a:solidFill>
                <a:latin typeface="Microsoft YaHei" panose="020B0503020204020204" pitchFamily="34" charset="-122"/>
                <a:ea typeface="Microsoft YaHei" panose="020B0503020204020204" pitchFamily="34" charset="-122"/>
              </a:rPr>
              <a:t>的收益率，复合年化收益率为</a:t>
            </a:r>
            <a:r>
              <a:rPr lang="en-US" altLang="zh-CN" sz="1100">
                <a:solidFill>
                  <a:srgbClr val="111111"/>
                </a:solidFill>
                <a:latin typeface="Microsoft YaHei" panose="020B0503020204020204" pitchFamily="34" charset="-122"/>
                <a:ea typeface="Microsoft YaHei" panose="020B0503020204020204" pitchFamily="34" charset="-122"/>
              </a:rPr>
              <a:t>6.05%</a:t>
            </a:r>
            <a:r>
              <a:rPr lang="zh-CN" altLang="en-US" sz="1100">
                <a:solidFill>
                  <a:srgbClr val="111111"/>
                </a:solidFill>
                <a:latin typeface="Microsoft YaHei" panose="020B0503020204020204" pitchFamily="34" charset="-122"/>
                <a:ea typeface="Microsoft YaHei" panose="020B0503020204020204" pitchFamily="34" charset="-122"/>
              </a:rPr>
              <a:t>；</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1</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1</a:t>
            </a:r>
            <a:r>
              <a:rPr lang="zh-CN" altLang="en-US" sz="1100">
                <a:solidFill>
                  <a:srgbClr val="111111"/>
                </a:solidFill>
                <a:latin typeface="Microsoft YaHei" panose="020B0503020204020204" pitchFamily="34" charset="-122"/>
                <a:ea typeface="Microsoft YaHei" panose="020B0503020204020204" pitchFamily="34" charset="-122"/>
              </a:rPr>
              <a:t>日</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日实现收益</a:t>
            </a:r>
            <a:r>
              <a:rPr lang="en-US" altLang="zh-CN" sz="1100">
                <a:solidFill>
                  <a:srgbClr val="111111"/>
                </a:solidFill>
                <a:latin typeface="Microsoft YaHei" panose="020B0503020204020204" pitchFamily="34" charset="-122"/>
                <a:ea typeface="Microsoft YaHei" panose="020B0503020204020204" pitchFamily="34" charset="-122"/>
              </a:rPr>
              <a:t>2.63%</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E388CA12-23D1-1DA6-240C-A3380DA0CE60}"/>
              </a:ext>
            </a:extLst>
          </p:cNvPr>
          <p:cNvSpPr/>
          <p:nvPr/>
        </p:nvSpPr>
        <p:spPr>
          <a:xfrm>
            <a:off x="742950" y="19621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A907DC32-E55A-39AE-17EF-9B24F6E7ABDE}"/>
              </a:ext>
            </a:extLst>
          </p:cNvPr>
          <p:cNvSpPr txBox="1"/>
          <p:nvPr/>
        </p:nvSpPr>
        <p:spPr>
          <a:xfrm>
            <a:off x="971550" y="1905000"/>
            <a:ext cx="5876925" cy="169277"/>
          </a:xfrm>
          <a:prstGeom prst="rect">
            <a:avLst/>
          </a:prstGeom>
          <a:noFill/>
        </p:spPr>
        <p:txBody>
          <a:bodyPr vert="horz" wrap="square" lIns="0" tIns="0" rIns="0" bIns="0" rtlCol="0">
            <a:spAutoFit/>
          </a:bodyPr>
          <a:lstStyle/>
          <a:p>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日单位净值 </a:t>
            </a:r>
            <a:r>
              <a:rPr lang="en-US" altLang="zh-CN" sz="1100">
                <a:solidFill>
                  <a:srgbClr val="111111"/>
                </a:solidFill>
                <a:latin typeface="Microsoft YaHei" panose="020B0503020204020204" pitchFamily="34" charset="-122"/>
                <a:ea typeface="Microsoft YaHei" panose="020B0503020204020204" pitchFamily="34" charset="-122"/>
              </a:rPr>
              <a:t>2.31189314751457</a:t>
            </a:r>
            <a:endParaRPr lang="zh-CN" altLang="en-US" sz="1100">
              <a:solidFill>
                <a:srgbClr val="111111"/>
              </a:solidFill>
              <a:latin typeface="Microsoft YaHei" panose="020B0503020204020204" pitchFamily="34" charset="-122"/>
              <a:ea typeface="Microsoft YaHei" panose="020B0503020204020204" pitchFamily="34" charset="-122"/>
            </a:endParaRPr>
          </a:p>
        </p:txBody>
      </p:sp>
      <p:sp>
        <p:nvSpPr>
          <p:cNvPr id="16" name="椭圆 15">
            <a:extLst>
              <a:ext uri="{FF2B5EF4-FFF2-40B4-BE49-F238E27FC236}">
                <a16:creationId xmlns:a16="http://schemas.microsoft.com/office/drawing/2014/main" id="{7FBC7625-D7F7-711E-D284-3EA4CD7FE77A}"/>
              </a:ext>
            </a:extLst>
          </p:cNvPr>
          <p:cNvSpPr/>
          <p:nvPr/>
        </p:nvSpPr>
        <p:spPr>
          <a:xfrm>
            <a:off x="742950" y="22669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AFA08D3-AD4F-DCCA-ADA6-41F12949D001}"/>
              </a:ext>
            </a:extLst>
          </p:cNvPr>
          <p:cNvSpPr txBox="1"/>
          <p:nvPr/>
        </p:nvSpPr>
        <p:spPr>
          <a:xfrm>
            <a:off x="971550" y="2209800"/>
            <a:ext cx="5876925" cy="169277"/>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最新资产净值（亿元） </a:t>
            </a:r>
            <a:r>
              <a:rPr lang="en-US" altLang="zh-CN" sz="1100">
                <a:solidFill>
                  <a:srgbClr val="111111"/>
                </a:solidFill>
                <a:latin typeface="Microsoft YaHei" panose="020B0503020204020204" pitchFamily="34" charset="-122"/>
                <a:ea typeface="Microsoft YaHei" panose="020B0503020204020204" pitchFamily="34" charset="-122"/>
              </a:rPr>
              <a:t>61.34461489</a:t>
            </a:r>
            <a:endParaRPr lang="zh-CN" altLang="en-US" sz="1100">
              <a:solidFill>
                <a:srgbClr val="111111"/>
              </a:solidFill>
              <a:latin typeface="Microsoft YaHei" panose="020B0503020204020204" pitchFamily="34" charset="-122"/>
              <a:ea typeface="Microsoft YaHei" panose="020B0503020204020204" pitchFamily="34" charset="-122"/>
            </a:endParaRPr>
          </a:p>
        </p:txBody>
      </p:sp>
      <p:sp>
        <p:nvSpPr>
          <p:cNvPr id="18" name="椭圆 17">
            <a:extLst>
              <a:ext uri="{FF2B5EF4-FFF2-40B4-BE49-F238E27FC236}">
                <a16:creationId xmlns:a16="http://schemas.microsoft.com/office/drawing/2014/main" id="{C1A8D4A8-EC38-71D1-EE93-102F5E814B2F}"/>
              </a:ext>
            </a:extLst>
          </p:cNvPr>
          <p:cNvSpPr/>
          <p:nvPr/>
        </p:nvSpPr>
        <p:spPr>
          <a:xfrm>
            <a:off x="742950" y="25717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4B5FFAB7-F60A-C8C1-2905-7CBFAAD9FDEC}"/>
              </a:ext>
            </a:extLst>
          </p:cNvPr>
          <p:cNvSpPr txBox="1"/>
          <p:nvPr/>
        </p:nvSpPr>
        <p:spPr>
          <a:xfrm>
            <a:off x="971550" y="2514600"/>
            <a:ext cx="5876925" cy="169277"/>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报告期收益率（</a:t>
            </a:r>
            <a:r>
              <a:rPr lang="en-US" altLang="zh-CN" sz="1100">
                <a:solidFill>
                  <a:srgbClr val="111111"/>
                </a:solidFill>
                <a:latin typeface="Microsoft YaHei" panose="020B0503020204020204" pitchFamily="34" charset="-122"/>
                <a:ea typeface="Microsoft YaHei" panose="020B0503020204020204" pitchFamily="34" charset="-122"/>
              </a:rPr>
              <a:t>%</a:t>
            </a:r>
            <a:r>
              <a:rPr lang="zh-CN" altLang="en-US" sz="1100">
                <a:solidFill>
                  <a:srgbClr val="111111"/>
                </a:solidFill>
                <a:latin typeface="Microsoft YaHei" panose="020B0503020204020204" pitchFamily="34" charset="-122"/>
                <a:ea typeface="Microsoft YaHei" panose="020B0503020204020204" pitchFamily="34" charset="-122"/>
              </a:rPr>
              <a:t>） </a:t>
            </a:r>
            <a:r>
              <a:rPr lang="en-US" altLang="zh-CN" sz="1100">
                <a:solidFill>
                  <a:srgbClr val="111111"/>
                </a:solidFill>
                <a:latin typeface="Microsoft YaHei" panose="020B0503020204020204" pitchFamily="34" charset="-122"/>
                <a:ea typeface="Microsoft YaHei" panose="020B0503020204020204" pitchFamily="34" charset="-122"/>
              </a:rPr>
              <a:t>2.633406070224448 </a:t>
            </a:r>
            <a:r>
              <a:rPr lang="zh-CN" altLang="en-US" sz="1100">
                <a:solidFill>
                  <a:srgbClr val="111111"/>
                </a:solidFill>
                <a:latin typeface="Microsoft YaHei" panose="020B0503020204020204" pitchFamily="34" charset="-122"/>
                <a:ea typeface="Microsoft YaHei" panose="020B0503020204020204" pitchFamily="34" charset="-122"/>
              </a:rPr>
              <a:t>业绩归因收益率校验：一致</a:t>
            </a:r>
          </a:p>
        </p:txBody>
      </p:sp>
      <p:pic>
        <p:nvPicPr>
          <p:cNvPr id="21" name="图片 20">
            <a:extLst>
              <a:ext uri="{FF2B5EF4-FFF2-40B4-BE49-F238E27FC236}">
                <a16:creationId xmlns:a16="http://schemas.microsoft.com/office/drawing/2014/main" id="{CB0BB7BC-F758-DC0B-798E-EF004ED053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9000" y="1170381"/>
            <a:ext cx="4095750" cy="2183613"/>
          </a:xfrm>
          <a:prstGeom prst="rect">
            <a:avLst/>
          </a:prstGeom>
        </p:spPr>
      </p:pic>
      <p:pic>
        <p:nvPicPr>
          <p:cNvPr id="23" name="图片 22">
            <a:extLst>
              <a:ext uri="{FF2B5EF4-FFF2-40B4-BE49-F238E27FC236}">
                <a16:creationId xmlns:a16="http://schemas.microsoft.com/office/drawing/2014/main" id="{F132CE63-4B04-0079-9C24-ACCEAE653D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0971" y="3667125"/>
            <a:ext cx="4019807" cy="2143125"/>
          </a:xfrm>
          <a:prstGeom prst="rect">
            <a:avLst/>
          </a:prstGeom>
        </p:spPr>
      </p:pic>
      <p:pic>
        <p:nvPicPr>
          <p:cNvPr id="25" name="图片 24">
            <a:extLst>
              <a:ext uri="{FF2B5EF4-FFF2-40B4-BE49-F238E27FC236}">
                <a16:creationId xmlns:a16="http://schemas.microsoft.com/office/drawing/2014/main" id="{8C4376E6-3AB1-5578-C87F-DC1918BE1D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05471" y="3667125"/>
            <a:ext cx="4019807" cy="2143125"/>
          </a:xfrm>
          <a:prstGeom prst="rect">
            <a:avLst/>
          </a:prstGeom>
        </p:spPr>
      </p:pic>
    </p:spTree>
    <p:custDataLst>
      <p:tags r:id="rId1"/>
    </p:custDataLst>
    <p:extLst>
      <p:ext uri="{BB962C8B-B14F-4D97-AF65-F5344CB8AC3E}">
        <p14:creationId xmlns:p14="http://schemas.microsoft.com/office/powerpoint/2010/main" val="2519297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组合业绩归因</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5</a:t>
            </a:fld>
            <a:endParaRPr lang="zh-CN" altLang="en-US" dirty="0"/>
          </a:p>
        </p:txBody>
      </p:sp>
      <p:sp>
        <p:nvSpPr>
          <p:cNvPr id="5" name="文本占位符 4">
            <a:extLst>
              <a:ext uri="{FF2B5EF4-FFF2-40B4-BE49-F238E27FC236}">
                <a16:creationId xmlns:a16="http://schemas.microsoft.com/office/drawing/2014/main" id="{A45ABA02-EBD0-AA91-0D25-A0035EE294CC}"/>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9BAF0D1B-9C91-AD0A-2A33-17EC406D64C8}"/>
              </a:ext>
            </a:extLst>
          </p:cNvPr>
          <p:cNvSpPr/>
          <p:nvPr/>
        </p:nvSpPr>
        <p:spPr>
          <a:xfrm>
            <a:off x="571500" y="1162050"/>
            <a:ext cx="10763250" cy="17145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A44D65E0-2D1D-39D4-F355-66505EECF0E8}"/>
              </a:ext>
            </a:extLst>
          </p:cNvPr>
          <p:cNvSpPr/>
          <p:nvPr/>
        </p:nvSpPr>
        <p:spPr>
          <a:xfrm>
            <a:off x="742950" y="13335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C4C5F00-4BD8-1EE1-9D99-FE7441E99D60}"/>
              </a:ext>
            </a:extLst>
          </p:cNvPr>
          <p:cNvSpPr txBox="1"/>
          <p:nvPr/>
        </p:nvSpPr>
        <p:spPr>
          <a:xfrm>
            <a:off x="971550" y="12763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流动性资产：</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日</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3</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31</a:t>
            </a:r>
            <a:r>
              <a:rPr lang="zh-CN" altLang="en-US" sz="1200">
                <a:solidFill>
                  <a:srgbClr val="111111"/>
                </a:solidFill>
                <a:latin typeface="Microsoft YaHei" panose="020B0503020204020204" pitchFamily="34" charset="-122"/>
                <a:ea typeface="Microsoft YaHei" panose="020B0503020204020204" pitchFamily="34" charset="-122"/>
              </a:rPr>
              <a:t>日，组合穿透前流动资产收益贡献</a:t>
            </a:r>
            <a:r>
              <a:rPr lang="en-US" altLang="zh-CN" sz="1200">
                <a:solidFill>
                  <a:srgbClr val="111111"/>
                </a:solidFill>
                <a:latin typeface="Microsoft YaHei" panose="020B0503020204020204" pitchFamily="34" charset="-122"/>
                <a:ea typeface="Microsoft YaHei" panose="020B0503020204020204" pitchFamily="34" charset="-122"/>
              </a:rPr>
              <a:t>0.03%</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0.03%</a:t>
            </a:r>
            <a:r>
              <a:rPr lang="zh-CN" altLang="en-US" sz="12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7802EB7E-2803-78D7-40A7-1B71626D6612}"/>
              </a:ext>
            </a:extLst>
          </p:cNvPr>
          <p:cNvSpPr/>
          <p:nvPr/>
        </p:nvSpPr>
        <p:spPr>
          <a:xfrm>
            <a:off x="742950" y="16383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9B2F9C41-CF69-DC7F-A46A-82533AC693CC}"/>
              </a:ext>
            </a:extLst>
          </p:cNvPr>
          <p:cNvSpPr txBox="1"/>
          <p:nvPr/>
        </p:nvSpPr>
        <p:spPr>
          <a:xfrm>
            <a:off x="971550" y="1581150"/>
            <a:ext cx="10210800" cy="553998"/>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固收方面，</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日</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3</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31</a:t>
            </a:r>
            <a:r>
              <a:rPr lang="zh-CN" altLang="en-US" sz="1200">
                <a:solidFill>
                  <a:srgbClr val="111111"/>
                </a:solidFill>
                <a:latin typeface="Microsoft YaHei" panose="020B0503020204020204" pitchFamily="34" charset="-122"/>
                <a:ea typeface="Microsoft YaHei" panose="020B0503020204020204" pitchFamily="34" charset="-122"/>
              </a:rPr>
              <a:t>日，组合固定收益类资产收益贡献</a:t>
            </a:r>
            <a:r>
              <a:rPr lang="en-US" altLang="zh-CN" sz="1200">
                <a:solidFill>
                  <a:srgbClr val="111111"/>
                </a:solidFill>
                <a:latin typeface="Microsoft YaHei" panose="020B0503020204020204" pitchFamily="34" charset="-122"/>
                <a:ea typeface="Microsoft YaHei" panose="020B0503020204020204" pitchFamily="34" charset="-122"/>
              </a:rPr>
              <a:t>1.36%</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1.28%</a:t>
            </a:r>
            <a:r>
              <a:rPr lang="zh-CN" altLang="en-US" sz="1200">
                <a:solidFill>
                  <a:srgbClr val="111111"/>
                </a:solidFill>
                <a:latin typeface="Microsoft YaHei" panose="020B0503020204020204" pitchFamily="34" charset="-122"/>
                <a:ea typeface="Microsoft YaHei" panose="020B0503020204020204" pitchFamily="34" charset="-122"/>
              </a:rPr>
              <a:t>），其中成本计价类资产贡献</a:t>
            </a:r>
            <a:r>
              <a:rPr lang="en-US" altLang="zh-CN" sz="1200">
                <a:solidFill>
                  <a:srgbClr val="111111"/>
                </a:solidFill>
                <a:latin typeface="Microsoft YaHei" panose="020B0503020204020204" pitchFamily="34" charset="-122"/>
                <a:ea typeface="Microsoft YaHei" panose="020B0503020204020204" pitchFamily="34" charset="-122"/>
              </a:rPr>
              <a:t>0.24%</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0.32%</a:t>
            </a:r>
            <a:r>
              <a:rPr lang="zh-CN" altLang="en-US" sz="1200">
                <a:solidFill>
                  <a:srgbClr val="111111"/>
                </a:solidFill>
                <a:latin typeface="Microsoft YaHei" panose="020B0503020204020204" pitchFamily="34" charset="-122"/>
                <a:ea typeface="Microsoft YaHei" panose="020B0503020204020204" pitchFamily="34" charset="-122"/>
              </a:rPr>
              <a:t>），市值计价类资产贡献</a:t>
            </a:r>
            <a:r>
              <a:rPr lang="en-US" altLang="zh-CN" sz="1200">
                <a:solidFill>
                  <a:srgbClr val="111111"/>
                </a:solidFill>
                <a:latin typeface="Microsoft YaHei" panose="020B0503020204020204" pitchFamily="34" charset="-122"/>
                <a:ea typeface="Microsoft YaHei" panose="020B0503020204020204" pitchFamily="34" charset="-122"/>
              </a:rPr>
              <a:t>1.12%</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0.97%</a:t>
            </a:r>
            <a:r>
              <a:rPr lang="zh-CN" altLang="en-US" sz="1200">
                <a:solidFill>
                  <a:srgbClr val="111111"/>
                </a:solidFill>
                <a:latin typeface="Microsoft YaHei" panose="020B0503020204020204" pitchFamily="34" charset="-122"/>
                <a:ea typeface="Microsoft YaHei" panose="020B0503020204020204" pitchFamily="34" charset="-122"/>
              </a:rPr>
              <a:t>）。固定收益类资产收益率</a:t>
            </a:r>
            <a:r>
              <a:rPr lang="en-US" altLang="zh-CN" sz="1200">
                <a:solidFill>
                  <a:srgbClr val="111111"/>
                </a:solidFill>
                <a:latin typeface="Microsoft YaHei" panose="020B0503020204020204" pitchFamily="34" charset="-122"/>
                <a:ea typeface="Microsoft YaHei" panose="020B0503020204020204" pitchFamily="34" charset="-122"/>
              </a:rPr>
              <a:t>1.52%</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1.43%</a:t>
            </a:r>
            <a:r>
              <a:rPr lang="zh-CN" altLang="en-US" sz="1200">
                <a:solidFill>
                  <a:srgbClr val="111111"/>
                </a:solidFill>
                <a:latin typeface="Microsoft YaHei" panose="020B0503020204020204" pitchFamily="34" charset="-122"/>
                <a:ea typeface="Microsoft YaHei" panose="020B0503020204020204" pitchFamily="34" charset="-122"/>
              </a:rPr>
              <a:t>），年化收益率</a:t>
            </a:r>
            <a:r>
              <a:rPr lang="en-US" altLang="zh-CN" sz="1200">
                <a:solidFill>
                  <a:srgbClr val="111111"/>
                </a:solidFill>
                <a:latin typeface="Microsoft YaHei" panose="020B0503020204020204" pitchFamily="34" charset="-122"/>
                <a:ea typeface="Microsoft YaHei" panose="020B0503020204020204" pitchFamily="34" charset="-122"/>
              </a:rPr>
              <a:t>6.29%</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5.91%</a:t>
            </a:r>
            <a:r>
              <a:rPr lang="zh-CN" altLang="en-US" sz="1200">
                <a:solidFill>
                  <a:srgbClr val="111111"/>
                </a:solidFill>
                <a:latin typeface="Microsoft YaHei" panose="020B0503020204020204" pitchFamily="34" charset="-122"/>
                <a:ea typeface="Microsoft YaHei" panose="020B0503020204020204" pitchFamily="34" charset="-122"/>
              </a:rPr>
              <a:t>）。同期中债企业债</a:t>
            </a:r>
            <a:r>
              <a:rPr lang="en-US" altLang="zh-CN" sz="1200">
                <a:solidFill>
                  <a:srgbClr val="111111"/>
                </a:solidFill>
                <a:latin typeface="Microsoft YaHei" panose="020B0503020204020204" pitchFamily="34" charset="-122"/>
                <a:ea typeface="Microsoft YaHei" panose="020B0503020204020204" pitchFamily="34" charset="-122"/>
              </a:rPr>
              <a:t>AAA</a:t>
            </a:r>
            <a:r>
              <a:rPr lang="zh-CN" altLang="en-US" sz="1200">
                <a:solidFill>
                  <a:srgbClr val="111111"/>
                </a:solidFill>
                <a:latin typeface="Microsoft YaHei" panose="020B0503020204020204" pitchFamily="34" charset="-122"/>
                <a:ea typeface="Microsoft YaHei" panose="020B0503020204020204" pitchFamily="34" charset="-122"/>
              </a:rPr>
              <a:t>财富（</a:t>
            </a:r>
            <a:r>
              <a:rPr lang="en-US" altLang="zh-CN" sz="1200">
                <a:solidFill>
                  <a:srgbClr val="111111"/>
                </a:solidFill>
                <a:latin typeface="Microsoft YaHei" panose="020B0503020204020204" pitchFamily="34" charset="-122"/>
                <a:ea typeface="Microsoft YaHei" panose="020B0503020204020204" pitchFamily="34" charset="-122"/>
              </a:rPr>
              <a:t>1-3</a:t>
            </a:r>
            <a:r>
              <a:rPr lang="zh-CN" altLang="en-US" sz="1200">
                <a:solidFill>
                  <a:srgbClr val="111111"/>
                </a:solidFill>
                <a:latin typeface="Microsoft YaHei" panose="020B0503020204020204" pitchFamily="34" charset="-122"/>
                <a:ea typeface="Microsoft YaHei" panose="020B0503020204020204" pitchFamily="34" charset="-122"/>
              </a:rPr>
              <a:t>年）指数、</a:t>
            </a:r>
            <a:r>
              <a:rPr lang="en-US" altLang="zh-CN" sz="1200">
                <a:solidFill>
                  <a:srgbClr val="111111"/>
                </a:solidFill>
                <a:latin typeface="Microsoft YaHei" panose="020B0503020204020204" pitchFamily="34" charset="-122"/>
                <a:ea typeface="Microsoft YaHei" panose="020B0503020204020204" pitchFamily="34" charset="-122"/>
              </a:rPr>
              <a:t>wind</a:t>
            </a:r>
            <a:r>
              <a:rPr lang="zh-CN" altLang="en-US" sz="1200">
                <a:solidFill>
                  <a:srgbClr val="111111"/>
                </a:solidFill>
                <a:latin typeface="Microsoft YaHei" panose="020B0503020204020204" pitchFamily="34" charset="-122"/>
                <a:ea typeface="Microsoft YaHei" panose="020B0503020204020204" pitchFamily="34" charset="-122"/>
              </a:rPr>
              <a:t>中长期纯债型基金指数收益率分别为</a:t>
            </a:r>
            <a:r>
              <a:rPr lang="en-US" altLang="zh-CN" sz="1200">
                <a:solidFill>
                  <a:srgbClr val="111111"/>
                </a:solidFill>
                <a:latin typeface="Microsoft YaHei" panose="020B0503020204020204" pitchFamily="34" charset="-122"/>
                <a:ea typeface="Microsoft YaHei" panose="020B0503020204020204" pitchFamily="34" charset="-122"/>
              </a:rPr>
              <a:t>1.28%</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0.97%</a:t>
            </a:r>
            <a:r>
              <a:rPr lang="zh-CN" altLang="en-US" sz="1200">
                <a:solidFill>
                  <a:srgbClr val="111111"/>
                </a:solidFill>
                <a:latin typeface="Microsoft YaHei" panose="020B0503020204020204" pitchFamily="34" charset="-122"/>
                <a:ea typeface="Microsoft YaHei" panose="020B0503020204020204" pitchFamily="34" charset="-122"/>
              </a:rPr>
              <a:t>。</a:t>
            </a:r>
          </a:p>
        </p:txBody>
      </p:sp>
      <p:sp>
        <p:nvSpPr>
          <p:cNvPr id="16" name="椭圆 15">
            <a:extLst>
              <a:ext uri="{FF2B5EF4-FFF2-40B4-BE49-F238E27FC236}">
                <a16:creationId xmlns:a16="http://schemas.microsoft.com/office/drawing/2014/main" id="{36384CC9-1715-2AB6-2372-71EB0FA80940}"/>
              </a:ext>
            </a:extLst>
          </p:cNvPr>
          <p:cNvSpPr/>
          <p:nvPr/>
        </p:nvSpPr>
        <p:spPr>
          <a:xfrm>
            <a:off x="742950" y="2314575"/>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BD9BFCC-ABF6-8C16-D81A-571B0F4330D6}"/>
              </a:ext>
            </a:extLst>
          </p:cNvPr>
          <p:cNvSpPr txBox="1"/>
          <p:nvPr/>
        </p:nvSpPr>
        <p:spPr>
          <a:xfrm>
            <a:off x="971550" y="2257425"/>
            <a:ext cx="10210800" cy="369332"/>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权益方面，</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日</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3</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31</a:t>
            </a:r>
            <a:r>
              <a:rPr lang="zh-CN" altLang="en-US" sz="1200">
                <a:solidFill>
                  <a:srgbClr val="111111"/>
                </a:solidFill>
                <a:latin typeface="Microsoft YaHei" panose="020B0503020204020204" pitchFamily="34" charset="-122"/>
                <a:ea typeface="Microsoft YaHei" panose="020B0503020204020204" pitchFamily="34" charset="-122"/>
              </a:rPr>
              <a:t>日，组合权益类资产收益贡献</a:t>
            </a:r>
            <a:r>
              <a:rPr lang="en-US" altLang="zh-CN" sz="1200">
                <a:solidFill>
                  <a:srgbClr val="111111"/>
                </a:solidFill>
                <a:latin typeface="Microsoft YaHei" panose="020B0503020204020204" pitchFamily="34" charset="-122"/>
                <a:ea typeface="Microsoft YaHei" panose="020B0503020204020204" pitchFamily="34" charset="-122"/>
              </a:rPr>
              <a:t>1.42%</a:t>
            </a:r>
            <a:r>
              <a:rPr lang="zh-CN" altLang="en-US" sz="1200">
                <a:solidFill>
                  <a:srgbClr val="111111"/>
                </a:solidFill>
                <a:latin typeface="Microsoft YaHei" panose="020B0503020204020204" pitchFamily="34" charset="-122"/>
                <a:ea typeface="Microsoft YaHei" panose="020B0503020204020204" pitchFamily="34" charset="-122"/>
              </a:rPr>
              <a:t>（穿透后</a:t>
            </a:r>
            <a:r>
              <a:rPr lang="en-US" altLang="zh-CN" sz="1200">
                <a:solidFill>
                  <a:srgbClr val="111111"/>
                </a:solidFill>
                <a:latin typeface="Microsoft YaHei" panose="020B0503020204020204" pitchFamily="34" charset="-122"/>
                <a:ea typeface="Microsoft YaHei" panose="020B0503020204020204" pitchFamily="34" charset="-122"/>
              </a:rPr>
              <a:t>1.54%</a:t>
            </a:r>
            <a:r>
              <a:rPr lang="zh-CN" altLang="en-US" sz="1200">
                <a:solidFill>
                  <a:srgbClr val="111111"/>
                </a:solidFill>
                <a:latin typeface="Microsoft YaHei" panose="020B0503020204020204" pitchFamily="34" charset="-122"/>
                <a:ea typeface="Microsoft YaHei" panose="020B0503020204020204" pitchFamily="34" charset="-122"/>
              </a:rPr>
              <a:t>），资产收益率</a:t>
            </a:r>
            <a:r>
              <a:rPr lang="en-US" altLang="zh-CN" sz="1200">
                <a:solidFill>
                  <a:srgbClr val="111111"/>
                </a:solidFill>
                <a:latin typeface="Microsoft YaHei" panose="020B0503020204020204" pitchFamily="34" charset="-122"/>
                <a:ea typeface="Microsoft YaHei" panose="020B0503020204020204" pitchFamily="34" charset="-122"/>
              </a:rPr>
              <a:t>8.30%</a:t>
            </a:r>
            <a:r>
              <a:rPr lang="zh-CN" altLang="en-US" sz="1200">
                <a:solidFill>
                  <a:srgbClr val="111111"/>
                </a:solidFill>
                <a:latin typeface="Microsoft YaHei" panose="020B0503020204020204" pitchFamily="34" charset="-122"/>
                <a:ea typeface="Microsoft YaHei" panose="020B0503020204020204" pitchFamily="34" charset="-122"/>
              </a:rPr>
              <a:t>，同期上证指数收益率</a:t>
            </a:r>
            <a:r>
              <a:rPr lang="en-US" altLang="zh-CN" sz="1200">
                <a:solidFill>
                  <a:srgbClr val="111111"/>
                </a:solidFill>
                <a:latin typeface="Microsoft YaHei" panose="020B0503020204020204" pitchFamily="34" charset="-122"/>
                <a:ea typeface="Microsoft YaHei" panose="020B0503020204020204" pitchFamily="34" charset="-122"/>
              </a:rPr>
              <a:t>5.94%</a:t>
            </a:r>
            <a:r>
              <a:rPr lang="zh-CN" altLang="en-US" sz="1200">
                <a:solidFill>
                  <a:srgbClr val="111111"/>
                </a:solidFill>
                <a:latin typeface="Microsoft YaHei" panose="020B0503020204020204" pitchFamily="34" charset="-122"/>
                <a:ea typeface="Microsoft YaHei" panose="020B0503020204020204" pitchFamily="34" charset="-122"/>
              </a:rPr>
              <a:t>（万得），获得了</a:t>
            </a:r>
            <a:r>
              <a:rPr lang="en-US" altLang="zh-CN" sz="1200">
                <a:solidFill>
                  <a:srgbClr val="111111"/>
                </a:solidFill>
                <a:latin typeface="Microsoft YaHei" panose="020B0503020204020204" pitchFamily="34" charset="-122"/>
                <a:ea typeface="Microsoft YaHei" panose="020B0503020204020204" pitchFamily="34" charset="-122"/>
              </a:rPr>
              <a:t>2.36%</a:t>
            </a:r>
            <a:r>
              <a:rPr lang="zh-CN" altLang="en-US" sz="1200">
                <a:solidFill>
                  <a:srgbClr val="111111"/>
                </a:solidFill>
                <a:latin typeface="Microsoft YaHei" panose="020B0503020204020204" pitchFamily="34" charset="-122"/>
                <a:ea typeface="Microsoft YaHei" panose="020B0503020204020204" pitchFamily="34" charset="-122"/>
              </a:rPr>
              <a:t>（组合权益收益率</a:t>
            </a:r>
            <a:r>
              <a:rPr lang="en-US" altLang="zh-CN" sz="1200">
                <a:solidFill>
                  <a:srgbClr val="111111"/>
                </a:solidFill>
                <a:latin typeface="Microsoft YaHei" panose="020B0503020204020204" pitchFamily="34" charset="-122"/>
                <a:ea typeface="Microsoft YaHei" panose="020B0503020204020204" pitchFamily="34" charset="-122"/>
              </a:rPr>
              <a:t>-</a:t>
            </a:r>
            <a:r>
              <a:rPr lang="zh-CN" altLang="en-US" sz="1200">
                <a:solidFill>
                  <a:srgbClr val="111111"/>
                </a:solidFill>
                <a:latin typeface="Microsoft YaHei" panose="020B0503020204020204" pitchFamily="34" charset="-122"/>
                <a:ea typeface="Microsoft YaHei" panose="020B0503020204020204" pitchFamily="34" charset="-122"/>
              </a:rPr>
              <a:t>上证指数同期资产收益率）的超额收益。</a:t>
            </a:r>
          </a:p>
        </p:txBody>
      </p:sp>
      <p:pic>
        <p:nvPicPr>
          <p:cNvPr id="19" name="图片 18">
            <a:extLst>
              <a:ext uri="{FF2B5EF4-FFF2-40B4-BE49-F238E27FC236}">
                <a16:creationId xmlns:a16="http://schemas.microsoft.com/office/drawing/2014/main" id="{05E54CA2-2E9D-82AF-D20C-DD26BC1F45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083" y="3190875"/>
            <a:ext cx="4279583" cy="2476500"/>
          </a:xfrm>
          <a:prstGeom prst="rect">
            <a:avLst/>
          </a:prstGeom>
        </p:spPr>
      </p:pic>
      <p:pic>
        <p:nvPicPr>
          <p:cNvPr id="21" name="图片 20">
            <a:extLst>
              <a:ext uri="{FF2B5EF4-FFF2-40B4-BE49-F238E27FC236}">
                <a16:creationId xmlns:a16="http://schemas.microsoft.com/office/drawing/2014/main" id="{4D8FF32E-5D43-5616-32C7-523D4CDD14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2743" y="3190875"/>
            <a:ext cx="4045264" cy="2476500"/>
          </a:xfrm>
          <a:prstGeom prst="rect">
            <a:avLst/>
          </a:prstGeom>
        </p:spPr>
      </p:pic>
    </p:spTree>
    <p:custDataLst>
      <p:tags r:id="rId1"/>
    </p:custDataLst>
    <p:extLst>
      <p:ext uri="{BB962C8B-B14F-4D97-AF65-F5344CB8AC3E}">
        <p14:creationId xmlns:p14="http://schemas.microsoft.com/office/powerpoint/2010/main" val="1753934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组合资产配置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6</a:t>
            </a:fld>
            <a:endParaRPr lang="zh-CN" altLang="en-US" dirty="0"/>
          </a:p>
        </p:txBody>
      </p:sp>
      <p:sp>
        <p:nvSpPr>
          <p:cNvPr id="8" name="矩形 7">
            <a:extLst>
              <a:ext uri="{FF2B5EF4-FFF2-40B4-BE49-F238E27FC236}">
                <a16:creationId xmlns:a16="http://schemas.microsoft.com/office/drawing/2014/main" id="{8C384465-FBF7-00C3-07FF-19EE2FA62653}"/>
              </a:ext>
            </a:extLst>
          </p:cNvPr>
          <p:cNvSpPr/>
          <p:nvPr/>
        </p:nvSpPr>
        <p:spPr>
          <a:xfrm>
            <a:off x="571500" y="1162050"/>
            <a:ext cx="6429375" cy="2238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4DD53D3-F4C2-7C53-732E-D20E46D22036}"/>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ACD02C5-BFFA-0313-5257-36E2B72B7AFE}"/>
              </a:ext>
            </a:extLst>
          </p:cNvPr>
          <p:cNvSpPr txBox="1"/>
          <p:nvPr/>
        </p:nvSpPr>
        <p:spPr>
          <a:xfrm>
            <a:off x="971550" y="1276350"/>
            <a:ext cx="5876925" cy="338554"/>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资产配置方面，截至</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日，组合流动性资产占比</a:t>
            </a:r>
            <a:r>
              <a:rPr lang="en-US" altLang="zh-CN" sz="1100">
                <a:solidFill>
                  <a:srgbClr val="111111"/>
                </a:solidFill>
                <a:latin typeface="Microsoft YaHei" panose="020B0503020204020204" pitchFamily="34" charset="-122"/>
                <a:ea typeface="Microsoft YaHei" panose="020B0503020204020204" pitchFamily="34" charset="-122"/>
              </a:rPr>
              <a:t>7.38%</a:t>
            </a:r>
            <a:r>
              <a:rPr lang="zh-CN" altLang="en-US" sz="1100">
                <a:solidFill>
                  <a:srgbClr val="111111"/>
                </a:solidFill>
                <a:latin typeface="Microsoft YaHei" panose="020B0503020204020204" pitchFamily="34" charset="-122"/>
                <a:ea typeface="Microsoft YaHei" panose="020B0503020204020204" pitchFamily="34" charset="-122"/>
              </a:rPr>
              <a:t>（穿透后</a:t>
            </a:r>
            <a:r>
              <a:rPr lang="en-US" altLang="zh-CN" sz="1100">
                <a:solidFill>
                  <a:srgbClr val="111111"/>
                </a:solidFill>
                <a:latin typeface="Microsoft YaHei" panose="020B0503020204020204" pitchFamily="34" charset="-122"/>
                <a:ea typeface="Microsoft YaHei" panose="020B0503020204020204" pitchFamily="34" charset="-122"/>
              </a:rPr>
              <a:t>7.90%</a:t>
            </a:r>
            <a:r>
              <a:rPr lang="zh-CN" altLang="en-US" sz="1100">
                <a:solidFill>
                  <a:srgbClr val="111111"/>
                </a:solidFill>
                <a:latin typeface="Microsoft YaHei" panose="020B0503020204020204" pitchFamily="34" charset="-122"/>
                <a:ea typeface="Microsoft YaHei" panose="020B0503020204020204" pitchFamily="34" charset="-122"/>
              </a:rPr>
              <a:t>）；权益类资产占比</a:t>
            </a:r>
            <a:r>
              <a:rPr lang="en-US" altLang="zh-CN" sz="1100">
                <a:solidFill>
                  <a:srgbClr val="111111"/>
                </a:solidFill>
                <a:latin typeface="Microsoft YaHei" panose="020B0503020204020204" pitchFamily="34" charset="-122"/>
                <a:ea typeface="Microsoft YaHei" panose="020B0503020204020204" pitchFamily="34" charset="-122"/>
              </a:rPr>
              <a:t>16.18%</a:t>
            </a:r>
            <a:r>
              <a:rPr lang="zh-CN" altLang="en-US" sz="1100">
                <a:solidFill>
                  <a:srgbClr val="111111"/>
                </a:solidFill>
                <a:latin typeface="Microsoft YaHei" panose="020B0503020204020204" pitchFamily="34" charset="-122"/>
                <a:ea typeface="Microsoft YaHei" panose="020B0503020204020204" pitchFamily="34" charset="-122"/>
              </a:rPr>
              <a:t>（穿透后</a:t>
            </a:r>
            <a:r>
              <a:rPr lang="en-US" altLang="zh-CN" sz="1100">
                <a:solidFill>
                  <a:srgbClr val="111111"/>
                </a:solidFill>
                <a:latin typeface="Microsoft YaHei" panose="020B0503020204020204" pitchFamily="34" charset="-122"/>
                <a:ea typeface="Microsoft YaHei" panose="020B0503020204020204" pitchFamily="34" charset="-122"/>
              </a:rPr>
              <a:t>17.05%</a:t>
            </a:r>
            <a:r>
              <a:rPr lang="zh-CN" altLang="en-US" sz="1100">
                <a:solidFill>
                  <a:srgbClr val="111111"/>
                </a:solidFill>
                <a:latin typeface="Microsoft YaHei" panose="020B0503020204020204" pitchFamily="34" charset="-122"/>
                <a:ea typeface="Microsoft YaHei" panose="020B0503020204020204" pitchFamily="34" charset="-122"/>
              </a:rPr>
              <a:t>），对冲后的权益仓位</a:t>
            </a:r>
            <a:r>
              <a:rPr lang="en-US" altLang="zh-CN" sz="1100">
                <a:solidFill>
                  <a:srgbClr val="111111"/>
                </a:solidFill>
                <a:latin typeface="Microsoft YaHei" panose="020B0503020204020204" pitchFamily="34" charset="-122"/>
                <a:ea typeface="Microsoft YaHei" panose="020B0503020204020204" pitchFamily="34" charset="-122"/>
              </a:rPr>
              <a:t>16.18%</a:t>
            </a:r>
            <a:r>
              <a:rPr lang="zh-CN" altLang="en-US" sz="1100">
                <a:solidFill>
                  <a:srgbClr val="111111"/>
                </a:solidFill>
                <a:latin typeface="Microsoft YaHei" panose="020B0503020204020204" pitchFamily="34" charset="-122"/>
                <a:ea typeface="Microsoft YaHei" panose="020B0503020204020204" pitchFamily="34" charset="-122"/>
              </a:rPr>
              <a:t>（穿透后</a:t>
            </a:r>
            <a:r>
              <a:rPr lang="en-US" altLang="zh-CN" sz="1100">
                <a:solidFill>
                  <a:srgbClr val="111111"/>
                </a:solidFill>
                <a:latin typeface="Microsoft YaHei" panose="020B0503020204020204" pitchFamily="34" charset="-122"/>
                <a:ea typeface="Microsoft YaHei" panose="020B0503020204020204" pitchFamily="34" charset="-122"/>
              </a:rPr>
              <a:t>17.05%</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9C0C124E-A1C7-1F8A-E509-AB04E57422F7}"/>
              </a:ext>
            </a:extLst>
          </p:cNvPr>
          <p:cNvSpPr/>
          <p:nvPr/>
        </p:nvSpPr>
        <p:spPr>
          <a:xfrm>
            <a:off x="742950" y="19621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FABA79EC-D712-126A-B70E-43F580D9B95F}"/>
              </a:ext>
            </a:extLst>
          </p:cNvPr>
          <p:cNvSpPr txBox="1"/>
          <p:nvPr/>
        </p:nvSpPr>
        <p:spPr>
          <a:xfrm>
            <a:off x="971550" y="190500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本时间区间持有国泰金色年华固定收益型养老金产品，国泰金色年华混合型养老金产品，国泰佳泰股票专项型养老金产品，国泰金色年华货币型养老金产品，期末持仓分别为</a:t>
            </a:r>
            <a:r>
              <a:rPr lang="en-US" altLang="zh-CN" sz="1100">
                <a:solidFill>
                  <a:srgbClr val="111111"/>
                </a:solidFill>
                <a:latin typeface="Microsoft YaHei" panose="020B0503020204020204" pitchFamily="34" charset="-122"/>
                <a:ea typeface="Microsoft YaHei" panose="020B0503020204020204" pitchFamily="34" charset="-122"/>
              </a:rPr>
              <a:t>8.98%</a:t>
            </a:r>
            <a:r>
              <a:rPr lang="zh-CN" altLang="en-US" sz="1100">
                <a:solidFill>
                  <a:srgbClr val="111111"/>
                </a:solidFill>
                <a:latin typeface="Microsoft YaHei" panose="020B0503020204020204" pitchFamily="34" charset="-122"/>
                <a:ea typeface="Microsoft YaHei" panose="020B0503020204020204" pitchFamily="34" charset="-122"/>
              </a:rPr>
              <a:t>，</a:t>
            </a:r>
            <a:r>
              <a:rPr lang="en-US" altLang="zh-CN" sz="1100">
                <a:solidFill>
                  <a:srgbClr val="111111"/>
                </a:solidFill>
                <a:latin typeface="Microsoft YaHei" panose="020B0503020204020204" pitchFamily="34" charset="-122"/>
                <a:ea typeface="Microsoft YaHei" panose="020B0503020204020204" pitchFamily="34" charset="-122"/>
              </a:rPr>
              <a:t>4.10%</a:t>
            </a:r>
            <a:r>
              <a:rPr lang="zh-CN" altLang="en-US" sz="1100">
                <a:solidFill>
                  <a:srgbClr val="111111"/>
                </a:solidFill>
                <a:latin typeface="Microsoft YaHei" panose="020B0503020204020204" pitchFamily="34" charset="-122"/>
                <a:ea typeface="Microsoft YaHei" panose="020B0503020204020204" pitchFamily="34" charset="-122"/>
              </a:rPr>
              <a:t>，</a:t>
            </a:r>
            <a:r>
              <a:rPr lang="en-US" altLang="zh-CN" sz="1100">
                <a:solidFill>
                  <a:srgbClr val="111111"/>
                </a:solidFill>
                <a:latin typeface="Microsoft YaHei" panose="020B0503020204020204" pitchFamily="34" charset="-122"/>
                <a:ea typeface="Microsoft YaHei" panose="020B0503020204020204" pitchFamily="34" charset="-122"/>
              </a:rPr>
              <a:t>1.58%</a:t>
            </a:r>
            <a:r>
              <a:rPr lang="zh-CN" altLang="en-US" sz="1100">
                <a:solidFill>
                  <a:srgbClr val="111111"/>
                </a:solidFill>
                <a:latin typeface="Microsoft YaHei" panose="020B0503020204020204" pitchFamily="34" charset="-122"/>
                <a:ea typeface="Microsoft YaHei" panose="020B0503020204020204" pitchFamily="34" charset="-122"/>
              </a:rPr>
              <a:t>，</a:t>
            </a:r>
            <a:r>
              <a:rPr lang="en-US" altLang="zh-CN" sz="1100">
                <a:solidFill>
                  <a:srgbClr val="111111"/>
                </a:solidFill>
                <a:latin typeface="Microsoft YaHei" panose="020B0503020204020204" pitchFamily="34" charset="-122"/>
                <a:ea typeface="Microsoft YaHei" panose="020B0503020204020204" pitchFamily="34" charset="-122"/>
              </a:rPr>
              <a:t>0.67%</a:t>
            </a:r>
            <a:r>
              <a:rPr lang="zh-CN" altLang="en-US" sz="1100">
                <a:solidFill>
                  <a:srgbClr val="111111"/>
                </a:solidFill>
                <a:latin typeface="Microsoft YaHei" panose="020B0503020204020204" pitchFamily="34" charset="-122"/>
                <a:ea typeface="Microsoft YaHei" panose="020B0503020204020204" pitchFamily="34" charset="-122"/>
              </a:rPr>
              <a:t>，本年以来贡献分别为</a:t>
            </a:r>
            <a:r>
              <a:rPr lang="en-US" altLang="zh-CN" sz="1100">
                <a:solidFill>
                  <a:srgbClr val="111111"/>
                </a:solidFill>
                <a:latin typeface="Microsoft YaHei" panose="020B0503020204020204" pitchFamily="34" charset="-122"/>
                <a:ea typeface="Microsoft YaHei" panose="020B0503020204020204" pitchFamily="34" charset="-122"/>
              </a:rPr>
              <a:t>0.14%</a:t>
            </a:r>
            <a:endParaRPr lang="zh-CN" altLang="en-US" sz="1100">
              <a:solidFill>
                <a:srgbClr val="111111"/>
              </a:solidFill>
              <a:latin typeface="Microsoft YaHei" panose="020B0503020204020204" pitchFamily="34" charset="-122"/>
              <a:ea typeface="Microsoft YaHei" panose="020B0503020204020204" pitchFamily="34" charset="-122"/>
            </a:endParaRPr>
          </a:p>
        </p:txBody>
      </p:sp>
      <p:sp>
        <p:nvSpPr>
          <p:cNvPr id="16" name="椭圆 15">
            <a:extLst>
              <a:ext uri="{FF2B5EF4-FFF2-40B4-BE49-F238E27FC236}">
                <a16:creationId xmlns:a16="http://schemas.microsoft.com/office/drawing/2014/main" id="{C3CD61D0-C7C3-7F6E-4F34-706D6FEA938D}"/>
              </a:ext>
            </a:extLst>
          </p:cNvPr>
          <p:cNvSpPr/>
          <p:nvPr/>
        </p:nvSpPr>
        <p:spPr>
          <a:xfrm>
            <a:off x="742950" y="25908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6124A2D-E1E6-6B5A-F9F3-05F1B38DBE40}"/>
              </a:ext>
            </a:extLst>
          </p:cNvPr>
          <p:cNvSpPr txBox="1"/>
          <p:nvPr/>
        </p:nvSpPr>
        <p:spPr>
          <a:xfrm>
            <a:off x="971550" y="253365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国泰金色年华固定收益型养老金产品今年以来收益率</a:t>
            </a:r>
            <a:r>
              <a:rPr lang="en-US" altLang="zh-CN" sz="1100">
                <a:solidFill>
                  <a:srgbClr val="111111"/>
                </a:solidFill>
                <a:latin typeface="Microsoft YaHei" panose="020B0503020204020204" pitchFamily="34" charset="-122"/>
                <a:ea typeface="Microsoft YaHei" panose="020B0503020204020204" pitchFamily="34" charset="-122"/>
              </a:rPr>
              <a:t>1.38%</a:t>
            </a:r>
            <a:r>
              <a:rPr lang="zh-CN" altLang="en-US" sz="1100">
                <a:solidFill>
                  <a:srgbClr val="111111"/>
                </a:solidFill>
                <a:latin typeface="Microsoft YaHei" panose="020B0503020204020204" pitchFamily="34" charset="-122"/>
                <a:ea typeface="Microsoft YaHei" panose="020B0503020204020204" pitchFamily="34" charset="-122"/>
              </a:rPr>
              <a:t>，本月以来收益率</a:t>
            </a:r>
            <a:r>
              <a:rPr lang="en-US" altLang="zh-CN" sz="1100">
                <a:solidFill>
                  <a:srgbClr val="111111"/>
                </a:solidFill>
                <a:latin typeface="Microsoft YaHei" panose="020B0503020204020204" pitchFamily="34" charset="-122"/>
                <a:ea typeface="Microsoft YaHei" panose="020B0503020204020204" pitchFamily="34" charset="-122"/>
              </a:rPr>
              <a:t>0.54%</a:t>
            </a:r>
            <a:r>
              <a:rPr lang="zh-CN" altLang="en-US" sz="1100">
                <a:solidFill>
                  <a:srgbClr val="111111"/>
                </a:solidFill>
                <a:latin typeface="Microsoft YaHei" panose="020B0503020204020204" pitchFamily="34" charset="-122"/>
                <a:ea typeface="Microsoft YaHei" panose="020B0503020204020204" pitchFamily="34" charset="-122"/>
              </a:rPr>
              <a:t>。月末最后一周，央行开始净投放资金，且隔夜回购利率低于市场预期，资金面预期转松，资金利率下行，债市收益率逐渐下行。</a:t>
            </a:r>
          </a:p>
        </p:txBody>
      </p:sp>
      <p:pic>
        <p:nvPicPr>
          <p:cNvPr id="19" name="图片 18">
            <a:extLst>
              <a:ext uri="{FF2B5EF4-FFF2-40B4-BE49-F238E27FC236}">
                <a16:creationId xmlns:a16="http://schemas.microsoft.com/office/drawing/2014/main" id="{5FEA56D5-F2C2-BC31-D628-E989E07CAB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2532" y="1143000"/>
            <a:ext cx="2728686" cy="2238375"/>
          </a:xfrm>
          <a:prstGeom prst="rect">
            <a:avLst/>
          </a:prstGeom>
        </p:spPr>
      </p:pic>
      <p:pic>
        <p:nvPicPr>
          <p:cNvPr id="21" name="图片 20">
            <a:extLst>
              <a:ext uri="{FF2B5EF4-FFF2-40B4-BE49-F238E27FC236}">
                <a16:creationId xmlns:a16="http://schemas.microsoft.com/office/drawing/2014/main" id="{AAA37482-F06D-BDB4-148F-22FE9FF776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92243" y="3667125"/>
            <a:ext cx="2597263" cy="2143125"/>
          </a:xfrm>
          <a:prstGeom prst="rect">
            <a:avLst/>
          </a:prstGeom>
        </p:spPr>
      </p:pic>
      <p:pic>
        <p:nvPicPr>
          <p:cNvPr id="23" name="图片 22">
            <a:extLst>
              <a:ext uri="{FF2B5EF4-FFF2-40B4-BE49-F238E27FC236}">
                <a16:creationId xmlns:a16="http://schemas.microsoft.com/office/drawing/2014/main" id="{FFF3FE4E-A8FE-6BAE-BA94-8B6BD31340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3892815"/>
            <a:ext cx="5238750" cy="1691745"/>
          </a:xfrm>
          <a:prstGeom prst="rect">
            <a:avLst/>
          </a:prstGeom>
        </p:spPr>
      </p:pic>
    </p:spTree>
    <p:custDataLst>
      <p:tags r:id="rId1"/>
    </p:custDataLst>
    <p:extLst>
      <p:ext uri="{BB962C8B-B14F-4D97-AF65-F5344CB8AC3E}">
        <p14:creationId xmlns:p14="http://schemas.microsoft.com/office/powerpoint/2010/main" val="2346902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今年以来资产配置回顾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7</a:t>
            </a:fld>
            <a:endParaRPr lang="zh-CN" altLang="en-US" dirty="0"/>
          </a:p>
        </p:txBody>
      </p:sp>
      <p:sp>
        <p:nvSpPr>
          <p:cNvPr id="5" name="文本占位符 4">
            <a:extLst>
              <a:ext uri="{FF2B5EF4-FFF2-40B4-BE49-F238E27FC236}">
                <a16:creationId xmlns:a16="http://schemas.microsoft.com/office/drawing/2014/main" id="{C05E302E-353E-4846-ECD1-FC7EC23BEB09}"/>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3AE4F1A9-EED2-7281-2FFC-58B1354240A9}"/>
              </a:ext>
            </a:extLst>
          </p:cNvPr>
          <p:cNvSpPr/>
          <p:nvPr/>
        </p:nvSpPr>
        <p:spPr>
          <a:xfrm>
            <a:off x="571500" y="1162050"/>
            <a:ext cx="10763250" cy="17145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3DA0DD26-6079-A755-7CDE-C232F8F4B457}"/>
              </a:ext>
            </a:extLst>
          </p:cNvPr>
          <p:cNvSpPr/>
          <p:nvPr/>
        </p:nvSpPr>
        <p:spPr>
          <a:xfrm>
            <a:off x="742950" y="13335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39E155BF-B5A7-68D8-2141-9A3EE1ACFDB0}"/>
              </a:ext>
            </a:extLst>
          </p:cNvPr>
          <p:cNvSpPr txBox="1"/>
          <p:nvPr/>
        </p:nvSpPr>
        <p:spPr>
          <a:xfrm>
            <a:off x="971550" y="12763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持仓变动，穿透来看</a:t>
            </a:r>
          </a:p>
        </p:txBody>
      </p:sp>
      <p:sp>
        <p:nvSpPr>
          <p:cNvPr id="14" name="椭圆 13">
            <a:extLst>
              <a:ext uri="{FF2B5EF4-FFF2-40B4-BE49-F238E27FC236}">
                <a16:creationId xmlns:a16="http://schemas.microsoft.com/office/drawing/2014/main" id="{8634464F-91DA-512F-0E94-24A0D5539E79}"/>
              </a:ext>
            </a:extLst>
          </p:cNvPr>
          <p:cNvSpPr/>
          <p:nvPr/>
        </p:nvSpPr>
        <p:spPr>
          <a:xfrm>
            <a:off x="742950" y="16383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4639191D-ED19-D1B7-B203-43D3E883ADE4}"/>
              </a:ext>
            </a:extLst>
          </p:cNvPr>
          <p:cNvSpPr txBox="1"/>
          <p:nvPr/>
        </p:nvSpPr>
        <p:spPr>
          <a:xfrm>
            <a:off x="971550" y="15811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组合初始权益类资产仓位约</a:t>
            </a:r>
            <a:r>
              <a:rPr lang="en-US" altLang="zh-CN" sz="1200">
                <a:solidFill>
                  <a:srgbClr val="111111"/>
                </a:solidFill>
                <a:latin typeface="Microsoft YaHei" panose="020B0503020204020204" pitchFamily="34" charset="-122"/>
                <a:ea typeface="Microsoft YaHei" panose="020B0503020204020204" pitchFamily="34" charset="-122"/>
              </a:rPr>
              <a:t>15.65%</a:t>
            </a:r>
            <a:r>
              <a:rPr lang="zh-CN" altLang="en-US" sz="1200">
                <a:solidFill>
                  <a:srgbClr val="111111"/>
                </a:solidFill>
                <a:latin typeface="Microsoft YaHei" panose="020B0503020204020204" pitchFamily="34" charset="-122"/>
                <a:ea typeface="Microsoft YaHei" panose="020B0503020204020204" pitchFamily="34" charset="-122"/>
              </a:rPr>
              <a:t>，报告期间在</a:t>
            </a:r>
            <a:r>
              <a:rPr lang="en-US" altLang="zh-CN" sz="1200">
                <a:solidFill>
                  <a:srgbClr val="111111"/>
                </a:solidFill>
                <a:latin typeface="Microsoft YaHei" panose="020B0503020204020204" pitchFamily="34" charset="-122"/>
                <a:ea typeface="Microsoft YaHei" panose="020B0503020204020204" pitchFamily="34" charset="-122"/>
              </a:rPr>
              <a:t>【15.65%</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19.30%】</a:t>
            </a:r>
            <a:r>
              <a:rPr lang="zh-CN" altLang="en-US" sz="1200">
                <a:solidFill>
                  <a:srgbClr val="111111"/>
                </a:solidFill>
                <a:latin typeface="Microsoft YaHei" panose="020B0503020204020204" pitchFamily="34" charset="-122"/>
                <a:ea typeface="Microsoft YaHei" panose="020B0503020204020204" pitchFamily="34" charset="-122"/>
              </a:rPr>
              <a:t>波动，期末收于</a:t>
            </a:r>
            <a:r>
              <a:rPr lang="en-US" altLang="zh-CN" sz="1200">
                <a:solidFill>
                  <a:srgbClr val="111111"/>
                </a:solidFill>
                <a:latin typeface="Microsoft YaHei" panose="020B0503020204020204" pitchFamily="34" charset="-122"/>
                <a:ea typeface="Microsoft YaHei" panose="020B0503020204020204" pitchFamily="34" charset="-122"/>
              </a:rPr>
              <a:t>17.05%</a:t>
            </a:r>
            <a:endParaRPr lang="zh-CN" altLang="en-US" sz="1200">
              <a:solidFill>
                <a:srgbClr val="111111"/>
              </a:solidFill>
              <a:latin typeface="Microsoft YaHei" panose="020B0503020204020204" pitchFamily="34" charset="-122"/>
              <a:ea typeface="Microsoft YaHei" panose="020B0503020204020204" pitchFamily="34" charset="-122"/>
            </a:endParaRPr>
          </a:p>
        </p:txBody>
      </p:sp>
      <p:sp>
        <p:nvSpPr>
          <p:cNvPr id="16" name="椭圆 15">
            <a:extLst>
              <a:ext uri="{FF2B5EF4-FFF2-40B4-BE49-F238E27FC236}">
                <a16:creationId xmlns:a16="http://schemas.microsoft.com/office/drawing/2014/main" id="{B104FAAD-84D8-BB41-1346-D64D9B69947E}"/>
              </a:ext>
            </a:extLst>
          </p:cNvPr>
          <p:cNvSpPr/>
          <p:nvPr/>
        </p:nvSpPr>
        <p:spPr>
          <a:xfrm>
            <a:off x="742950" y="19431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1AF4728-669E-AD1D-D09C-7CBF36F0F4BB}"/>
              </a:ext>
            </a:extLst>
          </p:cNvPr>
          <p:cNvSpPr txBox="1"/>
          <p:nvPr/>
        </p:nvSpPr>
        <p:spPr>
          <a:xfrm>
            <a:off x="971550" y="18859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组合初始市值类固收资产仓位约</a:t>
            </a:r>
            <a:r>
              <a:rPr lang="en-US" altLang="zh-CN" sz="1200">
                <a:solidFill>
                  <a:srgbClr val="111111"/>
                </a:solidFill>
                <a:latin typeface="Microsoft YaHei" panose="020B0503020204020204" pitchFamily="34" charset="-122"/>
                <a:ea typeface="Microsoft YaHei" panose="020B0503020204020204" pitchFamily="34" charset="-122"/>
              </a:rPr>
              <a:t>59.20%</a:t>
            </a:r>
            <a:r>
              <a:rPr lang="zh-CN" altLang="en-US" sz="1200">
                <a:solidFill>
                  <a:srgbClr val="111111"/>
                </a:solidFill>
                <a:latin typeface="Microsoft YaHei" panose="020B0503020204020204" pitchFamily="34" charset="-122"/>
                <a:ea typeface="Microsoft YaHei" panose="020B0503020204020204" pitchFamily="34" charset="-122"/>
              </a:rPr>
              <a:t>，报告期间在</a:t>
            </a:r>
            <a:r>
              <a:rPr lang="en-US" altLang="zh-CN" sz="1200">
                <a:solidFill>
                  <a:srgbClr val="111111"/>
                </a:solidFill>
                <a:latin typeface="Microsoft YaHei" panose="020B0503020204020204" pitchFamily="34" charset="-122"/>
                <a:ea typeface="Microsoft YaHei" panose="020B0503020204020204" pitchFamily="34" charset="-122"/>
              </a:rPr>
              <a:t>【55.99%</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63.38%】</a:t>
            </a:r>
            <a:r>
              <a:rPr lang="zh-CN" altLang="en-US" sz="1200">
                <a:solidFill>
                  <a:srgbClr val="111111"/>
                </a:solidFill>
                <a:latin typeface="Microsoft YaHei" panose="020B0503020204020204" pitchFamily="34" charset="-122"/>
                <a:ea typeface="Microsoft YaHei" panose="020B0503020204020204" pitchFamily="34" charset="-122"/>
              </a:rPr>
              <a:t>波动，期末收于</a:t>
            </a:r>
            <a:r>
              <a:rPr lang="en-US" altLang="zh-CN" sz="1200">
                <a:solidFill>
                  <a:srgbClr val="111111"/>
                </a:solidFill>
                <a:latin typeface="Microsoft YaHei" panose="020B0503020204020204" pitchFamily="34" charset="-122"/>
                <a:ea typeface="Microsoft YaHei" panose="020B0503020204020204" pitchFamily="34" charset="-122"/>
              </a:rPr>
              <a:t>55.99%</a:t>
            </a:r>
            <a:endParaRPr lang="zh-CN" altLang="en-US" sz="1200">
              <a:solidFill>
                <a:srgbClr val="111111"/>
              </a:solidFill>
              <a:latin typeface="Microsoft YaHei" panose="020B0503020204020204" pitchFamily="34" charset="-122"/>
              <a:ea typeface="Microsoft YaHei" panose="020B0503020204020204" pitchFamily="34" charset="-122"/>
            </a:endParaRPr>
          </a:p>
        </p:txBody>
      </p:sp>
      <p:sp>
        <p:nvSpPr>
          <p:cNvPr id="18" name="椭圆 17">
            <a:extLst>
              <a:ext uri="{FF2B5EF4-FFF2-40B4-BE49-F238E27FC236}">
                <a16:creationId xmlns:a16="http://schemas.microsoft.com/office/drawing/2014/main" id="{4EFC9579-BBA9-1A93-C109-5A2739E2E43E}"/>
              </a:ext>
            </a:extLst>
          </p:cNvPr>
          <p:cNvSpPr/>
          <p:nvPr/>
        </p:nvSpPr>
        <p:spPr>
          <a:xfrm>
            <a:off x="742950" y="22479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138A73AA-CDCC-81C5-7C5B-4B11A4C1FB29}"/>
              </a:ext>
            </a:extLst>
          </p:cNvPr>
          <p:cNvSpPr txBox="1"/>
          <p:nvPr/>
        </p:nvSpPr>
        <p:spPr>
          <a:xfrm>
            <a:off x="971550" y="21907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组合初始成本类固收资产仓位约</a:t>
            </a:r>
            <a:r>
              <a:rPr lang="en-US" altLang="zh-CN" sz="1200">
                <a:solidFill>
                  <a:srgbClr val="111111"/>
                </a:solidFill>
                <a:latin typeface="Microsoft YaHei" panose="020B0503020204020204" pitchFamily="34" charset="-122"/>
                <a:ea typeface="Microsoft YaHei" panose="020B0503020204020204" pitchFamily="34" charset="-122"/>
              </a:rPr>
              <a:t>29.51%</a:t>
            </a:r>
            <a:r>
              <a:rPr lang="zh-CN" altLang="en-US" sz="1200">
                <a:solidFill>
                  <a:srgbClr val="111111"/>
                </a:solidFill>
                <a:latin typeface="Microsoft YaHei" panose="020B0503020204020204" pitchFamily="34" charset="-122"/>
                <a:ea typeface="Microsoft YaHei" panose="020B0503020204020204" pitchFamily="34" charset="-122"/>
              </a:rPr>
              <a:t>，报告期间在</a:t>
            </a:r>
            <a:r>
              <a:rPr lang="en-US" altLang="zh-CN" sz="1200">
                <a:solidFill>
                  <a:srgbClr val="111111"/>
                </a:solidFill>
                <a:latin typeface="Microsoft YaHei" panose="020B0503020204020204" pitchFamily="34" charset="-122"/>
                <a:ea typeface="Microsoft YaHei" panose="020B0503020204020204" pitchFamily="34" charset="-122"/>
              </a:rPr>
              <a:t>【27.73%</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30.47%】</a:t>
            </a:r>
            <a:r>
              <a:rPr lang="zh-CN" altLang="en-US" sz="1200">
                <a:solidFill>
                  <a:srgbClr val="111111"/>
                </a:solidFill>
                <a:latin typeface="Microsoft YaHei" panose="020B0503020204020204" pitchFamily="34" charset="-122"/>
                <a:ea typeface="Microsoft YaHei" panose="020B0503020204020204" pitchFamily="34" charset="-122"/>
              </a:rPr>
              <a:t>波动，期末收于</a:t>
            </a:r>
            <a:r>
              <a:rPr lang="en-US" altLang="zh-CN" sz="1200">
                <a:solidFill>
                  <a:srgbClr val="111111"/>
                </a:solidFill>
                <a:latin typeface="Microsoft YaHei" panose="020B0503020204020204" pitchFamily="34" charset="-122"/>
                <a:ea typeface="Microsoft YaHei" panose="020B0503020204020204" pitchFamily="34" charset="-122"/>
              </a:rPr>
              <a:t>28.09%</a:t>
            </a:r>
            <a:endParaRPr lang="zh-CN" altLang="en-US" sz="1200">
              <a:solidFill>
                <a:srgbClr val="111111"/>
              </a:solidFill>
              <a:latin typeface="Microsoft YaHei" panose="020B0503020204020204" pitchFamily="34" charset="-122"/>
              <a:ea typeface="Microsoft YaHei" panose="020B0503020204020204" pitchFamily="34" charset="-122"/>
            </a:endParaRPr>
          </a:p>
        </p:txBody>
      </p:sp>
      <p:sp>
        <p:nvSpPr>
          <p:cNvPr id="20" name="椭圆 19">
            <a:extLst>
              <a:ext uri="{FF2B5EF4-FFF2-40B4-BE49-F238E27FC236}">
                <a16:creationId xmlns:a16="http://schemas.microsoft.com/office/drawing/2014/main" id="{877C2647-7FFB-5B92-A826-C7C3C054BDF9}"/>
              </a:ext>
            </a:extLst>
          </p:cNvPr>
          <p:cNvSpPr/>
          <p:nvPr/>
        </p:nvSpPr>
        <p:spPr>
          <a:xfrm>
            <a:off x="742950" y="25527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D69EAE4-2D49-1E53-5E69-AEBCB8A0A5FC}"/>
              </a:ext>
            </a:extLst>
          </p:cNvPr>
          <p:cNvSpPr txBox="1"/>
          <p:nvPr/>
        </p:nvSpPr>
        <p:spPr>
          <a:xfrm>
            <a:off x="971550" y="24955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组合初始流动性资产资产仓位约</a:t>
            </a:r>
            <a:r>
              <a:rPr lang="en-US" altLang="zh-CN" sz="1200">
                <a:solidFill>
                  <a:srgbClr val="111111"/>
                </a:solidFill>
                <a:latin typeface="Microsoft YaHei" panose="020B0503020204020204" pitchFamily="34" charset="-122"/>
                <a:ea typeface="Microsoft YaHei" panose="020B0503020204020204" pitchFamily="34" charset="-122"/>
              </a:rPr>
              <a:t>7.87%</a:t>
            </a:r>
            <a:r>
              <a:rPr lang="zh-CN" altLang="en-US" sz="1200">
                <a:solidFill>
                  <a:srgbClr val="111111"/>
                </a:solidFill>
                <a:latin typeface="Microsoft YaHei" panose="020B0503020204020204" pitchFamily="34" charset="-122"/>
                <a:ea typeface="Microsoft YaHei" panose="020B0503020204020204" pitchFamily="34" charset="-122"/>
              </a:rPr>
              <a:t>，报告期间在</a:t>
            </a:r>
            <a:r>
              <a:rPr lang="en-US" altLang="zh-CN" sz="1200">
                <a:solidFill>
                  <a:srgbClr val="111111"/>
                </a:solidFill>
                <a:latin typeface="Microsoft YaHei" panose="020B0503020204020204" pitchFamily="34" charset="-122"/>
                <a:ea typeface="Microsoft YaHei" panose="020B0503020204020204" pitchFamily="34" charset="-122"/>
              </a:rPr>
              <a:t>【5.42%</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9.95%】</a:t>
            </a:r>
            <a:r>
              <a:rPr lang="zh-CN" altLang="en-US" sz="1200">
                <a:solidFill>
                  <a:srgbClr val="111111"/>
                </a:solidFill>
                <a:latin typeface="Microsoft YaHei" panose="020B0503020204020204" pitchFamily="34" charset="-122"/>
                <a:ea typeface="Microsoft YaHei" panose="020B0503020204020204" pitchFamily="34" charset="-122"/>
              </a:rPr>
              <a:t>波动，期末收于</a:t>
            </a:r>
            <a:r>
              <a:rPr lang="en-US" altLang="zh-CN" sz="1200">
                <a:solidFill>
                  <a:srgbClr val="111111"/>
                </a:solidFill>
                <a:latin typeface="Microsoft YaHei" panose="020B0503020204020204" pitchFamily="34" charset="-122"/>
                <a:ea typeface="Microsoft YaHei" panose="020B0503020204020204" pitchFamily="34" charset="-122"/>
              </a:rPr>
              <a:t>7.90%</a:t>
            </a:r>
            <a:endParaRPr lang="zh-CN" altLang="en-US" sz="1200">
              <a:solidFill>
                <a:srgbClr val="111111"/>
              </a:solidFill>
              <a:latin typeface="Microsoft YaHei" panose="020B0503020204020204" pitchFamily="34" charset="-122"/>
              <a:ea typeface="Microsoft YaHei" panose="020B0503020204020204" pitchFamily="34" charset="-122"/>
            </a:endParaRPr>
          </a:p>
        </p:txBody>
      </p:sp>
      <p:pic>
        <p:nvPicPr>
          <p:cNvPr id="23" name="图片 22">
            <a:extLst>
              <a:ext uri="{FF2B5EF4-FFF2-40B4-BE49-F238E27FC236}">
                <a16:creationId xmlns:a16="http://schemas.microsoft.com/office/drawing/2014/main" id="{02270547-7EAF-8C6D-1F72-C2AE38A0A3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818" y="3190875"/>
            <a:ext cx="4942114" cy="2476500"/>
          </a:xfrm>
          <a:prstGeom prst="rect">
            <a:avLst/>
          </a:prstGeom>
        </p:spPr>
      </p:pic>
      <p:pic>
        <p:nvPicPr>
          <p:cNvPr id="25" name="图片 24">
            <a:extLst>
              <a:ext uri="{FF2B5EF4-FFF2-40B4-BE49-F238E27FC236}">
                <a16:creationId xmlns:a16="http://schemas.microsoft.com/office/drawing/2014/main" id="{D89F3E5C-B504-79B3-92DA-095F4359EB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4318" y="3190875"/>
            <a:ext cx="4942114" cy="2476500"/>
          </a:xfrm>
          <a:prstGeom prst="rect">
            <a:avLst/>
          </a:prstGeom>
        </p:spPr>
      </p:pic>
    </p:spTree>
    <p:custDataLst>
      <p:tags r:id="rId1"/>
    </p:custDataLst>
    <p:extLst>
      <p:ext uri="{BB962C8B-B14F-4D97-AF65-F5344CB8AC3E}">
        <p14:creationId xmlns:p14="http://schemas.microsoft.com/office/powerpoint/2010/main" val="344934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02</a:t>
            </a:r>
            <a:endParaRPr lang="zh-CN" altLang="en-US" dirty="0"/>
          </a:p>
        </p:txBody>
      </p:sp>
      <p:sp>
        <p:nvSpPr>
          <p:cNvPr id="11" name="标题 10"/>
          <p:cNvSpPr>
            <a:spLocks noGrp="1"/>
          </p:cNvSpPr>
          <p:nvPr>
            <p:ph type="title"/>
          </p:nvPr>
        </p:nvSpPr>
        <p:spPr/>
        <p:txBody>
          <a:bodyPr>
            <a:normAutofit/>
          </a:bodyPr>
          <a:lstStyle/>
          <a:p>
            <a:r>
              <a:rPr lang="zh-CN" altLang="en-US" sz="2400"/>
              <a:t>投资操作回顾</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t>8</a:t>
            </a:fld>
            <a:endParaRPr lang="de-DE" dirty="0"/>
          </a:p>
        </p:txBody>
      </p:sp>
    </p:spTree>
    <p:custDataLst>
      <p:tags r:id="rId1"/>
    </p:custDataLst>
    <p:extLst>
      <p:ext uri="{BB962C8B-B14F-4D97-AF65-F5344CB8AC3E}">
        <p14:creationId xmlns:p14="http://schemas.microsoft.com/office/powerpoint/2010/main" val="3627086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组合固收投资回顾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9</a:t>
            </a:fld>
            <a:endParaRPr lang="zh-CN" altLang="en-US" dirty="0"/>
          </a:p>
        </p:txBody>
      </p:sp>
      <p:sp>
        <p:nvSpPr>
          <p:cNvPr id="5" name="文本占位符 4">
            <a:extLst>
              <a:ext uri="{FF2B5EF4-FFF2-40B4-BE49-F238E27FC236}">
                <a16:creationId xmlns:a16="http://schemas.microsoft.com/office/drawing/2014/main" id="{6A204739-F8FC-0F04-AC2C-43C27FB50B3A}"/>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CCB416AF-2C01-908D-35DD-8BF43E8DBDB5}"/>
              </a:ext>
            </a:extLst>
          </p:cNvPr>
          <p:cNvSpPr/>
          <p:nvPr/>
        </p:nvSpPr>
        <p:spPr>
          <a:xfrm>
            <a:off x="571500" y="1162050"/>
            <a:ext cx="10763250" cy="17145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0E5BD593-6FA0-E595-5196-2384469DB41D}"/>
              </a:ext>
            </a:extLst>
          </p:cNvPr>
          <p:cNvSpPr/>
          <p:nvPr/>
        </p:nvSpPr>
        <p:spPr>
          <a:xfrm>
            <a:off x="742950" y="13335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880BB4A-D397-B728-5934-856B983D6433}"/>
              </a:ext>
            </a:extLst>
          </p:cNvPr>
          <p:cNvSpPr txBox="1"/>
          <p:nvPr/>
        </p:nvSpPr>
        <p:spPr>
          <a:xfrm>
            <a:off x="971550" y="12763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组合穿透后持仓债券久期为</a:t>
            </a:r>
            <a:r>
              <a:rPr lang="en-US" altLang="zh-CN" sz="1200">
                <a:solidFill>
                  <a:srgbClr val="111111"/>
                </a:solidFill>
                <a:latin typeface="Microsoft YaHei" panose="020B0503020204020204" pitchFamily="34" charset="-122"/>
                <a:ea typeface="Microsoft YaHei" panose="020B0503020204020204" pitchFamily="34" charset="-122"/>
              </a:rPr>
              <a:t>1.45</a:t>
            </a:r>
            <a:r>
              <a:rPr lang="zh-CN" altLang="en-US" sz="1200">
                <a:solidFill>
                  <a:srgbClr val="111111"/>
                </a:solidFill>
                <a:latin typeface="Microsoft YaHei" panose="020B0503020204020204" pitchFamily="34" charset="-122"/>
                <a:ea typeface="Microsoft YaHei" panose="020B0503020204020204" pitchFamily="34" charset="-122"/>
              </a:rPr>
              <a:t>年，穿透层面下杠杆比率</a:t>
            </a:r>
            <a:r>
              <a:rPr lang="en-US" altLang="zh-CN" sz="1200">
                <a:solidFill>
                  <a:srgbClr val="111111"/>
                </a:solidFill>
                <a:latin typeface="Microsoft YaHei" panose="020B0503020204020204" pitchFamily="34" charset="-122"/>
                <a:ea typeface="Microsoft YaHei" panose="020B0503020204020204" pitchFamily="34" charset="-122"/>
              </a:rPr>
              <a:t>109.05%</a:t>
            </a:r>
            <a:r>
              <a:rPr lang="zh-CN" altLang="en-US" sz="12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F1946B7E-9D15-74DF-3410-1C24F7D5EBCC}"/>
              </a:ext>
            </a:extLst>
          </p:cNvPr>
          <p:cNvSpPr/>
          <p:nvPr/>
        </p:nvSpPr>
        <p:spPr>
          <a:xfrm>
            <a:off x="742950" y="16383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CE4E975-5A5C-5509-71E1-5D56B1B9A17F}"/>
              </a:ext>
            </a:extLst>
          </p:cNvPr>
          <p:cNvSpPr txBox="1"/>
          <p:nvPr/>
        </p:nvSpPr>
        <p:spPr>
          <a:xfrm>
            <a:off x="971550" y="15811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穿透后，成本计价类资产方面，主要以私募债（</a:t>
            </a:r>
            <a:r>
              <a:rPr lang="en-US" altLang="zh-CN" sz="1200">
                <a:solidFill>
                  <a:srgbClr val="111111"/>
                </a:solidFill>
                <a:latin typeface="Microsoft YaHei" panose="020B0503020204020204" pitchFamily="34" charset="-122"/>
                <a:ea typeface="Microsoft YaHei" panose="020B0503020204020204" pitchFamily="34" charset="-122"/>
              </a:rPr>
              <a:t>20.94%</a:t>
            </a:r>
            <a:r>
              <a:rPr lang="zh-CN" altLang="en-US" sz="1200">
                <a:solidFill>
                  <a:srgbClr val="111111"/>
                </a:solidFill>
                <a:latin typeface="Microsoft YaHei" panose="020B0503020204020204" pitchFamily="34" charset="-122"/>
                <a:ea typeface="Microsoft YaHei" panose="020B0503020204020204" pitchFamily="34" charset="-122"/>
              </a:rPr>
              <a:t>）和</a:t>
            </a:r>
            <a:r>
              <a:rPr lang="en-US" altLang="zh-CN" sz="1200">
                <a:solidFill>
                  <a:srgbClr val="111111"/>
                </a:solidFill>
                <a:latin typeface="Microsoft YaHei" panose="020B0503020204020204" pitchFamily="34" charset="-122"/>
                <a:ea typeface="Microsoft YaHei" panose="020B0503020204020204" pitchFamily="34" charset="-122"/>
              </a:rPr>
              <a:t>PPN</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5.07%</a:t>
            </a:r>
            <a:r>
              <a:rPr lang="zh-CN" altLang="en-US" sz="1200">
                <a:solidFill>
                  <a:srgbClr val="111111"/>
                </a:solidFill>
                <a:latin typeface="Microsoft YaHei" panose="020B0503020204020204" pitchFamily="34" charset="-122"/>
                <a:ea typeface="Microsoft YaHei" panose="020B0503020204020204" pitchFamily="34" charset="-122"/>
              </a:rPr>
              <a:t>）为主</a:t>
            </a:r>
          </a:p>
        </p:txBody>
      </p:sp>
      <p:sp>
        <p:nvSpPr>
          <p:cNvPr id="16" name="椭圆 15">
            <a:extLst>
              <a:ext uri="{FF2B5EF4-FFF2-40B4-BE49-F238E27FC236}">
                <a16:creationId xmlns:a16="http://schemas.microsoft.com/office/drawing/2014/main" id="{F7F4BE0F-80FA-51AF-0C67-4DB1F93214E4}"/>
              </a:ext>
            </a:extLst>
          </p:cNvPr>
          <p:cNvSpPr/>
          <p:nvPr/>
        </p:nvSpPr>
        <p:spPr>
          <a:xfrm>
            <a:off x="742950" y="19431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9906952-4FC7-D0CF-1B9A-88F6517B5A87}"/>
              </a:ext>
            </a:extLst>
          </p:cNvPr>
          <p:cNvSpPr txBox="1"/>
          <p:nvPr/>
        </p:nvSpPr>
        <p:spPr>
          <a:xfrm>
            <a:off x="971550" y="18859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穿透后，市值计价类资产方面，主要以中期票据（</a:t>
            </a:r>
            <a:r>
              <a:rPr lang="en-US" altLang="zh-CN" sz="1200">
                <a:solidFill>
                  <a:srgbClr val="111111"/>
                </a:solidFill>
                <a:latin typeface="Microsoft YaHei" panose="020B0503020204020204" pitchFamily="34" charset="-122"/>
                <a:ea typeface="Microsoft YaHei" panose="020B0503020204020204" pitchFamily="34" charset="-122"/>
              </a:rPr>
              <a:t>22.65%</a:t>
            </a:r>
            <a:r>
              <a:rPr lang="zh-CN" altLang="en-US" sz="1200">
                <a:solidFill>
                  <a:srgbClr val="111111"/>
                </a:solidFill>
                <a:latin typeface="Microsoft YaHei" panose="020B0503020204020204" pitchFamily="34" charset="-122"/>
                <a:ea typeface="Microsoft YaHei" panose="020B0503020204020204" pitchFamily="34" charset="-122"/>
              </a:rPr>
              <a:t>）和公司债（</a:t>
            </a:r>
            <a:r>
              <a:rPr lang="en-US" altLang="zh-CN" sz="1200">
                <a:solidFill>
                  <a:srgbClr val="111111"/>
                </a:solidFill>
                <a:latin typeface="Microsoft YaHei" panose="020B0503020204020204" pitchFamily="34" charset="-122"/>
                <a:ea typeface="Microsoft YaHei" panose="020B0503020204020204" pitchFamily="34" charset="-122"/>
              </a:rPr>
              <a:t>16.38%</a:t>
            </a:r>
            <a:r>
              <a:rPr lang="zh-CN" altLang="en-US" sz="1200">
                <a:solidFill>
                  <a:srgbClr val="111111"/>
                </a:solidFill>
                <a:latin typeface="Microsoft YaHei" panose="020B0503020204020204" pitchFamily="34" charset="-122"/>
                <a:ea typeface="Microsoft YaHei" panose="020B0503020204020204" pitchFamily="34" charset="-122"/>
              </a:rPr>
              <a:t>）为主</a:t>
            </a:r>
          </a:p>
        </p:txBody>
      </p:sp>
      <p:sp>
        <p:nvSpPr>
          <p:cNvPr id="18" name="椭圆 17">
            <a:extLst>
              <a:ext uri="{FF2B5EF4-FFF2-40B4-BE49-F238E27FC236}">
                <a16:creationId xmlns:a16="http://schemas.microsoft.com/office/drawing/2014/main" id="{EDCAB7F6-9915-C6CB-03B1-9C262725899A}"/>
              </a:ext>
            </a:extLst>
          </p:cNvPr>
          <p:cNvSpPr/>
          <p:nvPr/>
        </p:nvSpPr>
        <p:spPr>
          <a:xfrm>
            <a:off x="742950" y="22479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0BC17AAB-D5C6-D6D4-5CEC-70BF8B6A49F3}"/>
              </a:ext>
            </a:extLst>
          </p:cNvPr>
          <p:cNvSpPr txBox="1"/>
          <p:nvPr/>
        </p:nvSpPr>
        <p:spPr>
          <a:xfrm>
            <a:off x="971550" y="2190750"/>
            <a:ext cx="10210800" cy="369332"/>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固收方面，组合以直接投资与配置国泰内部的国泰固收型和混合型养老金作为主要投资方式。直接持仓主要包括中期票据、公司债、私募债。主要增持私募债券，减持</a:t>
            </a:r>
            <a:r>
              <a:rPr lang="en-US" altLang="zh-CN" sz="1200">
                <a:solidFill>
                  <a:srgbClr val="111111"/>
                </a:solidFill>
                <a:latin typeface="Microsoft YaHei" panose="020B0503020204020204" pitchFamily="34" charset="-122"/>
                <a:ea typeface="Microsoft YaHei" panose="020B0503020204020204" pitchFamily="34" charset="-122"/>
              </a:rPr>
              <a:t>PPN</a:t>
            </a:r>
            <a:r>
              <a:rPr lang="zh-CN" altLang="en-US" sz="1200">
                <a:solidFill>
                  <a:srgbClr val="111111"/>
                </a:solidFill>
                <a:latin typeface="Microsoft YaHei" panose="020B0503020204020204" pitchFamily="34" charset="-122"/>
                <a:ea typeface="Microsoft YaHei" panose="020B0503020204020204" pitchFamily="34" charset="-122"/>
              </a:rPr>
              <a:t>；产品配置方面，无养老金增持，减持国泰金色年华固定收益型养老金产品。</a:t>
            </a:r>
          </a:p>
        </p:txBody>
      </p:sp>
      <p:pic>
        <p:nvPicPr>
          <p:cNvPr id="21" name="图片 20">
            <a:extLst>
              <a:ext uri="{FF2B5EF4-FFF2-40B4-BE49-F238E27FC236}">
                <a16:creationId xmlns:a16="http://schemas.microsoft.com/office/drawing/2014/main" id="{EFDAC330-B1FD-5F29-FA2A-AA0482679D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5398" y="3190875"/>
            <a:ext cx="3810955" cy="2476500"/>
          </a:xfrm>
          <a:prstGeom prst="rect">
            <a:avLst/>
          </a:prstGeom>
        </p:spPr>
      </p:pic>
      <p:pic>
        <p:nvPicPr>
          <p:cNvPr id="23" name="图片 22">
            <a:extLst>
              <a:ext uri="{FF2B5EF4-FFF2-40B4-BE49-F238E27FC236}">
                <a16:creationId xmlns:a16="http://schemas.microsoft.com/office/drawing/2014/main" id="{9C425AF5-E527-8C20-DF54-7C8D7ECB41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09898" y="3190875"/>
            <a:ext cx="3810955" cy="2476500"/>
          </a:xfrm>
          <a:prstGeom prst="rect">
            <a:avLst/>
          </a:prstGeom>
        </p:spPr>
      </p:pic>
    </p:spTree>
    <p:custDataLst>
      <p:tags r:id="rId1"/>
    </p:custDataLst>
    <p:extLst>
      <p:ext uri="{BB962C8B-B14F-4D97-AF65-F5344CB8AC3E}">
        <p14:creationId xmlns:p14="http://schemas.microsoft.com/office/powerpoint/2010/main" val="3997470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组合固收投资回顾（</a:t>
            </a:r>
            <a:r>
              <a:rPr lang="en-US" altLang="zh-CN"/>
              <a:t>2</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10</a:t>
            </a:fld>
            <a:endParaRPr lang="zh-CN" altLang="en-US" dirty="0"/>
          </a:p>
        </p:txBody>
      </p:sp>
      <p:sp>
        <p:nvSpPr>
          <p:cNvPr id="8" name="矩形 7">
            <a:extLst>
              <a:ext uri="{FF2B5EF4-FFF2-40B4-BE49-F238E27FC236}">
                <a16:creationId xmlns:a16="http://schemas.microsoft.com/office/drawing/2014/main" id="{68B73313-4252-87F8-AE81-D34739738D3E}"/>
              </a:ext>
            </a:extLst>
          </p:cNvPr>
          <p:cNvSpPr/>
          <p:nvPr/>
        </p:nvSpPr>
        <p:spPr>
          <a:xfrm>
            <a:off x="571500" y="1162050"/>
            <a:ext cx="10763250" cy="1095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D99C80F8-DD26-93B3-41D3-79F8A11F4515}"/>
              </a:ext>
            </a:extLst>
          </p:cNvPr>
          <p:cNvSpPr/>
          <p:nvPr/>
        </p:nvSpPr>
        <p:spPr>
          <a:xfrm>
            <a:off x="742950" y="13335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40F7E7FE-83F0-3500-93B6-F68E0CEE379B}"/>
              </a:ext>
            </a:extLst>
          </p:cNvPr>
          <p:cNvSpPr txBox="1"/>
          <p:nvPr/>
        </p:nvSpPr>
        <p:spPr>
          <a:xfrm>
            <a:off x="971550" y="1276350"/>
            <a:ext cx="10210800" cy="184666"/>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截至</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03</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31</a:t>
            </a:r>
            <a:r>
              <a:rPr lang="zh-CN" altLang="en-US" sz="1200">
                <a:solidFill>
                  <a:srgbClr val="111111"/>
                </a:solidFill>
                <a:latin typeface="Microsoft YaHei" panose="020B0503020204020204" pitchFamily="34" charset="-122"/>
                <a:ea typeface="Microsoft YaHei" panose="020B0503020204020204" pitchFamily="34" charset="-122"/>
              </a:rPr>
              <a:t>日，固收资产</a:t>
            </a:r>
            <a:r>
              <a:rPr lang="en-US" altLang="zh-CN" sz="1200">
                <a:solidFill>
                  <a:srgbClr val="111111"/>
                </a:solidFill>
                <a:latin typeface="Microsoft YaHei" panose="020B0503020204020204" pitchFamily="34" charset="-122"/>
                <a:ea typeface="Microsoft YaHei" panose="020B0503020204020204" pitchFamily="34" charset="-122"/>
              </a:rPr>
              <a:t>YTM</a:t>
            </a:r>
            <a:r>
              <a:rPr lang="zh-CN" altLang="en-US" sz="1200">
                <a:solidFill>
                  <a:srgbClr val="111111"/>
                </a:solidFill>
                <a:latin typeface="Microsoft YaHei" panose="020B0503020204020204" pitchFamily="34" charset="-122"/>
                <a:ea typeface="Microsoft YaHei" panose="020B0503020204020204" pitchFamily="34" charset="-122"/>
              </a:rPr>
              <a:t>为</a:t>
            </a:r>
            <a:r>
              <a:rPr lang="en-US" altLang="zh-CN" sz="1200">
                <a:solidFill>
                  <a:srgbClr val="111111"/>
                </a:solidFill>
                <a:latin typeface="Microsoft YaHei" panose="020B0503020204020204" pitchFamily="34" charset="-122"/>
                <a:ea typeface="Microsoft YaHei" panose="020B0503020204020204" pitchFamily="34" charset="-122"/>
              </a:rPr>
              <a:t>3.59%</a:t>
            </a:r>
            <a:r>
              <a:rPr lang="zh-CN" altLang="en-US" sz="1200">
                <a:solidFill>
                  <a:srgbClr val="111111"/>
                </a:solidFill>
                <a:latin typeface="Microsoft YaHei" panose="020B0503020204020204" pitchFamily="34" charset="-122"/>
                <a:ea typeface="Microsoft YaHei" panose="020B0503020204020204" pitchFamily="34" charset="-122"/>
              </a:rPr>
              <a:t>，其中市值类</a:t>
            </a:r>
            <a:r>
              <a:rPr lang="en-US" altLang="zh-CN" sz="1200">
                <a:solidFill>
                  <a:srgbClr val="111111"/>
                </a:solidFill>
                <a:latin typeface="Microsoft YaHei" panose="020B0503020204020204" pitchFamily="34" charset="-122"/>
                <a:ea typeface="Microsoft YaHei" panose="020B0503020204020204" pitchFamily="34" charset="-122"/>
              </a:rPr>
              <a:t>YTM3.51%</a:t>
            </a:r>
            <a:r>
              <a:rPr lang="zh-CN" altLang="en-US" sz="1200">
                <a:solidFill>
                  <a:srgbClr val="111111"/>
                </a:solidFill>
                <a:latin typeface="Microsoft YaHei" panose="020B0503020204020204" pitchFamily="34" charset="-122"/>
                <a:ea typeface="Microsoft YaHei" panose="020B0503020204020204" pitchFamily="34" charset="-122"/>
              </a:rPr>
              <a:t>，成本类</a:t>
            </a:r>
            <a:r>
              <a:rPr lang="en-US" altLang="zh-CN" sz="1200">
                <a:solidFill>
                  <a:srgbClr val="111111"/>
                </a:solidFill>
                <a:latin typeface="Microsoft YaHei" panose="020B0503020204020204" pitchFamily="34" charset="-122"/>
                <a:ea typeface="Microsoft YaHei" panose="020B0503020204020204" pitchFamily="34" charset="-122"/>
              </a:rPr>
              <a:t>YTM3.73%</a:t>
            </a:r>
            <a:r>
              <a:rPr lang="zh-CN" altLang="en-US" sz="1200">
                <a:solidFill>
                  <a:srgbClr val="111111"/>
                </a:solidFill>
                <a:latin typeface="Microsoft YaHei" panose="020B0503020204020204" pitchFamily="34" charset="-122"/>
                <a:ea typeface="Microsoft YaHei" panose="020B0503020204020204" pitchFamily="34" charset="-122"/>
              </a:rPr>
              <a:t>。久期为</a:t>
            </a:r>
            <a:r>
              <a:rPr lang="en-US" altLang="zh-CN" sz="1200">
                <a:solidFill>
                  <a:srgbClr val="111111"/>
                </a:solidFill>
                <a:latin typeface="Microsoft YaHei" panose="020B0503020204020204" pitchFamily="34" charset="-122"/>
                <a:ea typeface="Microsoft YaHei" panose="020B0503020204020204" pitchFamily="34" charset="-122"/>
              </a:rPr>
              <a:t>1.45</a:t>
            </a:r>
            <a:r>
              <a:rPr lang="zh-CN" altLang="en-US" sz="1200">
                <a:solidFill>
                  <a:srgbClr val="111111"/>
                </a:solidFill>
                <a:latin typeface="Microsoft YaHei" panose="020B0503020204020204" pitchFamily="34" charset="-122"/>
                <a:ea typeface="Microsoft YaHei" panose="020B0503020204020204" pitchFamily="34" charset="-122"/>
              </a:rPr>
              <a:t>，其中市值类久期</a:t>
            </a:r>
            <a:r>
              <a:rPr lang="en-US" altLang="zh-CN" sz="1200">
                <a:solidFill>
                  <a:srgbClr val="111111"/>
                </a:solidFill>
                <a:latin typeface="Microsoft YaHei" panose="020B0503020204020204" pitchFamily="34" charset="-122"/>
                <a:ea typeface="Microsoft YaHei" panose="020B0503020204020204" pitchFamily="34" charset="-122"/>
              </a:rPr>
              <a:t>1.34</a:t>
            </a:r>
            <a:r>
              <a:rPr lang="zh-CN" altLang="en-US" sz="1200">
                <a:solidFill>
                  <a:srgbClr val="111111"/>
                </a:solidFill>
                <a:latin typeface="Microsoft YaHei" panose="020B0503020204020204" pitchFamily="34" charset="-122"/>
                <a:ea typeface="Microsoft YaHei" panose="020B0503020204020204" pitchFamily="34" charset="-122"/>
              </a:rPr>
              <a:t>，成本类久期</a:t>
            </a:r>
            <a:r>
              <a:rPr lang="en-US" altLang="zh-CN" sz="1200">
                <a:solidFill>
                  <a:srgbClr val="111111"/>
                </a:solidFill>
                <a:latin typeface="Microsoft YaHei" panose="020B0503020204020204" pitchFamily="34" charset="-122"/>
                <a:ea typeface="Microsoft YaHei" panose="020B0503020204020204" pitchFamily="34" charset="-122"/>
              </a:rPr>
              <a:t>1.68</a:t>
            </a:r>
            <a:r>
              <a:rPr lang="zh-CN" altLang="en-US" sz="1200">
                <a:solidFill>
                  <a:srgbClr val="111111"/>
                </a:solidFill>
                <a:latin typeface="Microsoft YaHei" panose="020B0503020204020204" pitchFamily="34" charset="-122"/>
                <a:ea typeface="Microsoft YaHei" panose="020B0503020204020204" pitchFamily="34" charset="-122"/>
              </a:rPr>
              <a:t>。</a:t>
            </a:r>
          </a:p>
        </p:txBody>
      </p:sp>
      <p:pic>
        <p:nvPicPr>
          <p:cNvPr id="15" name="图片 14">
            <a:extLst>
              <a:ext uri="{FF2B5EF4-FFF2-40B4-BE49-F238E27FC236}">
                <a16:creationId xmlns:a16="http://schemas.microsoft.com/office/drawing/2014/main" id="{B9B72836-B01C-7397-C8B9-D20DFD48D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 y="2736844"/>
            <a:ext cx="5238750" cy="2765437"/>
          </a:xfrm>
          <a:prstGeom prst="rect">
            <a:avLst/>
          </a:prstGeom>
        </p:spPr>
      </p:pic>
      <p:pic>
        <p:nvPicPr>
          <p:cNvPr id="17" name="图片 16">
            <a:extLst>
              <a:ext uri="{FF2B5EF4-FFF2-40B4-BE49-F238E27FC236}">
                <a16:creationId xmlns:a16="http://schemas.microsoft.com/office/drawing/2014/main" id="{8F01E661-1C38-E218-4D7A-16EBE96C7D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5605" y="2571750"/>
            <a:ext cx="4959540" cy="3095625"/>
          </a:xfrm>
          <a:prstGeom prst="rect">
            <a:avLst/>
          </a:prstGeom>
        </p:spPr>
      </p:pic>
    </p:spTree>
    <p:custDataLst>
      <p:tags r:id="rId1"/>
    </p:custDataLst>
    <p:extLst>
      <p:ext uri="{BB962C8B-B14F-4D97-AF65-F5344CB8AC3E}">
        <p14:creationId xmlns:p14="http://schemas.microsoft.com/office/powerpoint/2010/main" val="3150544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组合固收投资回顾（</a:t>
            </a:r>
            <a:r>
              <a:rPr lang="en-US" altLang="zh-CN"/>
              <a:t>3</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11</a:t>
            </a:fld>
            <a:endParaRPr lang="zh-CN" altLang="en-US" dirty="0"/>
          </a:p>
        </p:txBody>
      </p:sp>
      <p:sp>
        <p:nvSpPr>
          <p:cNvPr id="5" name="文本占位符 4">
            <a:extLst>
              <a:ext uri="{FF2B5EF4-FFF2-40B4-BE49-F238E27FC236}">
                <a16:creationId xmlns:a16="http://schemas.microsoft.com/office/drawing/2014/main" id="{467B4E00-D3F0-C8FC-8FBD-04DC37DF125E}"/>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0B9B881B-D571-964E-EC15-107DC40DB101}"/>
              </a:ext>
            </a:extLst>
          </p:cNvPr>
          <p:cNvSpPr/>
          <p:nvPr/>
        </p:nvSpPr>
        <p:spPr>
          <a:xfrm>
            <a:off x="571500" y="1162050"/>
            <a:ext cx="10763250" cy="1095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B3944E0-9D9D-6EF2-5227-CE3E5322642A}"/>
              </a:ext>
            </a:extLst>
          </p:cNvPr>
          <p:cNvSpPr/>
          <p:nvPr/>
        </p:nvSpPr>
        <p:spPr>
          <a:xfrm>
            <a:off x="742950" y="1333500"/>
            <a:ext cx="95250" cy="9525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898B6A7F-FC42-B183-5EB0-48A3567F929D}"/>
              </a:ext>
            </a:extLst>
          </p:cNvPr>
          <p:cNvSpPr txBox="1"/>
          <p:nvPr/>
        </p:nvSpPr>
        <p:spPr>
          <a:xfrm>
            <a:off x="971550" y="1276350"/>
            <a:ext cx="10210800" cy="369332"/>
          </a:xfrm>
          <a:prstGeom prst="rect">
            <a:avLst/>
          </a:prstGeom>
          <a:noFill/>
        </p:spPr>
        <p:txBody>
          <a:bodyPr vert="horz" wrap="square" lIns="0" tIns="0" rIns="0" bIns="0" rtlCol="0">
            <a:spAutoFit/>
          </a:bodyPr>
          <a:lstStyle/>
          <a:p>
            <a:r>
              <a:rPr lang="zh-CN" altLang="en-US" sz="1200">
                <a:solidFill>
                  <a:srgbClr val="111111"/>
                </a:solidFill>
                <a:latin typeface="Microsoft YaHei" panose="020B0503020204020204" pitchFamily="34" charset="-122"/>
                <a:ea typeface="Microsoft YaHei" panose="020B0503020204020204" pitchFamily="34" charset="-122"/>
              </a:rPr>
              <a:t>截至</a:t>
            </a:r>
            <a:r>
              <a:rPr lang="en-US" altLang="zh-CN" sz="1200">
                <a:solidFill>
                  <a:srgbClr val="111111"/>
                </a:solidFill>
                <a:latin typeface="Microsoft YaHei" panose="020B0503020204020204" pitchFamily="34" charset="-122"/>
                <a:ea typeface="Microsoft YaHei" panose="020B0503020204020204" pitchFamily="34" charset="-122"/>
              </a:rPr>
              <a:t>2023</a:t>
            </a:r>
            <a:r>
              <a:rPr lang="zh-CN" altLang="en-US" sz="1200">
                <a:solidFill>
                  <a:srgbClr val="111111"/>
                </a:solidFill>
                <a:latin typeface="Microsoft YaHei" panose="020B0503020204020204" pitchFamily="34" charset="-122"/>
                <a:ea typeface="Microsoft YaHei" panose="020B0503020204020204" pitchFamily="34" charset="-122"/>
              </a:rPr>
              <a:t>年</a:t>
            </a:r>
            <a:r>
              <a:rPr lang="en-US" altLang="zh-CN" sz="1200">
                <a:solidFill>
                  <a:srgbClr val="111111"/>
                </a:solidFill>
                <a:latin typeface="Microsoft YaHei" panose="020B0503020204020204" pitchFamily="34" charset="-122"/>
                <a:ea typeface="Microsoft YaHei" panose="020B0503020204020204" pitchFamily="34" charset="-122"/>
              </a:rPr>
              <a:t>03</a:t>
            </a:r>
            <a:r>
              <a:rPr lang="zh-CN" altLang="en-US" sz="1200">
                <a:solidFill>
                  <a:srgbClr val="111111"/>
                </a:solidFill>
                <a:latin typeface="Microsoft YaHei" panose="020B0503020204020204" pitchFamily="34" charset="-122"/>
                <a:ea typeface="Microsoft YaHei" panose="020B0503020204020204" pitchFamily="34" charset="-122"/>
              </a:rPr>
              <a:t>月</a:t>
            </a:r>
            <a:r>
              <a:rPr lang="en-US" altLang="zh-CN" sz="1200">
                <a:solidFill>
                  <a:srgbClr val="111111"/>
                </a:solidFill>
                <a:latin typeface="Microsoft YaHei" panose="020B0503020204020204" pitchFamily="34" charset="-122"/>
                <a:ea typeface="Microsoft YaHei" panose="020B0503020204020204" pitchFamily="34" charset="-122"/>
              </a:rPr>
              <a:t>31</a:t>
            </a:r>
            <a:r>
              <a:rPr lang="zh-CN" altLang="en-US" sz="1200">
                <a:solidFill>
                  <a:srgbClr val="111111"/>
                </a:solidFill>
                <a:latin typeface="Microsoft YaHei" panose="020B0503020204020204" pitchFamily="34" charset="-122"/>
                <a:ea typeface="Microsoft YaHei" panose="020B0503020204020204" pitchFamily="34" charset="-122"/>
              </a:rPr>
              <a:t>日，组合信用债持仓为</a:t>
            </a:r>
            <a:r>
              <a:rPr lang="en-US" altLang="zh-CN" sz="1200">
                <a:solidFill>
                  <a:srgbClr val="111111"/>
                </a:solidFill>
                <a:latin typeface="Microsoft YaHei" panose="020B0503020204020204" pitchFamily="34" charset="-122"/>
                <a:ea typeface="Microsoft YaHei" panose="020B0503020204020204" pitchFamily="34" charset="-122"/>
              </a:rPr>
              <a:t>73.21%</a:t>
            </a:r>
            <a:r>
              <a:rPr lang="zh-CN" altLang="en-US" sz="1200">
                <a:solidFill>
                  <a:srgbClr val="111111"/>
                </a:solidFill>
                <a:latin typeface="Microsoft YaHei" panose="020B0503020204020204" pitchFamily="34" charset="-122"/>
                <a:ea typeface="Microsoft YaHei" panose="020B0503020204020204" pitchFamily="34" charset="-122"/>
              </a:rPr>
              <a:t>，其中</a:t>
            </a:r>
            <a:r>
              <a:rPr lang="en-US" altLang="zh-CN" sz="1200">
                <a:solidFill>
                  <a:srgbClr val="111111"/>
                </a:solidFill>
                <a:latin typeface="Microsoft YaHei" panose="020B0503020204020204" pitchFamily="34" charset="-122"/>
                <a:ea typeface="Microsoft YaHei" panose="020B0503020204020204" pitchFamily="34" charset="-122"/>
              </a:rPr>
              <a:t>AAA</a:t>
            </a:r>
            <a:r>
              <a:rPr lang="zh-CN" altLang="en-US" sz="1200">
                <a:solidFill>
                  <a:srgbClr val="111111"/>
                </a:solidFill>
                <a:latin typeface="Microsoft YaHei" panose="020B0503020204020204" pitchFamily="34" charset="-122"/>
                <a:ea typeface="Microsoft YaHei" panose="020B0503020204020204" pitchFamily="34" charset="-122"/>
              </a:rPr>
              <a:t>占比</a:t>
            </a:r>
            <a:r>
              <a:rPr lang="en-US" altLang="zh-CN" sz="1200">
                <a:solidFill>
                  <a:srgbClr val="111111"/>
                </a:solidFill>
                <a:latin typeface="Microsoft YaHei" panose="020B0503020204020204" pitchFamily="34" charset="-122"/>
                <a:ea typeface="Microsoft YaHei" panose="020B0503020204020204" pitchFamily="34" charset="-122"/>
              </a:rPr>
              <a:t>61.05%</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AA+</a:t>
            </a:r>
            <a:r>
              <a:rPr lang="zh-CN" altLang="en-US" sz="1200">
                <a:solidFill>
                  <a:srgbClr val="111111"/>
                </a:solidFill>
                <a:latin typeface="Microsoft YaHei" panose="020B0503020204020204" pitchFamily="34" charset="-122"/>
                <a:ea typeface="Microsoft YaHei" panose="020B0503020204020204" pitchFamily="34" charset="-122"/>
              </a:rPr>
              <a:t>占比</a:t>
            </a:r>
            <a:r>
              <a:rPr lang="en-US" altLang="zh-CN" sz="1200">
                <a:solidFill>
                  <a:srgbClr val="111111"/>
                </a:solidFill>
                <a:latin typeface="Microsoft YaHei" panose="020B0503020204020204" pitchFamily="34" charset="-122"/>
                <a:ea typeface="Microsoft YaHei" panose="020B0503020204020204" pitchFamily="34" charset="-122"/>
              </a:rPr>
              <a:t>10.62%</a:t>
            </a:r>
            <a:r>
              <a:rPr lang="zh-CN" altLang="en-US" sz="1200">
                <a:solidFill>
                  <a:srgbClr val="111111"/>
                </a:solidFill>
                <a:latin typeface="Microsoft YaHei" panose="020B0503020204020204" pitchFamily="34" charset="-122"/>
                <a:ea typeface="Microsoft YaHei" panose="020B0503020204020204" pitchFamily="34" charset="-122"/>
              </a:rPr>
              <a:t>；久期方面，</a:t>
            </a:r>
            <a:r>
              <a:rPr lang="en-US" altLang="zh-CN" sz="1200">
                <a:solidFill>
                  <a:srgbClr val="111111"/>
                </a:solidFill>
                <a:latin typeface="Microsoft YaHei" panose="020B0503020204020204" pitchFamily="34" charset="-122"/>
                <a:ea typeface="Microsoft YaHei" panose="020B0503020204020204" pitchFamily="34" charset="-122"/>
              </a:rPr>
              <a:t>1</a:t>
            </a:r>
            <a:r>
              <a:rPr lang="zh-CN" altLang="en-US" sz="1200">
                <a:solidFill>
                  <a:srgbClr val="111111"/>
                </a:solidFill>
                <a:latin typeface="Microsoft YaHei" panose="020B0503020204020204" pitchFamily="34" charset="-122"/>
                <a:ea typeface="Microsoft YaHei" panose="020B0503020204020204" pitchFamily="34" charset="-122"/>
              </a:rPr>
              <a:t>年以内占比</a:t>
            </a:r>
            <a:r>
              <a:rPr lang="en-US" altLang="zh-CN" sz="1200">
                <a:solidFill>
                  <a:srgbClr val="111111"/>
                </a:solidFill>
                <a:latin typeface="Microsoft YaHei" panose="020B0503020204020204" pitchFamily="34" charset="-122"/>
                <a:ea typeface="Microsoft YaHei" panose="020B0503020204020204" pitchFamily="34" charset="-122"/>
              </a:rPr>
              <a:t>29.20%</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1-3</a:t>
            </a:r>
            <a:r>
              <a:rPr lang="zh-CN" altLang="en-US" sz="1200">
                <a:solidFill>
                  <a:srgbClr val="111111"/>
                </a:solidFill>
                <a:latin typeface="Microsoft YaHei" panose="020B0503020204020204" pitchFamily="34" charset="-122"/>
                <a:ea typeface="Microsoft YaHei" panose="020B0503020204020204" pitchFamily="34" charset="-122"/>
              </a:rPr>
              <a:t>年以内占比</a:t>
            </a:r>
            <a:r>
              <a:rPr lang="en-US" altLang="zh-CN" sz="1200">
                <a:solidFill>
                  <a:srgbClr val="111111"/>
                </a:solidFill>
                <a:latin typeface="Microsoft YaHei" panose="020B0503020204020204" pitchFamily="34" charset="-122"/>
                <a:ea typeface="Microsoft YaHei" panose="020B0503020204020204" pitchFamily="34" charset="-122"/>
              </a:rPr>
              <a:t>47.18%</a:t>
            </a:r>
            <a:r>
              <a:rPr lang="zh-CN" altLang="en-US" sz="1200">
                <a:solidFill>
                  <a:srgbClr val="111111"/>
                </a:solidFill>
                <a:latin typeface="Microsoft YaHei" panose="020B0503020204020204" pitchFamily="34" charset="-122"/>
                <a:ea typeface="Microsoft YaHei" panose="020B0503020204020204" pitchFamily="34" charset="-122"/>
              </a:rPr>
              <a:t>，</a:t>
            </a:r>
            <a:r>
              <a:rPr lang="en-US" altLang="zh-CN" sz="1200">
                <a:solidFill>
                  <a:srgbClr val="111111"/>
                </a:solidFill>
                <a:latin typeface="Microsoft YaHei" panose="020B0503020204020204" pitchFamily="34" charset="-122"/>
                <a:ea typeface="Microsoft YaHei" panose="020B0503020204020204" pitchFamily="34" charset="-122"/>
              </a:rPr>
              <a:t>3</a:t>
            </a:r>
            <a:r>
              <a:rPr lang="zh-CN" altLang="en-US" sz="1200">
                <a:solidFill>
                  <a:srgbClr val="111111"/>
                </a:solidFill>
                <a:latin typeface="Microsoft YaHei" panose="020B0503020204020204" pitchFamily="34" charset="-122"/>
                <a:ea typeface="Microsoft YaHei" panose="020B0503020204020204" pitchFamily="34" charset="-122"/>
              </a:rPr>
              <a:t>年以上占比</a:t>
            </a:r>
            <a:r>
              <a:rPr lang="en-US" altLang="zh-CN" sz="1200">
                <a:solidFill>
                  <a:srgbClr val="111111"/>
                </a:solidFill>
                <a:latin typeface="Microsoft YaHei" panose="020B0503020204020204" pitchFamily="34" charset="-122"/>
                <a:ea typeface="Microsoft YaHei" panose="020B0503020204020204" pitchFamily="34" charset="-122"/>
              </a:rPr>
              <a:t>4.93%</a:t>
            </a:r>
            <a:r>
              <a:rPr lang="zh-CN" altLang="en-US" sz="1200">
                <a:solidFill>
                  <a:srgbClr val="111111"/>
                </a:solidFill>
                <a:latin typeface="Microsoft YaHei" panose="020B0503020204020204" pitchFamily="34" charset="-122"/>
                <a:ea typeface="Microsoft YaHei" panose="020B0503020204020204" pitchFamily="34" charset="-122"/>
              </a:rPr>
              <a:t>。</a:t>
            </a:r>
          </a:p>
        </p:txBody>
      </p:sp>
      <p:pic>
        <p:nvPicPr>
          <p:cNvPr id="15" name="图片 14">
            <a:extLst>
              <a:ext uri="{FF2B5EF4-FFF2-40B4-BE49-F238E27FC236}">
                <a16:creationId xmlns:a16="http://schemas.microsoft.com/office/drawing/2014/main" id="{1BB34F23-081A-81AC-560C-A6295F54F9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6473" y="2571750"/>
            <a:ext cx="1908804" cy="3095625"/>
          </a:xfrm>
          <a:prstGeom prst="rect">
            <a:avLst/>
          </a:prstGeom>
        </p:spPr>
      </p:pic>
      <p:pic>
        <p:nvPicPr>
          <p:cNvPr id="17" name="图片 16">
            <a:extLst>
              <a:ext uri="{FF2B5EF4-FFF2-40B4-BE49-F238E27FC236}">
                <a16:creationId xmlns:a16="http://schemas.microsoft.com/office/drawing/2014/main" id="{D4D436E2-90BF-2644-2514-DAC2B170CD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0973" y="2571750"/>
            <a:ext cx="1908804" cy="3095625"/>
          </a:xfrm>
          <a:prstGeom prst="rect">
            <a:avLst/>
          </a:prstGeom>
        </p:spPr>
      </p:pic>
    </p:spTree>
    <p:custDataLst>
      <p:tags r:id="rId1"/>
    </p:custDataLst>
    <p:extLst>
      <p:ext uri="{BB962C8B-B14F-4D97-AF65-F5344CB8AC3E}">
        <p14:creationId xmlns:p14="http://schemas.microsoft.com/office/powerpoint/2010/main" val="169094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组合固收投资回顾（</a:t>
            </a:r>
            <a:r>
              <a:rPr lang="en-US" altLang="zh-CN"/>
              <a:t>4</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12</a:t>
            </a:fld>
            <a:endParaRPr lang="zh-CN" altLang="en-US" dirty="0"/>
          </a:p>
        </p:txBody>
      </p:sp>
      <p:sp>
        <p:nvSpPr>
          <p:cNvPr id="8" name="矩形 7">
            <a:extLst>
              <a:ext uri="{FF2B5EF4-FFF2-40B4-BE49-F238E27FC236}">
                <a16:creationId xmlns:a16="http://schemas.microsoft.com/office/drawing/2014/main" id="{F2FA16FB-A409-FD73-45B8-6209682DD051}"/>
              </a:ext>
            </a:extLst>
          </p:cNvPr>
          <p:cNvSpPr/>
          <p:nvPr/>
        </p:nvSpPr>
        <p:spPr>
          <a:xfrm>
            <a:off x="571500" y="1162050"/>
            <a:ext cx="6429375" cy="2238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31D7003-9C2D-DB3A-3A9F-6BC2FFE14BCE}"/>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D36CA2CD-EFBE-BA59-A8AE-0E6ED8A4E2FF}"/>
              </a:ext>
            </a:extLst>
          </p:cNvPr>
          <p:cNvSpPr txBox="1"/>
          <p:nvPr/>
        </p:nvSpPr>
        <p:spPr>
          <a:xfrm>
            <a:off x="971550" y="1276350"/>
            <a:ext cx="5876925" cy="338554"/>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可转债方面，截至</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日，组合直接持仓可转债仓位</a:t>
            </a:r>
            <a:r>
              <a:rPr lang="en-US" altLang="zh-CN" sz="1100">
                <a:solidFill>
                  <a:srgbClr val="111111"/>
                </a:solidFill>
                <a:latin typeface="Microsoft YaHei" panose="020B0503020204020204" pitchFamily="34" charset="-122"/>
                <a:ea typeface="Microsoft YaHei" panose="020B0503020204020204" pitchFamily="34" charset="-122"/>
              </a:rPr>
              <a:t>2.73%</a:t>
            </a:r>
            <a:r>
              <a:rPr lang="zh-CN" altLang="en-US" sz="1100">
                <a:solidFill>
                  <a:srgbClr val="111111"/>
                </a:solidFill>
                <a:latin typeface="Microsoft YaHei" panose="020B0503020204020204" pitchFamily="34" charset="-122"/>
                <a:ea typeface="Microsoft YaHei" panose="020B0503020204020204" pitchFamily="34" charset="-122"/>
              </a:rPr>
              <a:t>，穿透养老金产品后可转债仓位</a:t>
            </a:r>
            <a:r>
              <a:rPr lang="en-US" altLang="zh-CN" sz="1100">
                <a:solidFill>
                  <a:srgbClr val="111111"/>
                </a:solidFill>
                <a:latin typeface="Microsoft YaHei" panose="020B0503020204020204" pitchFamily="34" charset="-122"/>
                <a:ea typeface="Microsoft YaHei" panose="020B0503020204020204" pitchFamily="34" charset="-122"/>
              </a:rPr>
              <a:t>3.15%</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47F3CDBF-CA06-EE15-980B-1969AD2BA87A}"/>
              </a:ext>
            </a:extLst>
          </p:cNvPr>
          <p:cNvSpPr/>
          <p:nvPr/>
        </p:nvSpPr>
        <p:spPr>
          <a:xfrm>
            <a:off x="742950" y="17716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9BE05F2-C666-0324-4AF8-D6220BEFBB5B}"/>
              </a:ext>
            </a:extLst>
          </p:cNvPr>
          <p:cNvSpPr txBox="1"/>
          <p:nvPr/>
        </p:nvSpPr>
        <p:spPr>
          <a:xfrm>
            <a:off x="971550" y="1714500"/>
            <a:ext cx="5876925" cy="169277"/>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组合穿透后，持仓转债大盘占比</a:t>
            </a:r>
            <a:r>
              <a:rPr lang="en-US" altLang="zh-CN" sz="1100">
                <a:solidFill>
                  <a:srgbClr val="111111"/>
                </a:solidFill>
                <a:latin typeface="Microsoft YaHei" panose="020B0503020204020204" pitchFamily="34" charset="-122"/>
                <a:ea typeface="Microsoft YaHei" panose="020B0503020204020204" pitchFamily="34" charset="-122"/>
              </a:rPr>
              <a:t>2.28%</a:t>
            </a:r>
            <a:r>
              <a:rPr lang="zh-CN" altLang="en-US" sz="1100">
                <a:solidFill>
                  <a:srgbClr val="111111"/>
                </a:solidFill>
                <a:latin typeface="Microsoft YaHei" panose="020B0503020204020204" pitchFamily="34" charset="-122"/>
                <a:ea typeface="Microsoft YaHei" panose="020B0503020204020204" pitchFamily="34" charset="-122"/>
              </a:rPr>
              <a:t>，中盘占比</a:t>
            </a:r>
            <a:r>
              <a:rPr lang="en-US" altLang="zh-CN" sz="1100">
                <a:solidFill>
                  <a:srgbClr val="111111"/>
                </a:solidFill>
                <a:latin typeface="Microsoft YaHei" panose="020B0503020204020204" pitchFamily="34" charset="-122"/>
                <a:ea typeface="Microsoft YaHei" panose="020B0503020204020204" pitchFamily="34" charset="-122"/>
              </a:rPr>
              <a:t>0.57%</a:t>
            </a:r>
            <a:r>
              <a:rPr lang="zh-CN" altLang="en-US" sz="1100">
                <a:solidFill>
                  <a:srgbClr val="111111"/>
                </a:solidFill>
                <a:latin typeface="Microsoft YaHei" panose="020B0503020204020204" pitchFamily="34" charset="-122"/>
                <a:ea typeface="Microsoft YaHei" panose="020B0503020204020204" pitchFamily="34" charset="-122"/>
              </a:rPr>
              <a:t>，小盘占比</a:t>
            </a:r>
            <a:r>
              <a:rPr lang="en-US" altLang="zh-CN" sz="1100">
                <a:solidFill>
                  <a:srgbClr val="111111"/>
                </a:solidFill>
                <a:latin typeface="Microsoft YaHei" panose="020B0503020204020204" pitchFamily="34" charset="-122"/>
                <a:ea typeface="Microsoft YaHei" panose="020B0503020204020204" pitchFamily="34" charset="-122"/>
              </a:rPr>
              <a:t>0.01%</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6" name="椭圆 15">
            <a:extLst>
              <a:ext uri="{FF2B5EF4-FFF2-40B4-BE49-F238E27FC236}">
                <a16:creationId xmlns:a16="http://schemas.microsoft.com/office/drawing/2014/main" id="{45A438AD-AF42-B4B1-470D-6CBAACC8D75E}"/>
              </a:ext>
            </a:extLst>
          </p:cNvPr>
          <p:cNvSpPr/>
          <p:nvPr/>
        </p:nvSpPr>
        <p:spPr>
          <a:xfrm>
            <a:off x="742950" y="20764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B4210F82-D2FE-6296-4429-E4384372C988}"/>
              </a:ext>
            </a:extLst>
          </p:cNvPr>
          <p:cNvSpPr txBox="1"/>
          <p:nvPr/>
        </p:nvSpPr>
        <p:spPr>
          <a:xfrm>
            <a:off x="971550" y="201930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组合穿透后主要持有以下行业的可转债：金融、工业、日常消费品、公用事业、信息技术，增持金融、可选消费、信息技术，减持工业、日常消费品、公用事业，正贡献主要来自于日常消费品、工业、信息技术，负贡献主要来自于金融、医疗保健。</a:t>
            </a:r>
          </a:p>
        </p:txBody>
      </p:sp>
      <p:pic>
        <p:nvPicPr>
          <p:cNvPr id="19" name="图片 18">
            <a:extLst>
              <a:ext uri="{FF2B5EF4-FFF2-40B4-BE49-F238E27FC236}">
                <a16:creationId xmlns:a16="http://schemas.microsoft.com/office/drawing/2014/main" id="{08DF6544-A8A0-6BD1-E125-3CF2F6FF6A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5256" y="1143000"/>
            <a:ext cx="2743238" cy="2238375"/>
          </a:xfrm>
          <a:prstGeom prst="rect">
            <a:avLst/>
          </a:prstGeom>
        </p:spPr>
      </p:pic>
      <p:pic>
        <p:nvPicPr>
          <p:cNvPr id="21" name="图片 20">
            <a:extLst>
              <a:ext uri="{FF2B5EF4-FFF2-40B4-BE49-F238E27FC236}">
                <a16:creationId xmlns:a16="http://schemas.microsoft.com/office/drawing/2014/main" id="{CAC8FEA2-435B-569A-8139-87D0BE8A0B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046" y="3667125"/>
            <a:ext cx="4701658" cy="2143125"/>
          </a:xfrm>
          <a:prstGeom prst="rect">
            <a:avLst/>
          </a:prstGeom>
        </p:spPr>
      </p:pic>
      <p:pic>
        <p:nvPicPr>
          <p:cNvPr id="23" name="图片 22">
            <a:extLst>
              <a:ext uri="{FF2B5EF4-FFF2-40B4-BE49-F238E27FC236}">
                <a16:creationId xmlns:a16="http://schemas.microsoft.com/office/drawing/2014/main" id="{B9BC33B0-7782-8A19-DB1A-DCB8D114DB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546" y="3667125"/>
            <a:ext cx="4701658" cy="2143125"/>
          </a:xfrm>
          <a:prstGeom prst="rect">
            <a:avLst/>
          </a:prstGeom>
        </p:spPr>
      </p:pic>
    </p:spTree>
    <p:custDataLst>
      <p:tags r:id="rId1"/>
    </p:custDataLst>
    <p:extLst>
      <p:ext uri="{BB962C8B-B14F-4D97-AF65-F5344CB8AC3E}">
        <p14:creationId xmlns:p14="http://schemas.microsoft.com/office/powerpoint/2010/main" val="1718384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组合固收投资回顾（</a:t>
            </a:r>
            <a:r>
              <a:rPr lang="en-US" altLang="zh-CN"/>
              <a:t>5</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13</a:t>
            </a:fld>
            <a:endParaRPr lang="zh-CN" altLang="en-US" dirty="0"/>
          </a:p>
        </p:txBody>
      </p:sp>
      <p:pic>
        <p:nvPicPr>
          <p:cNvPr id="10" name="图片 9">
            <a:extLst>
              <a:ext uri="{FF2B5EF4-FFF2-40B4-BE49-F238E27FC236}">
                <a16:creationId xmlns:a16="http://schemas.microsoft.com/office/drawing/2014/main" id="{84E7F210-8926-CE70-8683-E68940A9A9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478" y="1514061"/>
            <a:ext cx="5412934" cy="4333875"/>
          </a:xfrm>
          <a:prstGeom prst="rect">
            <a:avLst/>
          </a:prstGeom>
        </p:spPr>
      </p:pic>
    </p:spTree>
    <p:custDataLst>
      <p:tags r:id="rId1"/>
    </p:custDataLst>
    <p:extLst>
      <p:ext uri="{BB962C8B-B14F-4D97-AF65-F5344CB8AC3E}">
        <p14:creationId xmlns:p14="http://schemas.microsoft.com/office/powerpoint/2010/main" val="271920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组合权益投资回顾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14</a:t>
            </a:fld>
            <a:endParaRPr lang="zh-CN" altLang="en-US" dirty="0"/>
          </a:p>
        </p:txBody>
      </p:sp>
      <p:sp>
        <p:nvSpPr>
          <p:cNvPr id="5" name="文本占位符 4">
            <a:extLst>
              <a:ext uri="{FF2B5EF4-FFF2-40B4-BE49-F238E27FC236}">
                <a16:creationId xmlns:a16="http://schemas.microsoft.com/office/drawing/2014/main" id="{F50C7C85-5A7F-6C8C-4FAD-D6603DF55963}"/>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18400BFC-C0F5-2B4C-80F6-998A8092FC66}"/>
              </a:ext>
            </a:extLst>
          </p:cNvPr>
          <p:cNvSpPr/>
          <p:nvPr/>
        </p:nvSpPr>
        <p:spPr>
          <a:xfrm>
            <a:off x="571500" y="1162050"/>
            <a:ext cx="6429375" cy="223837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E9929826-6601-0A7A-1B5C-4D08A626AA59}"/>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09DC976-CA66-A9FC-C20C-614597ED5D31}"/>
              </a:ext>
            </a:extLst>
          </p:cNvPr>
          <p:cNvSpPr txBox="1"/>
          <p:nvPr/>
        </p:nvSpPr>
        <p:spPr>
          <a:xfrm>
            <a:off x="971550" y="1276350"/>
            <a:ext cx="5876925" cy="338554"/>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权益方面，组合投资以（直接持股为主，养老金产品配置作为补充）。期末产品持仓占比</a:t>
            </a:r>
            <a:r>
              <a:rPr lang="en-US" altLang="zh-CN" sz="1100">
                <a:solidFill>
                  <a:srgbClr val="111111"/>
                </a:solidFill>
                <a:latin typeface="Microsoft YaHei" panose="020B0503020204020204" pitchFamily="34" charset="-122"/>
                <a:ea typeface="Microsoft YaHei" panose="020B0503020204020204" pitchFamily="34" charset="-122"/>
              </a:rPr>
              <a:t>1.58%</a:t>
            </a:r>
            <a:r>
              <a:rPr lang="zh-CN" altLang="en-US" sz="1100">
                <a:solidFill>
                  <a:srgbClr val="111111"/>
                </a:solidFill>
                <a:latin typeface="Microsoft YaHei" panose="020B0503020204020204" pitchFamily="34" charset="-122"/>
                <a:ea typeface="Microsoft YaHei" panose="020B0503020204020204" pitchFamily="34" charset="-122"/>
              </a:rPr>
              <a:t>，直接持股占比</a:t>
            </a:r>
            <a:r>
              <a:rPr lang="en-US" altLang="zh-CN" sz="1100">
                <a:solidFill>
                  <a:srgbClr val="111111"/>
                </a:solidFill>
                <a:latin typeface="Microsoft YaHei" panose="020B0503020204020204" pitchFamily="34" charset="-122"/>
                <a:ea typeface="Microsoft YaHei" panose="020B0503020204020204" pitchFamily="34" charset="-122"/>
              </a:rPr>
              <a:t>12.45%</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D53E274A-9DB1-A59E-8994-1106234B0410}"/>
              </a:ext>
            </a:extLst>
          </p:cNvPr>
          <p:cNvSpPr/>
          <p:nvPr/>
        </p:nvSpPr>
        <p:spPr>
          <a:xfrm>
            <a:off x="742950" y="177165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5522D3AA-7741-299D-BDE5-EC39526762D0}"/>
              </a:ext>
            </a:extLst>
          </p:cNvPr>
          <p:cNvSpPr txBox="1"/>
          <p:nvPr/>
        </p:nvSpPr>
        <p:spPr>
          <a:xfrm>
            <a:off x="971550" y="1714500"/>
            <a:ext cx="5876925" cy="338554"/>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养老金产品方面，组合主要持有：国泰佳泰股票专项型养老金产品，今年同期收益率分别为</a:t>
            </a:r>
            <a:r>
              <a:rPr lang="en-US" altLang="zh-CN" sz="1100">
                <a:solidFill>
                  <a:srgbClr val="111111"/>
                </a:solidFill>
                <a:latin typeface="Microsoft YaHei" panose="020B0503020204020204" pitchFamily="34" charset="-122"/>
                <a:ea typeface="Microsoft YaHei" panose="020B0503020204020204" pitchFamily="34" charset="-122"/>
              </a:rPr>
              <a:t>9.77%</a:t>
            </a:r>
            <a:r>
              <a:rPr lang="zh-CN" altLang="en-US" sz="1100">
                <a:solidFill>
                  <a:srgbClr val="111111"/>
                </a:solidFill>
                <a:latin typeface="Microsoft YaHei" panose="020B0503020204020204" pitchFamily="34" charset="-122"/>
                <a:ea typeface="Microsoft YaHei" panose="020B0503020204020204" pitchFamily="34" charset="-122"/>
              </a:rPr>
              <a:t>，全市场排名</a:t>
            </a:r>
            <a:r>
              <a:rPr lang="en-US" altLang="zh-CN" sz="1100">
                <a:solidFill>
                  <a:srgbClr val="111111"/>
                </a:solidFill>
                <a:latin typeface="Microsoft YaHei" panose="020B0503020204020204" pitchFamily="34" charset="-122"/>
                <a:ea typeface="Microsoft YaHei" panose="020B0503020204020204" pitchFamily="34" charset="-122"/>
              </a:rPr>
              <a:t>14/195</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6" name="椭圆 15">
            <a:extLst>
              <a:ext uri="{FF2B5EF4-FFF2-40B4-BE49-F238E27FC236}">
                <a16:creationId xmlns:a16="http://schemas.microsoft.com/office/drawing/2014/main" id="{E3685E2D-440A-C9DC-0B70-5E9C168DF4D5}"/>
              </a:ext>
            </a:extLst>
          </p:cNvPr>
          <p:cNvSpPr/>
          <p:nvPr/>
        </p:nvSpPr>
        <p:spPr>
          <a:xfrm>
            <a:off x="742950" y="22098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A1F5B65-A980-249F-58B2-B0EF04B3F18D}"/>
              </a:ext>
            </a:extLst>
          </p:cNvPr>
          <p:cNvSpPr txBox="1"/>
          <p:nvPr/>
        </p:nvSpPr>
        <p:spPr>
          <a:xfrm>
            <a:off x="971550" y="215265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组合穿透后主要持有计算机、电子、基础化工、医药生物、食品饮料，增持电子、银行、医药生物，减持石油石化、建筑装饰、机械设备，正贡献主要来自于计算机、电子、医药生物，负贡献主要来自于银行、基础化工、家用电器。</a:t>
            </a:r>
          </a:p>
        </p:txBody>
      </p:sp>
      <p:pic>
        <p:nvPicPr>
          <p:cNvPr id="19" name="图片 18">
            <a:extLst>
              <a:ext uri="{FF2B5EF4-FFF2-40B4-BE49-F238E27FC236}">
                <a16:creationId xmlns:a16="http://schemas.microsoft.com/office/drawing/2014/main" id="{82F329B0-8863-0D69-93D1-9BDEA41A19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8544" y="1143000"/>
            <a:ext cx="3576663" cy="2238375"/>
          </a:xfrm>
          <a:prstGeom prst="rect">
            <a:avLst/>
          </a:prstGeom>
        </p:spPr>
      </p:pic>
      <p:pic>
        <p:nvPicPr>
          <p:cNvPr id="21" name="图片 20">
            <a:extLst>
              <a:ext uri="{FF2B5EF4-FFF2-40B4-BE49-F238E27FC236}">
                <a16:creationId xmlns:a16="http://schemas.microsoft.com/office/drawing/2014/main" id="{0B239125-58AF-83EE-9A39-97D044F89E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500" y="3723896"/>
            <a:ext cx="5238750" cy="2029582"/>
          </a:xfrm>
          <a:prstGeom prst="rect">
            <a:avLst/>
          </a:prstGeom>
        </p:spPr>
      </p:pic>
      <p:pic>
        <p:nvPicPr>
          <p:cNvPr id="23" name="图片 22">
            <a:extLst>
              <a:ext uri="{FF2B5EF4-FFF2-40B4-BE49-F238E27FC236}">
                <a16:creationId xmlns:a16="http://schemas.microsoft.com/office/drawing/2014/main" id="{A5957A28-67AD-4A9A-E7C5-5808758B74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3894687"/>
            <a:ext cx="5238750" cy="1688000"/>
          </a:xfrm>
          <a:prstGeom prst="rect">
            <a:avLst/>
          </a:prstGeom>
        </p:spPr>
      </p:pic>
    </p:spTree>
    <p:custDataLst>
      <p:tags r:id="rId1"/>
    </p:custDataLst>
    <p:extLst>
      <p:ext uri="{BB962C8B-B14F-4D97-AF65-F5344CB8AC3E}">
        <p14:creationId xmlns:p14="http://schemas.microsoft.com/office/powerpoint/2010/main" val="1581926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组合权益投资回顾（</a:t>
            </a:r>
            <a:r>
              <a:rPr lang="en-US" altLang="zh-CN"/>
              <a:t>2</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15</a:t>
            </a:fld>
            <a:endParaRPr lang="zh-CN" altLang="en-US" dirty="0"/>
          </a:p>
        </p:txBody>
      </p:sp>
      <p:sp>
        <p:nvSpPr>
          <p:cNvPr id="8" name="矩形 7">
            <a:extLst>
              <a:ext uri="{FF2B5EF4-FFF2-40B4-BE49-F238E27FC236}">
                <a16:creationId xmlns:a16="http://schemas.microsoft.com/office/drawing/2014/main" id="{D36D67A4-2165-F2BB-34C8-4B1C28594643}"/>
              </a:ext>
            </a:extLst>
          </p:cNvPr>
          <p:cNvSpPr/>
          <p:nvPr/>
        </p:nvSpPr>
        <p:spPr>
          <a:xfrm>
            <a:off x="571500" y="1162050"/>
            <a:ext cx="6429375" cy="11430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E888CA76-FE8C-BB81-5C86-486B761F1D30}"/>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E6B0574-AA1C-C1BC-849B-672733059EA3}"/>
              </a:ext>
            </a:extLst>
          </p:cNvPr>
          <p:cNvSpPr txBox="1"/>
          <p:nvPr/>
        </p:nvSpPr>
        <p:spPr>
          <a:xfrm>
            <a:off x="971550" y="1276350"/>
            <a:ext cx="5876925" cy="338554"/>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截至</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03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日，组合股票持仓为</a:t>
            </a:r>
            <a:r>
              <a:rPr lang="en-US" altLang="zh-CN" sz="1100">
                <a:solidFill>
                  <a:srgbClr val="111111"/>
                </a:solidFill>
                <a:latin typeface="Microsoft YaHei" panose="020B0503020204020204" pitchFamily="34" charset="-122"/>
                <a:ea typeface="Microsoft YaHei" panose="020B0503020204020204" pitchFamily="34" charset="-122"/>
              </a:rPr>
              <a:t>14.89%</a:t>
            </a:r>
            <a:r>
              <a:rPr lang="zh-CN" altLang="en-US" sz="1100">
                <a:solidFill>
                  <a:srgbClr val="111111"/>
                </a:solidFill>
                <a:latin typeface="Microsoft YaHei" panose="020B0503020204020204" pitchFamily="34" charset="-122"/>
                <a:ea typeface="Microsoft YaHei" panose="020B0503020204020204" pitchFamily="34" charset="-122"/>
              </a:rPr>
              <a:t>，其中大盘占比</a:t>
            </a:r>
            <a:r>
              <a:rPr lang="en-US" altLang="zh-CN" sz="1100">
                <a:solidFill>
                  <a:srgbClr val="111111"/>
                </a:solidFill>
                <a:latin typeface="Microsoft YaHei" panose="020B0503020204020204" pitchFamily="34" charset="-122"/>
                <a:ea typeface="Microsoft YaHei" panose="020B0503020204020204" pitchFamily="34" charset="-122"/>
              </a:rPr>
              <a:t>6.57%</a:t>
            </a:r>
            <a:r>
              <a:rPr lang="zh-CN" altLang="en-US" sz="1100">
                <a:solidFill>
                  <a:srgbClr val="111111"/>
                </a:solidFill>
                <a:latin typeface="Microsoft YaHei" panose="020B0503020204020204" pitchFamily="34" charset="-122"/>
                <a:ea typeface="Microsoft YaHei" panose="020B0503020204020204" pitchFamily="34" charset="-122"/>
              </a:rPr>
              <a:t>，中盘占比</a:t>
            </a:r>
            <a:r>
              <a:rPr lang="en-US" altLang="zh-CN" sz="1100">
                <a:solidFill>
                  <a:srgbClr val="111111"/>
                </a:solidFill>
                <a:latin typeface="Microsoft YaHei" panose="020B0503020204020204" pitchFamily="34" charset="-122"/>
                <a:ea typeface="Microsoft YaHei" panose="020B0503020204020204" pitchFamily="34" charset="-122"/>
              </a:rPr>
              <a:t>5.26%</a:t>
            </a:r>
            <a:r>
              <a:rPr lang="zh-CN" altLang="en-US" sz="1100">
                <a:solidFill>
                  <a:srgbClr val="111111"/>
                </a:solidFill>
                <a:latin typeface="Microsoft YaHei" panose="020B0503020204020204" pitchFamily="34" charset="-122"/>
                <a:ea typeface="Microsoft YaHei" panose="020B0503020204020204" pitchFamily="34" charset="-122"/>
              </a:rPr>
              <a:t>，小盘占比</a:t>
            </a:r>
            <a:r>
              <a:rPr lang="en-US" altLang="zh-CN" sz="1100">
                <a:solidFill>
                  <a:srgbClr val="111111"/>
                </a:solidFill>
                <a:latin typeface="Microsoft YaHei" panose="020B0503020204020204" pitchFamily="34" charset="-122"/>
                <a:ea typeface="Microsoft YaHei" panose="020B0503020204020204" pitchFamily="34" charset="-122"/>
              </a:rPr>
              <a:t>3.06%</a:t>
            </a:r>
            <a:r>
              <a:rPr lang="zh-CN" altLang="en-US" sz="1100">
                <a:solidFill>
                  <a:srgbClr val="111111"/>
                </a:solidFill>
                <a:latin typeface="Microsoft YaHei" panose="020B0503020204020204" pitchFamily="34" charset="-122"/>
                <a:ea typeface="Microsoft YaHei" panose="020B0503020204020204" pitchFamily="34" charset="-122"/>
              </a:rPr>
              <a:t>；板块分布方面，主板占比</a:t>
            </a:r>
            <a:r>
              <a:rPr lang="en-US" altLang="zh-CN" sz="1100">
                <a:solidFill>
                  <a:srgbClr val="111111"/>
                </a:solidFill>
                <a:latin typeface="Microsoft YaHei" panose="020B0503020204020204" pitchFamily="34" charset="-122"/>
                <a:ea typeface="Microsoft YaHei" panose="020B0503020204020204" pitchFamily="34" charset="-122"/>
              </a:rPr>
              <a:t>11.50%</a:t>
            </a:r>
            <a:r>
              <a:rPr lang="zh-CN" altLang="en-US" sz="1100">
                <a:solidFill>
                  <a:srgbClr val="111111"/>
                </a:solidFill>
                <a:latin typeface="Microsoft YaHei" panose="020B0503020204020204" pitchFamily="34" charset="-122"/>
                <a:ea typeface="Microsoft YaHei" panose="020B0503020204020204" pitchFamily="34" charset="-122"/>
              </a:rPr>
              <a:t>，创业板占比</a:t>
            </a:r>
            <a:r>
              <a:rPr lang="en-US" altLang="zh-CN" sz="1100">
                <a:solidFill>
                  <a:srgbClr val="111111"/>
                </a:solidFill>
                <a:latin typeface="Microsoft YaHei" panose="020B0503020204020204" pitchFamily="34" charset="-122"/>
                <a:ea typeface="Microsoft YaHei" panose="020B0503020204020204" pitchFamily="34" charset="-122"/>
              </a:rPr>
              <a:t>1.99%</a:t>
            </a:r>
            <a:r>
              <a:rPr lang="zh-CN" altLang="en-US" sz="1100">
                <a:solidFill>
                  <a:srgbClr val="111111"/>
                </a:solidFill>
                <a:latin typeface="Microsoft YaHei" panose="020B0503020204020204" pitchFamily="34" charset="-122"/>
                <a:ea typeface="Microsoft YaHei" panose="020B0503020204020204" pitchFamily="34" charset="-122"/>
              </a:rPr>
              <a:t>。</a:t>
            </a:r>
          </a:p>
        </p:txBody>
      </p:sp>
      <p:pic>
        <p:nvPicPr>
          <p:cNvPr id="15" name="图片 14">
            <a:extLst>
              <a:ext uri="{FF2B5EF4-FFF2-40B4-BE49-F238E27FC236}">
                <a16:creationId xmlns:a16="http://schemas.microsoft.com/office/drawing/2014/main" id="{92A10272-65B1-B610-8670-47D1D12A31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0576" y="1143000"/>
            <a:ext cx="1072598" cy="1762125"/>
          </a:xfrm>
          <a:prstGeom prst="rect">
            <a:avLst/>
          </a:prstGeom>
        </p:spPr>
      </p:pic>
      <p:pic>
        <p:nvPicPr>
          <p:cNvPr id="17" name="图片 16">
            <a:extLst>
              <a:ext uri="{FF2B5EF4-FFF2-40B4-BE49-F238E27FC236}">
                <a16:creationId xmlns:a16="http://schemas.microsoft.com/office/drawing/2014/main" id="{77288FED-02CC-2191-568C-0F2BB0A50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8169" y="3238500"/>
            <a:ext cx="1565413" cy="2571750"/>
          </a:xfrm>
          <a:prstGeom prst="rect">
            <a:avLst/>
          </a:prstGeom>
        </p:spPr>
      </p:pic>
      <p:pic>
        <p:nvPicPr>
          <p:cNvPr id="19" name="图片 18">
            <a:extLst>
              <a:ext uri="{FF2B5EF4-FFF2-40B4-BE49-F238E27FC236}">
                <a16:creationId xmlns:a16="http://schemas.microsoft.com/office/drawing/2014/main" id="{3D62D057-EEEE-7DEF-B018-CD40160C78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3708478"/>
            <a:ext cx="5238750" cy="1631793"/>
          </a:xfrm>
          <a:prstGeom prst="rect">
            <a:avLst/>
          </a:prstGeom>
        </p:spPr>
      </p:pic>
    </p:spTree>
    <p:custDataLst>
      <p:tags r:id="rId1"/>
    </p:custDataLst>
    <p:extLst>
      <p:ext uri="{BB962C8B-B14F-4D97-AF65-F5344CB8AC3E}">
        <p14:creationId xmlns:p14="http://schemas.microsoft.com/office/powerpoint/2010/main" val="3840687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组合权益投资回顾（</a:t>
            </a:r>
            <a:r>
              <a:rPr lang="en-US" altLang="zh-CN"/>
              <a:t>3</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16</a:t>
            </a:fld>
            <a:endParaRPr lang="zh-CN" altLang="en-US" dirty="0"/>
          </a:p>
        </p:txBody>
      </p:sp>
      <p:sp>
        <p:nvSpPr>
          <p:cNvPr id="5" name="文本占位符 4">
            <a:extLst>
              <a:ext uri="{FF2B5EF4-FFF2-40B4-BE49-F238E27FC236}">
                <a16:creationId xmlns:a16="http://schemas.microsoft.com/office/drawing/2014/main" id="{F83FF64C-B8A1-5FE5-A8CC-4BA9F33B923C}"/>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pic>
        <p:nvPicPr>
          <p:cNvPr id="10" name="图片 9">
            <a:extLst>
              <a:ext uri="{FF2B5EF4-FFF2-40B4-BE49-F238E27FC236}">
                <a16:creationId xmlns:a16="http://schemas.microsoft.com/office/drawing/2014/main" id="{A8A13905-7BA2-BE2C-1330-B256C580F9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1307" y="1190625"/>
            <a:ext cx="4059136" cy="4191000"/>
          </a:xfrm>
          <a:prstGeom prst="rect">
            <a:avLst/>
          </a:prstGeom>
        </p:spPr>
      </p:pic>
      <p:pic>
        <p:nvPicPr>
          <p:cNvPr id="14" name="图片 13">
            <a:extLst>
              <a:ext uri="{FF2B5EF4-FFF2-40B4-BE49-F238E27FC236}">
                <a16:creationId xmlns:a16="http://schemas.microsoft.com/office/drawing/2014/main" id="{100ACEEC-D189-125E-92CC-B11F7299BF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465881"/>
            <a:ext cx="5238750" cy="3640487"/>
          </a:xfrm>
          <a:prstGeom prst="rect">
            <a:avLst/>
          </a:prstGeom>
        </p:spPr>
      </p:pic>
    </p:spTree>
    <p:custDataLst>
      <p:tags r:id="rId1"/>
    </p:custDataLst>
    <p:extLst>
      <p:ext uri="{BB962C8B-B14F-4D97-AF65-F5344CB8AC3E}">
        <p14:creationId xmlns:p14="http://schemas.microsoft.com/office/powerpoint/2010/main" val="124996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03</a:t>
            </a:r>
            <a:endParaRPr lang="zh-CN" altLang="en-US" dirty="0"/>
          </a:p>
        </p:txBody>
      </p:sp>
      <p:sp>
        <p:nvSpPr>
          <p:cNvPr id="11" name="标题 10"/>
          <p:cNvSpPr>
            <a:spLocks noGrp="1"/>
          </p:cNvSpPr>
          <p:nvPr>
            <p:ph type="title"/>
          </p:nvPr>
        </p:nvSpPr>
        <p:spPr/>
        <p:txBody>
          <a:bodyPr>
            <a:normAutofit/>
          </a:bodyPr>
          <a:lstStyle/>
          <a:p>
            <a:r>
              <a:rPr lang="zh-CN" altLang="en-US" sz="2400"/>
              <a:t>下阶段市场研判及组合操作策略</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t>17</a:t>
            </a:fld>
            <a:endParaRPr lang="de-DE" dirty="0"/>
          </a:p>
        </p:txBody>
      </p:sp>
    </p:spTree>
    <p:custDataLst>
      <p:tags r:id="rId1"/>
    </p:custDataLst>
    <p:extLst>
      <p:ext uri="{BB962C8B-B14F-4D97-AF65-F5344CB8AC3E}">
        <p14:creationId xmlns:p14="http://schemas.microsoft.com/office/powerpoint/2010/main" val="1660500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市场回顾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18</a:t>
            </a:fld>
            <a:endParaRPr lang="zh-CN" altLang="en-US" dirty="0"/>
          </a:p>
        </p:txBody>
      </p:sp>
      <p:sp>
        <p:nvSpPr>
          <p:cNvPr id="5" name="文本占位符 4">
            <a:extLst>
              <a:ext uri="{FF2B5EF4-FFF2-40B4-BE49-F238E27FC236}">
                <a16:creationId xmlns:a16="http://schemas.microsoft.com/office/drawing/2014/main" id="{8F727511-0944-CAAB-16C3-70998C5F003D}"/>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5D4A17A3-5B56-8BC6-903A-29501D38897F}"/>
              </a:ext>
            </a:extLst>
          </p:cNvPr>
          <p:cNvSpPr/>
          <p:nvPr/>
        </p:nvSpPr>
        <p:spPr>
          <a:xfrm>
            <a:off x="571500" y="1162050"/>
            <a:ext cx="6429375" cy="1571625"/>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6FB8D9E-5457-EC16-BB85-9DF527C19EDD}"/>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ACA2FF6-A48A-51B8-7FF6-F05084908E73}"/>
              </a:ext>
            </a:extLst>
          </p:cNvPr>
          <p:cNvSpPr txBox="1"/>
          <p:nvPr/>
        </p:nvSpPr>
        <p:spPr>
          <a:xfrm>
            <a:off x="971550" y="1276350"/>
            <a:ext cx="5876925" cy="169277"/>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上涨股票</a:t>
            </a:r>
            <a:r>
              <a:rPr lang="en-US" altLang="zh-CN" sz="1100">
                <a:solidFill>
                  <a:srgbClr val="111111"/>
                </a:solidFill>
                <a:latin typeface="Microsoft YaHei" panose="020B0503020204020204" pitchFamily="34" charset="-122"/>
                <a:ea typeface="Microsoft YaHei" panose="020B0503020204020204" pitchFamily="34" charset="-122"/>
              </a:rPr>
              <a:t>3505</a:t>
            </a:r>
            <a:r>
              <a:rPr lang="zh-CN" altLang="en-US" sz="1100">
                <a:solidFill>
                  <a:srgbClr val="111111"/>
                </a:solidFill>
                <a:latin typeface="Microsoft YaHei" panose="020B0503020204020204" pitchFamily="34" charset="-122"/>
                <a:ea typeface="Microsoft YaHei" panose="020B0503020204020204" pitchFamily="34" charset="-122"/>
              </a:rPr>
              <a:t>家，下跌股票</a:t>
            </a:r>
            <a:r>
              <a:rPr lang="en-US" altLang="zh-CN" sz="1100">
                <a:solidFill>
                  <a:srgbClr val="111111"/>
                </a:solidFill>
                <a:latin typeface="Microsoft YaHei" panose="020B0503020204020204" pitchFamily="34" charset="-122"/>
                <a:ea typeface="Microsoft YaHei" panose="020B0503020204020204" pitchFamily="34" charset="-122"/>
              </a:rPr>
              <a:t>1419</a:t>
            </a:r>
            <a:r>
              <a:rPr lang="zh-CN" altLang="en-US" sz="1100">
                <a:solidFill>
                  <a:srgbClr val="111111"/>
                </a:solidFill>
                <a:latin typeface="Microsoft YaHei" panose="020B0503020204020204" pitchFamily="34" charset="-122"/>
                <a:ea typeface="Microsoft YaHei" panose="020B0503020204020204" pitchFamily="34" charset="-122"/>
              </a:rPr>
              <a:t>家，全部</a:t>
            </a:r>
            <a:r>
              <a:rPr lang="en-US" altLang="zh-CN" sz="1100">
                <a:solidFill>
                  <a:srgbClr val="111111"/>
                </a:solidFill>
                <a:latin typeface="Microsoft YaHei" panose="020B0503020204020204" pitchFamily="34" charset="-122"/>
                <a:ea typeface="Microsoft YaHei" panose="020B0503020204020204" pitchFamily="34" charset="-122"/>
              </a:rPr>
              <a:t>A</a:t>
            </a:r>
            <a:r>
              <a:rPr lang="zh-CN" altLang="en-US" sz="1100">
                <a:solidFill>
                  <a:srgbClr val="111111"/>
                </a:solidFill>
                <a:latin typeface="Microsoft YaHei" panose="020B0503020204020204" pitchFamily="34" charset="-122"/>
                <a:ea typeface="Microsoft YaHei" panose="020B0503020204020204" pitchFamily="34" charset="-122"/>
              </a:rPr>
              <a:t>股的中位数涨幅</a:t>
            </a:r>
            <a:r>
              <a:rPr lang="en-US" altLang="zh-CN" sz="1100">
                <a:solidFill>
                  <a:srgbClr val="111111"/>
                </a:solidFill>
                <a:latin typeface="Microsoft YaHei" panose="020B0503020204020204" pitchFamily="34" charset="-122"/>
                <a:ea typeface="Microsoft YaHei" panose="020B0503020204020204" pitchFamily="34" charset="-122"/>
              </a:rPr>
              <a:t>6.81%</a:t>
            </a:r>
            <a:r>
              <a:rPr lang="zh-CN" altLang="en-US" sz="1100">
                <a:solidFill>
                  <a:srgbClr val="111111"/>
                </a:solidFill>
                <a:latin typeface="Microsoft YaHei" panose="020B0503020204020204" pitchFamily="34" charset="-122"/>
                <a:ea typeface="Microsoft YaHei" panose="020B0503020204020204" pitchFamily="34" charset="-122"/>
              </a:rPr>
              <a:t>。</a:t>
            </a:r>
          </a:p>
        </p:txBody>
      </p:sp>
      <p:sp>
        <p:nvSpPr>
          <p:cNvPr id="14" name="椭圆 13">
            <a:extLst>
              <a:ext uri="{FF2B5EF4-FFF2-40B4-BE49-F238E27FC236}">
                <a16:creationId xmlns:a16="http://schemas.microsoft.com/office/drawing/2014/main" id="{C400DE4B-3E02-02E7-9DE4-02E1729727E1}"/>
              </a:ext>
            </a:extLst>
          </p:cNvPr>
          <p:cNvSpPr/>
          <p:nvPr/>
        </p:nvSpPr>
        <p:spPr>
          <a:xfrm>
            <a:off x="742950" y="16383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EA44191D-8A46-0122-D3E8-57164C01BD54}"/>
              </a:ext>
            </a:extLst>
          </p:cNvPr>
          <p:cNvSpPr txBox="1"/>
          <p:nvPr/>
        </p:nvSpPr>
        <p:spPr>
          <a:xfrm>
            <a:off x="971550" y="1581150"/>
            <a:ext cx="5876925" cy="169277"/>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板块方面，</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个申万一级行业算数平均收益率为</a:t>
            </a:r>
            <a:r>
              <a:rPr lang="en-US" altLang="zh-CN" sz="1100">
                <a:solidFill>
                  <a:srgbClr val="111111"/>
                </a:solidFill>
                <a:latin typeface="Microsoft YaHei" panose="020B0503020204020204" pitchFamily="34" charset="-122"/>
                <a:ea typeface="Microsoft YaHei" panose="020B0503020204020204" pitchFamily="34" charset="-122"/>
              </a:rPr>
              <a:t>6.15%</a:t>
            </a:r>
            <a:r>
              <a:rPr lang="zh-CN" altLang="en-US" sz="1100">
                <a:solidFill>
                  <a:srgbClr val="111111"/>
                </a:solidFill>
                <a:latin typeface="Microsoft YaHei" panose="020B0503020204020204" pitchFamily="34" charset="-122"/>
                <a:ea typeface="Microsoft YaHei" panose="020B0503020204020204" pitchFamily="34" charset="-122"/>
              </a:rPr>
              <a:t>。</a:t>
            </a:r>
          </a:p>
        </p:txBody>
      </p:sp>
      <p:pic>
        <p:nvPicPr>
          <p:cNvPr id="17" name="图片 16">
            <a:extLst>
              <a:ext uri="{FF2B5EF4-FFF2-40B4-BE49-F238E27FC236}">
                <a16:creationId xmlns:a16="http://schemas.microsoft.com/office/drawing/2014/main" id="{DA501264-4152-C4C1-EBCB-C64E45FD66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3475" y="1143000"/>
            <a:ext cx="3006801" cy="1762125"/>
          </a:xfrm>
          <a:prstGeom prst="rect">
            <a:avLst/>
          </a:prstGeom>
        </p:spPr>
      </p:pic>
      <p:pic>
        <p:nvPicPr>
          <p:cNvPr id="19" name="图片 18">
            <a:extLst>
              <a:ext uri="{FF2B5EF4-FFF2-40B4-BE49-F238E27FC236}">
                <a16:creationId xmlns:a16="http://schemas.microsoft.com/office/drawing/2014/main" id="{C91DE459-AB43-A49F-44CA-52F243BBE9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6723" y="3238500"/>
            <a:ext cx="4388303" cy="2571750"/>
          </a:xfrm>
          <a:prstGeom prst="rect">
            <a:avLst/>
          </a:prstGeom>
        </p:spPr>
      </p:pic>
      <p:pic>
        <p:nvPicPr>
          <p:cNvPr id="21" name="图片 20">
            <a:extLst>
              <a:ext uri="{FF2B5EF4-FFF2-40B4-BE49-F238E27FC236}">
                <a16:creationId xmlns:a16="http://schemas.microsoft.com/office/drawing/2014/main" id="{638C0216-6F15-12D6-4B2D-99AAC185E26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21223" y="3238500"/>
            <a:ext cx="4388303" cy="2571750"/>
          </a:xfrm>
          <a:prstGeom prst="rect">
            <a:avLst/>
          </a:prstGeom>
        </p:spPr>
      </p:pic>
    </p:spTree>
    <p:custDataLst>
      <p:tags r:id="rId1"/>
    </p:custDataLst>
    <p:extLst>
      <p:ext uri="{BB962C8B-B14F-4D97-AF65-F5344CB8AC3E}">
        <p14:creationId xmlns:p14="http://schemas.microsoft.com/office/powerpoint/2010/main" val="2040549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市场回顾（</a:t>
            </a:r>
            <a:r>
              <a:rPr lang="en-US" altLang="zh-CN"/>
              <a:t>2</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19</a:t>
            </a:fld>
            <a:endParaRPr lang="zh-CN" altLang="en-US" dirty="0"/>
          </a:p>
        </p:txBody>
      </p:sp>
      <p:sp>
        <p:nvSpPr>
          <p:cNvPr id="5" name="文本占位符 4">
            <a:extLst>
              <a:ext uri="{FF2B5EF4-FFF2-40B4-BE49-F238E27FC236}">
                <a16:creationId xmlns:a16="http://schemas.microsoft.com/office/drawing/2014/main" id="{32AEAF1E-7925-4727-B69E-09F9AF79BC2C}"/>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7F4DEC18-BD7B-520F-FEA9-981BF481003E}"/>
              </a:ext>
            </a:extLst>
          </p:cNvPr>
          <p:cNvSpPr/>
          <p:nvPr/>
        </p:nvSpPr>
        <p:spPr>
          <a:xfrm>
            <a:off x="571500" y="1162050"/>
            <a:ext cx="6429375" cy="114300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7F69E3A-594B-028D-BD27-EE05CE875E9B}"/>
              </a:ext>
            </a:extLst>
          </p:cNvPr>
          <p:cNvSpPr/>
          <p:nvPr/>
        </p:nvSpPr>
        <p:spPr>
          <a:xfrm>
            <a:off x="742950" y="1333500"/>
            <a:ext cx="76200" cy="762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713BFCA5-F60A-38D4-E577-55AFA8481279}"/>
              </a:ext>
            </a:extLst>
          </p:cNvPr>
          <p:cNvSpPr txBox="1"/>
          <p:nvPr/>
        </p:nvSpPr>
        <p:spPr>
          <a:xfrm>
            <a:off x="971550" y="1276350"/>
            <a:ext cx="5876925" cy="507831"/>
          </a:xfrm>
          <a:prstGeom prst="rect">
            <a:avLst/>
          </a:prstGeom>
          <a:noFill/>
        </p:spPr>
        <p:txBody>
          <a:bodyPr vert="horz" wrap="square" lIns="0" tIns="0" rIns="0" bIns="0" rtlCol="0">
            <a:spAutoFit/>
          </a:bodyPr>
          <a:lstStyle/>
          <a:p>
            <a:r>
              <a:rPr lang="zh-CN" altLang="en-US" sz="1100">
                <a:solidFill>
                  <a:srgbClr val="111111"/>
                </a:solidFill>
                <a:latin typeface="Microsoft YaHei" panose="020B0503020204020204" pitchFamily="34" charset="-122"/>
                <a:ea typeface="Microsoft YaHei" panose="020B0503020204020204" pitchFamily="34" charset="-122"/>
              </a:rPr>
              <a:t>固收方面，</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1</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1</a:t>
            </a:r>
            <a:r>
              <a:rPr lang="zh-CN" altLang="en-US" sz="1100">
                <a:solidFill>
                  <a:srgbClr val="111111"/>
                </a:solidFill>
                <a:latin typeface="Microsoft YaHei" panose="020B0503020204020204" pitchFamily="34" charset="-122"/>
                <a:ea typeface="Microsoft YaHei" panose="020B0503020204020204" pitchFamily="34" charset="-122"/>
              </a:rPr>
              <a:t>日</a:t>
            </a:r>
            <a:r>
              <a:rPr lang="en-US" altLang="zh-CN" sz="1100">
                <a:solidFill>
                  <a:srgbClr val="111111"/>
                </a:solidFill>
                <a:latin typeface="Microsoft YaHei" panose="020B0503020204020204" pitchFamily="34" charset="-122"/>
                <a:ea typeface="Microsoft YaHei" panose="020B0503020204020204" pitchFamily="34" charset="-122"/>
              </a:rPr>
              <a:t>-2023</a:t>
            </a:r>
            <a:r>
              <a:rPr lang="zh-CN" altLang="en-US" sz="1100">
                <a:solidFill>
                  <a:srgbClr val="111111"/>
                </a:solidFill>
                <a:latin typeface="Microsoft YaHei" panose="020B0503020204020204" pitchFamily="34" charset="-122"/>
                <a:ea typeface="Microsoft YaHei" panose="020B0503020204020204" pitchFamily="34" charset="-122"/>
              </a:rPr>
              <a:t>年</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月</a:t>
            </a:r>
            <a:r>
              <a:rPr lang="en-US" altLang="zh-CN" sz="1100">
                <a:solidFill>
                  <a:srgbClr val="111111"/>
                </a:solidFill>
                <a:latin typeface="Microsoft YaHei" panose="020B0503020204020204" pitchFamily="34" charset="-122"/>
                <a:ea typeface="Microsoft YaHei" panose="020B0503020204020204" pitchFamily="34" charset="-122"/>
              </a:rPr>
              <a:t>31</a:t>
            </a:r>
            <a:r>
              <a:rPr lang="zh-CN" altLang="en-US" sz="1100">
                <a:solidFill>
                  <a:srgbClr val="111111"/>
                </a:solidFill>
                <a:latin typeface="Microsoft YaHei" panose="020B0503020204020204" pitchFamily="34" charset="-122"/>
                <a:ea typeface="Microsoft YaHei" panose="020B0503020204020204" pitchFamily="34" charset="-122"/>
              </a:rPr>
              <a:t>日。信用债方面，截至期末，</a:t>
            </a:r>
            <a:r>
              <a:rPr lang="en-US" altLang="zh-CN" sz="1100">
                <a:solidFill>
                  <a:srgbClr val="111111"/>
                </a:solidFill>
                <a:latin typeface="Microsoft YaHei" panose="020B0503020204020204" pitchFamily="34" charset="-122"/>
                <a:ea typeface="Microsoft YaHei" panose="020B0503020204020204" pitchFamily="34" charset="-122"/>
              </a:rPr>
              <a:t>3</a:t>
            </a:r>
            <a:r>
              <a:rPr lang="zh-CN" altLang="en-US" sz="1100">
                <a:solidFill>
                  <a:srgbClr val="111111"/>
                </a:solidFill>
                <a:latin typeface="Microsoft YaHei" panose="020B0503020204020204" pitchFamily="34" charset="-122"/>
                <a:ea typeface="Microsoft YaHei" panose="020B0503020204020204" pitchFamily="34" charset="-122"/>
              </a:rPr>
              <a:t>年期</a:t>
            </a:r>
            <a:r>
              <a:rPr lang="en-US" altLang="zh-CN" sz="1100">
                <a:solidFill>
                  <a:srgbClr val="111111"/>
                </a:solidFill>
                <a:latin typeface="Microsoft YaHei" panose="020B0503020204020204" pitchFamily="34" charset="-122"/>
                <a:ea typeface="Microsoft YaHei" panose="020B0503020204020204" pitchFamily="34" charset="-122"/>
              </a:rPr>
              <a:t>AAA</a:t>
            </a:r>
            <a:r>
              <a:rPr lang="zh-CN" altLang="en-US" sz="1100">
                <a:solidFill>
                  <a:srgbClr val="111111"/>
                </a:solidFill>
                <a:latin typeface="Microsoft YaHei" panose="020B0503020204020204" pitchFamily="34" charset="-122"/>
                <a:ea typeface="Microsoft YaHei" panose="020B0503020204020204" pitchFamily="34" charset="-122"/>
              </a:rPr>
              <a:t>、</a:t>
            </a:r>
            <a:r>
              <a:rPr lang="en-US" altLang="zh-CN" sz="1100">
                <a:solidFill>
                  <a:srgbClr val="111111"/>
                </a:solidFill>
                <a:latin typeface="Microsoft YaHei" panose="020B0503020204020204" pitchFamily="34" charset="-122"/>
                <a:ea typeface="Microsoft YaHei" panose="020B0503020204020204" pitchFamily="34" charset="-122"/>
              </a:rPr>
              <a:t>AA</a:t>
            </a:r>
            <a:r>
              <a:rPr lang="zh-CN" altLang="en-US" sz="1100">
                <a:solidFill>
                  <a:srgbClr val="111111"/>
                </a:solidFill>
                <a:latin typeface="Microsoft YaHei" panose="020B0503020204020204" pitchFamily="34" charset="-122"/>
                <a:ea typeface="Microsoft YaHei" panose="020B0503020204020204" pitchFamily="34" charset="-122"/>
              </a:rPr>
              <a:t>评级中期票据收益率分别为</a:t>
            </a:r>
            <a:r>
              <a:rPr lang="en-US" altLang="zh-CN" sz="1100">
                <a:solidFill>
                  <a:srgbClr val="111111"/>
                </a:solidFill>
                <a:latin typeface="Microsoft YaHei" panose="020B0503020204020204" pitchFamily="34" charset="-122"/>
                <a:ea typeface="Microsoft YaHei" panose="020B0503020204020204" pitchFamily="34" charset="-122"/>
              </a:rPr>
              <a:t>0.00%</a:t>
            </a:r>
            <a:r>
              <a:rPr lang="zh-CN" altLang="en-US" sz="1100">
                <a:solidFill>
                  <a:srgbClr val="111111"/>
                </a:solidFill>
                <a:latin typeface="Microsoft YaHei" panose="020B0503020204020204" pitchFamily="34" charset="-122"/>
                <a:ea typeface="Microsoft YaHei" panose="020B0503020204020204" pitchFamily="34" charset="-122"/>
              </a:rPr>
              <a:t>和</a:t>
            </a:r>
            <a:r>
              <a:rPr lang="en-US" altLang="zh-CN" sz="1100">
                <a:solidFill>
                  <a:srgbClr val="111111"/>
                </a:solidFill>
                <a:latin typeface="Microsoft YaHei" panose="020B0503020204020204" pitchFamily="34" charset="-122"/>
                <a:ea typeface="Microsoft YaHei" panose="020B0503020204020204" pitchFamily="34" charset="-122"/>
              </a:rPr>
              <a:t>0.00%</a:t>
            </a:r>
            <a:r>
              <a:rPr lang="zh-CN" altLang="en-US" sz="1100">
                <a:solidFill>
                  <a:srgbClr val="111111"/>
                </a:solidFill>
                <a:latin typeface="Microsoft YaHei" panose="020B0503020204020204" pitchFamily="34" charset="-122"/>
                <a:ea typeface="Microsoft YaHei" panose="020B0503020204020204" pitchFamily="34" charset="-122"/>
              </a:rPr>
              <a:t>，较期初上行</a:t>
            </a:r>
            <a:r>
              <a:rPr lang="en-US" altLang="zh-CN" sz="1100">
                <a:solidFill>
                  <a:srgbClr val="111111"/>
                </a:solidFill>
                <a:latin typeface="Microsoft YaHei" panose="020B0503020204020204" pitchFamily="34" charset="-122"/>
                <a:ea typeface="Microsoft YaHei" panose="020B0503020204020204" pitchFamily="34" charset="-122"/>
              </a:rPr>
              <a:t>0BP</a:t>
            </a:r>
            <a:r>
              <a:rPr lang="zh-CN" altLang="en-US" sz="1100">
                <a:solidFill>
                  <a:srgbClr val="111111"/>
                </a:solidFill>
                <a:latin typeface="Microsoft YaHei" panose="020B0503020204020204" pitchFamily="34" charset="-122"/>
                <a:ea typeface="Microsoft YaHei" panose="020B0503020204020204" pitchFamily="34" charset="-122"/>
              </a:rPr>
              <a:t>和</a:t>
            </a:r>
            <a:r>
              <a:rPr lang="en-US" altLang="zh-CN" sz="1100">
                <a:solidFill>
                  <a:srgbClr val="111111"/>
                </a:solidFill>
                <a:latin typeface="Microsoft YaHei" panose="020B0503020204020204" pitchFamily="34" charset="-122"/>
                <a:ea typeface="Microsoft YaHei" panose="020B0503020204020204" pitchFamily="34" charset="-122"/>
              </a:rPr>
              <a:t>0BP</a:t>
            </a:r>
            <a:r>
              <a:rPr lang="zh-CN" altLang="en-US" sz="1100">
                <a:solidFill>
                  <a:srgbClr val="111111"/>
                </a:solidFill>
                <a:latin typeface="Microsoft YaHei" panose="020B0503020204020204" pitchFamily="34" charset="-122"/>
                <a:ea typeface="Microsoft YaHei" panose="020B0503020204020204" pitchFamily="34" charset="-122"/>
              </a:rPr>
              <a:t>；等级利差走阔</a:t>
            </a:r>
            <a:r>
              <a:rPr lang="en-US" altLang="zh-CN" sz="1100">
                <a:solidFill>
                  <a:srgbClr val="111111"/>
                </a:solidFill>
                <a:latin typeface="Microsoft YaHei" panose="020B0503020204020204" pitchFamily="34" charset="-122"/>
                <a:ea typeface="Microsoft YaHei" panose="020B0503020204020204" pitchFamily="34" charset="-122"/>
              </a:rPr>
              <a:t>0BP</a:t>
            </a:r>
            <a:r>
              <a:rPr lang="zh-CN" altLang="en-US" sz="1100">
                <a:solidFill>
                  <a:srgbClr val="111111"/>
                </a:solidFill>
                <a:latin typeface="Microsoft YaHei" panose="020B0503020204020204" pitchFamily="34" charset="-122"/>
                <a:ea typeface="Microsoft YaHei" panose="020B0503020204020204" pitchFamily="34" charset="-122"/>
              </a:rPr>
              <a:t>；转债方面，中证转债区间涨幅为</a:t>
            </a:r>
            <a:r>
              <a:rPr lang="en-US" altLang="zh-CN" sz="1100">
                <a:solidFill>
                  <a:srgbClr val="111111"/>
                </a:solidFill>
                <a:latin typeface="Microsoft YaHei" panose="020B0503020204020204" pitchFamily="34" charset="-122"/>
                <a:ea typeface="Microsoft YaHei" panose="020B0503020204020204" pitchFamily="34" charset="-122"/>
              </a:rPr>
              <a:t>3.53%</a:t>
            </a:r>
            <a:r>
              <a:rPr lang="zh-CN" altLang="en-US" sz="1100">
                <a:solidFill>
                  <a:srgbClr val="111111"/>
                </a:solidFill>
                <a:latin typeface="Microsoft YaHei" panose="020B0503020204020204" pitchFamily="34" charset="-122"/>
                <a:ea typeface="Microsoft YaHei" panose="020B0503020204020204" pitchFamily="34" charset="-122"/>
              </a:rPr>
              <a:t>。</a:t>
            </a:r>
          </a:p>
        </p:txBody>
      </p:sp>
      <p:pic>
        <p:nvPicPr>
          <p:cNvPr id="15" name="图片 14">
            <a:extLst>
              <a:ext uri="{FF2B5EF4-FFF2-40B4-BE49-F238E27FC236}">
                <a16:creationId xmlns:a16="http://schemas.microsoft.com/office/drawing/2014/main" id="{D8F27116-1670-919E-317E-6570FEFFFA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3475" y="1143000"/>
            <a:ext cx="3006801" cy="1762125"/>
          </a:xfrm>
          <a:prstGeom prst="rect">
            <a:avLst/>
          </a:prstGeom>
        </p:spPr>
      </p:pic>
      <p:pic>
        <p:nvPicPr>
          <p:cNvPr id="17" name="图片 16">
            <a:extLst>
              <a:ext uri="{FF2B5EF4-FFF2-40B4-BE49-F238E27FC236}">
                <a16:creationId xmlns:a16="http://schemas.microsoft.com/office/drawing/2014/main" id="{E21841D3-9477-17F1-B7C0-7CF94CDE1C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6723" y="3238500"/>
            <a:ext cx="4388303" cy="2571750"/>
          </a:xfrm>
          <a:prstGeom prst="rect">
            <a:avLst/>
          </a:prstGeom>
        </p:spPr>
      </p:pic>
      <p:pic>
        <p:nvPicPr>
          <p:cNvPr id="19" name="图片 18">
            <a:extLst>
              <a:ext uri="{FF2B5EF4-FFF2-40B4-BE49-F238E27FC236}">
                <a16:creationId xmlns:a16="http://schemas.microsoft.com/office/drawing/2014/main" id="{963AEEC6-81A5-F22A-6ACF-39753337BB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21223" y="3238500"/>
            <a:ext cx="4388303" cy="2571750"/>
          </a:xfrm>
          <a:prstGeom prst="rect">
            <a:avLst/>
          </a:prstGeom>
        </p:spPr>
      </p:pic>
    </p:spTree>
    <p:custDataLst>
      <p:tags r:id="rId1"/>
    </p:custDataLst>
    <p:extLst>
      <p:ext uri="{BB962C8B-B14F-4D97-AF65-F5344CB8AC3E}">
        <p14:creationId xmlns:p14="http://schemas.microsoft.com/office/powerpoint/2010/main" val="347185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投资策略</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20</a:t>
            </a:fld>
            <a:endParaRPr lang="zh-CN" altLang="en-US" dirty="0"/>
          </a:p>
        </p:txBody>
      </p:sp>
      <p:sp>
        <p:nvSpPr>
          <p:cNvPr id="5" name="文本占位符 4">
            <a:extLst>
              <a:ext uri="{FF2B5EF4-FFF2-40B4-BE49-F238E27FC236}">
                <a16:creationId xmlns:a16="http://schemas.microsoft.com/office/drawing/2014/main" id="{B6D4BAC1-21ED-8A2D-2557-2E4F8F16FD44}"/>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B3E646EA-2E84-F184-5C54-7F781034F1B7}"/>
              </a:ext>
            </a:extLst>
          </p:cNvPr>
          <p:cNvSpPr/>
          <p:nvPr/>
        </p:nvSpPr>
        <p:spPr>
          <a:xfrm>
            <a:off x="571500" y="1162050"/>
            <a:ext cx="10763250" cy="333375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1009249-1373-96F4-E7F0-279E30D49C46}"/>
              </a:ext>
            </a:extLst>
          </p:cNvPr>
          <p:cNvSpPr/>
          <p:nvPr/>
        </p:nvSpPr>
        <p:spPr>
          <a:xfrm>
            <a:off x="742950" y="13335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A75B466-09A0-F4A1-996C-FD6686A086FB}"/>
              </a:ext>
            </a:extLst>
          </p:cNvPr>
          <p:cNvSpPr txBox="1"/>
          <p:nvPr/>
        </p:nvSpPr>
        <p:spPr>
          <a:xfrm>
            <a:off x="971550" y="1276350"/>
            <a:ext cx="10210800" cy="692497"/>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固收总观点：短端品种偏谨慎，长端品种视供给情况进行波段操作。转债部分低价品种适当布局。</a:t>
            </a:r>
            <a:r>
              <a:rPr lang="en-US" altLang="zh-CN" sz="1500">
                <a:solidFill>
                  <a:srgbClr val="111111"/>
                </a:solidFill>
                <a:latin typeface="Microsoft YaHei" panose="020B0503020204020204" pitchFamily="34" charset="-122"/>
                <a:ea typeface="Microsoft YaHei" panose="020B0503020204020204" pitchFamily="34" charset="-122"/>
              </a:rPr>
              <a:t>6</a:t>
            </a:r>
            <a:r>
              <a:rPr lang="zh-CN" altLang="en-US" sz="1500">
                <a:solidFill>
                  <a:srgbClr val="111111"/>
                </a:solidFill>
                <a:latin typeface="Microsoft YaHei" panose="020B0503020204020204" pitchFamily="34" charset="-122"/>
                <a:ea typeface="Microsoft YaHei" panose="020B0503020204020204" pitchFamily="34" charset="-122"/>
              </a:rPr>
              <a:t>月债券市场呈现</a:t>
            </a:r>
            <a:r>
              <a:rPr lang="en-US" altLang="zh-CN" sz="1500">
                <a:solidFill>
                  <a:srgbClr val="111111"/>
                </a:solidFill>
                <a:latin typeface="Microsoft YaHei" panose="020B0503020204020204" pitchFamily="34" charset="-122"/>
                <a:ea typeface="Microsoft YaHei" panose="020B0503020204020204" pitchFamily="34" charset="-122"/>
              </a:rPr>
              <a:t>"</a:t>
            </a:r>
            <a:r>
              <a:rPr lang="zh-CN" altLang="en-US" sz="1500">
                <a:solidFill>
                  <a:srgbClr val="111111"/>
                </a:solidFill>
                <a:latin typeface="Microsoft YaHei" panose="020B0503020204020204" pitchFamily="34" charset="-122"/>
                <a:ea typeface="Microsoft YaHei" panose="020B0503020204020204" pitchFamily="34" charset="-122"/>
              </a:rPr>
              <a:t>先上后下、窄幅震荡、资金主导</a:t>
            </a:r>
            <a:r>
              <a:rPr lang="en-US" altLang="zh-CN" sz="1500">
                <a:solidFill>
                  <a:srgbClr val="111111"/>
                </a:solidFill>
                <a:latin typeface="Microsoft YaHei" panose="020B0503020204020204" pitchFamily="34" charset="-122"/>
                <a:ea typeface="Microsoft YaHei" panose="020B0503020204020204" pitchFamily="34" charset="-122"/>
              </a:rPr>
              <a:t>"</a:t>
            </a:r>
            <a:r>
              <a:rPr lang="zh-CN" altLang="en-US" sz="1500">
                <a:solidFill>
                  <a:srgbClr val="111111"/>
                </a:solidFill>
                <a:latin typeface="Microsoft YaHei" panose="020B0503020204020204" pitchFamily="34" charset="-122"/>
                <a:ea typeface="Microsoft YaHei" panose="020B0503020204020204" pitchFamily="34" charset="-122"/>
              </a:rPr>
              <a:t>的特征。月中后，央行态度转向呵护，加大投放力度稳定市场预期，利率重回下行。资金面可能较前期有一定收紧。</a:t>
            </a:r>
          </a:p>
        </p:txBody>
      </p:sp>
      <p:sp>
        <p:nvSpPr>
          <p:cNvPr id="14" name="椭圆 13">
            <a:extLst>
              <a:ext uri="{FF2B5EF4-FFF2-40B4-BE49-F238E27FC236}">
                <a16:creationId xmlns:a16="http://schemas.microsoft.com/office/drawing/2014/main" id="{E328D4AE-6336-0BD7-E464-410CA0CD1330}"/>
              </a:ext>
            </a:extLst>
          </p:cNvPr>
          <p:cNvSpPr/>
          <p:nvPr/>
        </p:nvSpPr>
        <p:spPr>
          <a:xfrm>
            <a:off x="742950" y="19050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EF996B3-704A-42EF-74D5-4378DC374300}"/>
              </a:ext>
            </a:extLst>
          </p:cNvPr>
          <p:cNvSpPr txBox="1"/>
          <p:nvPr/>
        </p:nvSpPr>
        <p:spPr>
          <a:xfrm>
            <a:off x="971550" y="1847850"/>
            <a:ext cx="10210800" cy="461665"/>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权益总观点：布局方向上，由于当前市场交易结构较为极致，且经济复苏势头震荡，我们继续建议在结构上主动降波，看好</a:t>
            </a:r>
            <a:r>
              <a:rPr lang="en-US" altLang="zh-CN" sz="1500">
                <a:solidFill>
                  <a:srgbClr val="111111"/>
                </a:solidFill>
                <a:latin typeface="Microsoft YaHei" panose="020B0503020204020204" pitchFamily="34" charset="-122"/>
                <a:ea typeface="Microsoft YaHei" panose="020B0503020204020204" pitchFamily="34" charset="-122"/>
              </a:rPr>
              <a:t>AI</a:t>
            </a:r>
            <a:r>
              <a:rPr lang="zh-CN" altLang="en-US" sz="1500">
                <a:solidFill>
                  <a:srgbClr val="111111"/>
                </a:solidFill>
                <a:latin typeface="Microsoft YaHei" panose="020B0503020204020204" pitchFamily="34" charset="-122"/>
                <a:ea typeface="Microsoft YaHei" panose="020B0503020204020204" pitchFamily="34" charset="-122"/>
              </a:rPr>
              <a:t>硬件、新能源、工业金属、化工、非银。另一方面，国内逆周期政策力度放缓，地方政府促投资和促消费力度减弱。</a:t>
            </a:r>
          </a:p>
        </p:txBody>
      </p:sp>
      <p:sp>
        <p:nvSpPr>
          <p:cNvPr id="16" name="椭圆 15">
            <a:extLst>
              <a:ext uri="{FF2B5EF4-FFF2-40B4-BE49-F238E27FC236}">
                <a16:creationId xmlns:a16="http://schemas.microsoft.com/office/drawing/2014/main" id="{20F205CD-0A41-D1B2-7302-A2B63C50D8EC}"/>
              </a:ext>
            </a:extLst>
          </p:cNvPr>
          <p:cNvSpPr/>
          <p:nvPr/>
        </p:nvSpPr>
        <p:spPr>
          <a:xfrm>
            <a:off x="742950" y="24765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8C60287B-E608-5FDF-0380-314B9C12FBC9}"/>
              </a:ext>
            </a:extLst>
          </p:cNvPr>
          <p:cNvSpPr txBox="1"/>
          <p:nvPr/>
        </p:nvSpPr>
        <p:spPr>
          <a:xfrm>
            <a:off x="971550" y="2419350"/>
            <a:ext cx="10210800" cy="461665"/>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展望海外，美伊冲突缓和，美国经济“空中加油”，全球央行“降息潮”基本结束。美国经济增长在</a:t>
            </a:r>
            <a:r>
              <a:rPr lang="en-US" altLang="zh-CN" sz="1500">
                <a:solidFill>
                  <a:srgbClr val="111111"/>
                </a:solidFill>
                <a:latin typeface="Microsoft YaHei" panose="020B0503020204020204" pitchFamily="34" charset="-122"/>
                <a:ea typeface="Microsoft YaHei" panose="020B0503020204020204" pitchFamily="34" charset="-122"/>
              </a:rPr>
              <a:t>AI</a:t>
            </a:r>
            <a:r>
              <a:rPr lang="zh-CN" altLang="en-US" sz="1500">
                <a:solidFill>
                  <a:srgbClr val="111111"/>
                </a:solidFill>
                <a:latin typeface="Microsoft YaHei" panose="020B0503020204020204" pitchFamily="34" charset="-122"/>
                <a:ea typeface="Microsoft YaHei" panose="020B0503020204020204" pitchFamily="34" charset="-122"/>
              </a:rPr>
              <a:t>技术革命、财政补贴前置、全球产业链重构的基础上保持韧性超预期。但全球央行的宽松空间正在收敛。</a:t>
            </a:r>
          </a:p>
        </p:txBody>
      </p:sp>
      <p:sp>
        <p:nvSpPr>
          <p:cNvPr id="18" name="椭圆 17">
            <a:extLst>
              <a:ext uri="{FF2B5EF4-FFF2-40B4-BE49-F238E27FC236}">
                <a16:creationId xmlns:a16="http://schemas.microsoft.com/office/drawing/2014/main" id="{8BE6B05D-511D-6A2F-3995-8D5527C8EF06}"/>
              </a:ext>
            </a:extLst>
          </p:cNvPr>
          <p:cNvSpPr/>
          <p:nvPr/>
        </p:nvSpPr>
        <p:spPr>
          <a:xfrm>
            <a:off x="742950" y="30480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A24C9BBB-0C75-120B-0CEC-7F74B5ADA623}"/>
              </a:ext>
            </a:extLst>
          </p:cNvPr>
          <p:cNvSpPr txBox="1"/>
          <p:nvPr/>
        </p:nvSpPr>
        <p:spPr>
          <a:xfrm>
            <a:off x="971550" y="2990850"/>
            <a:ext cx="10210800" cy="461665"/>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估值上看，虽然</a:t>
            </a:r>
            <a:r>
              <a:rPr lang="en-US" altLang="zh-CN" sz="1500">
                <a:solidFill>
                  <a:srgbClr val="111111"/>
                </a:solidFill>
                <a:latin typeface="Microsoft YaHei" panose="020B0503020204020204" pitchFamily="34" charset="-122"/>
                <a:ea typeface="Microsoft YaHei" panose="020B0503020204020204" pitchFamily="34" charset="-122"/>
              </a:rPr>
              <a:t>A</a:t>
            </a:r>
            <a:r>
              <a:rPr lang="zh-CN" altLang="en-US" sz="1500">
                <a:solidFill>
                  <a:srgbClr val="111111"/>
                </a:solidFill>
                <a:latin typeface="Microsoft YaHei" panose="020B0503020204020204" pitchFamily="34" charset="-122"/>
                <a:ea typeface="Microsoft YaHei" panose="020B0503020204020204" pitchFamily="34" charset="-122"/>
              </a:rPr>
              <a:t>股的股票资产性价比依然处于中位数水平，但半导体板块估值扩张程度达历史绝对高位。目前股债比处于</a:t>
            </a:r>
            <a:r>
              <a:rPr lang="en-US" altLang="zh-CN" sz="1500">
                <a:solidFill>
                  <a:srgbClr val="111111"/>
                </a:solidFill>
                <a:latin typeface="Microsoft YaHei" panose="020B0503020204020204" pitchFamily="34" charset="-122"/>
                <a:ea typeface="Microsoft YaHei" panose="020B0503020204020204" pitchFamily="34" charset="-122"/>
              </a:rPr>
              <a:t>95%</a:t>
            </a:r>
            <a:r>
              <a:rPr lang="zh-CN" altLang="en-US" sz="1500">
                <a:solidFill>
                  <a:srgbClr val="111111"/>
                </a:solidFill>
                <a:latin typeface="Microsoft YaHei" panose="020B0503020204020204" pitchFamily="34" charset="-122"/>
                <a:ea typeface="Microsoft YaHei" panose="020B0503020204020204" pitchFamily="34" charset="-122"/>
              </a:rPr>
              <a:t>分位数，万得全</a:t>
            </a:r>
            <a:r>
              <a:rPr lang="en-US" altLang="zh-CN" sz="1500">
                <a:solidFill>
                  <a:srgbClr val="111111"/>
                </a:solidFill>
                <a:latin typeface="Microsoft YaHei" panose="020B0503020204020204" pitchFamily="34" charset="-122"/>
                <a:ea typeface="Microsoft YaHei" panose="020B0503020204020204" pitchFamily="34" charset="-122"/>
              </a:rPr>
              <a:t>A</a:t>
            </a:r>
            <a:r>
              <a:rPr lang="zh-CN" altLang="en-US" sz="1500">
                <a:solidFill>
                  <a:srgbClr val="111111"/>
                </a:solidFill>
                <a:latin typeface="Microsoft YaHei" panose="020B0503020204020204" pitchFamily="34" charset="-122"/>
                <a:ea typeface="Microsoft YaHei" panose="020B0503020204020204" pitchFamily="34" charset="-122"/>
              </a:rPr>
              <a:t>股权风险溢价处于</a:t>
            </a:r>
            <a:r>
              <a:rPr lang="en-US" altLang="zh-CN" sz="1500">
                <a:solidFill>
                  <a:srgbClr val="111111"/>
                </a:solidFill>
                <a:latin typeface="Microsoft YaHei" panose="020B0503020204020204" pitchFamily="34" charset="-122"/>
                <a:ea typeface="Microsoft YaHei" panose="020B0503020204020204" pitchFamily="34" charset="-122"/>
              </a:rPr>
              <a:t>44%</a:t>
            </a:r>
            <a:r>
              <a:rPr lang="zh-CN" altLang="en-US" sz="1500">
                <a:solidFill>
                  <a:srgbClr val="111111"/>
                </a:solidFill>
                <a:latin typeface="Microsoft YaHei" panose="020B0503020204020204" pitchFamily="34" charset="-122"/>
                <a:ea typeface="Microsoft YaHei" panose="020B0503020204020204" pitchFamily="34" charset="-122"/>
              </a:rPr>
              <a:t>分位数。但半导体板块整体</a:t>
            </a:r>
            <a:r>
              <a:rPr lang="en-US" altLang="zh-CN" sz="1500">
                <a:solidFill>
                  <a:srgbClr val="111111"/>
                </a:solidFill>
                <a:latin typeface="Microsoft YaHei" panose="020B0503020204020204" pitchFamily="34" charset="-122"/>
                <a:ea typeface="Microsoft YaHei" panose="020B0503020204020204" pitchFamily="34" charset="-122"/>
              </a:rPr>
              <a:t>PB</a:t>
            </a:r>
            <a:r>
              <a:rPr lang="zh-CN" altLang="en-US" sz="1500">
                <a:solidFill>
                  <a:srgbClr val="111111"/>
                </a:solidFill>
                <a:latin typeface="Microsoft YaHei" panose="020B0503020204020204" pitchFamily="34" charset="-122"/>
                <a:ea typeface="Microsoft YaHei" panose="020B0503020204020204" pitchFamily="34" charset="-122"/>
              </a:rPr>
              <a:t>接近</a:t>
            </a:r>
            <a:r>
              <a:rPr lang="en-US" altLang="zh-CN" sz="1500">
                <a:solidFill>
                  <a:srgbClr val="111111"/>
                </a:solidFill>
                <a:latin typeface="Microsoft YaHei" panose="020B0503020204020204" pitchFamily="34" charset="-122"/>
                <a:ea typeface="Microsoft YaHei" panose="020B0503020204020204" pitchFamily="34" charset="-122"/>
              </a:rPr>
              <a:t>15x</a:t>
            </a:r>
            <a:r>
              <a:rPr lang="zh-CN" altLang="en-US" sz="1500">
                <a:solidFill>
                  <a:srgbClr val="111111"/>
                </a:solidFill>
                <a:latin typeface="Microsoft YaHei" panose="020B0503020204020204" pitchFamily="34" charset="-122"/>
                <a:ea typeface="Microsoft YaHei" panose="020B0503020204020204" pitchFamily="34" charset="-122"/>
              </a:rPr>
              <a:t>， 处于历史分位的</a:t>
            </a:r>
            <a:r>
              <a:rPr lang="en-US" altLang="zh-CN" sz="1500">
                <a:solidFill>
                  <a:srgbClr val="111111"/>
                </a:solidFill>
                <a:latin typeface="Microsoft YaHei" panose="020B0503020204020204" pitchFamily="34" charset="-122"/>
                <a:ea typeface="Microsoft YaHei" panose="020B0503020204020204" pitchFamily="34" charset="-122"/>
              </a:rPr>
              <a:t>100%</a:t>
            </a:r>
            <a:r>
              <a:rPr lang="zh-CN" altLang="en-US" sz="1500">
                <a:solidFill>
                  <a:srgbClr val="111111"/>
                </a:solidFill>
                <a:latin typeface="Microsoft YaHei" panose="020B0503020204020204" pitchFamily="34" charset="-122"/>
                <a:ea typeface="Microsoft YaHei" panose="020B0503020204020204" pitchFamily="34" charset="-122"/>
              </a:rPr>
              <a:t>。</a:t>
            </a:r>
          </a:p>
        </p:txBody>
      </p:sp>
      <p:sp>
        <p:nvSpPr>
          <p:cNvPr id="20" name="椭圆 19">
            <a:extLst>
              <a:ext uri="{FF2B5EF4-FFF2-40B4-BE49-F238E27FC236}">
                <a16:creationId xmlns:a16="http://schemas.microsoft.com/office/drawing/2014/main" id="{6D1796BB-9A4F-8723-4E2A-A7E9E6BC4E64}"/>
              </a:ext>
            </a:extLst>
          </p:cNvPr>
          <p:cNvSpPr/>
          <p:nvPr/>
        </p:nvSpPr>
        <p:spPr>
          <a:xfrm>
            <a:off x="742950" y="36195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EAB5C455-728F-7B8B-D756-00CFDA8EA95F}"/>
              </a:ext>
            </a:extLst>
          </p:cNvPr>
          <p:cNvSpPr txBox="1"/>
          <p:nvPr/>
        </p:nvSpPr>
        <p:spPr>
          <a:xfrm>
            <a:off x="971550" y="3562350"/>
            <a:ext cx="10210800" cy="461665"/>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经济正进入新周期，我们中期继续看好市场。但考虑到市场行情和估值极端分化，同时</a:t>
            </a:r>
            <a:r>
              <a:rPr lang="en-US" altLang="zh-CN" sz="1500">
                <a:solidFill>
                  <a:srgbClr val="111111"/>
                </a:solidFill>
                <a:latin typeface="Microsoft YaHei" panose="020B0503020204020204" pitchFamily="34" charset="-122"/>
                <a:ea typeface="Microsoft YaHei" panose="020B0503020204020204" pitchFamily="34" charset="-122"/>
              </a:rPr>
              <a:t>7</a:t>
            </a:r>
            <a:r>
              <a:rPr lang="zh-CN" altLang="en-US" sz="1500">
                <a:solidFill>
                  <a:srgbClr val="111111"/>
                </a:solidFill>
                <a:latin typeface="Microsoft YaHei" panose="020B0503020204020204" pitchFamily="34" charset="-122"/>
                <a:ea typeface="Microsoft YaHei" panose="020B0503020204020204" pitchFamily="34" charset="-122"/>
              </a:rPr>
              <a:t>月进入业绩验证期，我们建议短期适度降仓，暂作观望，等待风格平衡时机。</a:t>
            </a:r>
          </a:p>
        </p:txBody>
      </p:sp>
    </p:spTree>
    <p:custDataLst>
      <p:tags r:id="rId1"/>
    </p:custDataLst>
    <p:extLst>
      <p:ext uri="{BB962C8B-B14F-4D97-AF65-F5344CB8AC3E}">
        <p14:creationId xmlns:p14="http://schemas.microsoft.com/office/powerpoint/2010/main" val="2575132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投资策略（</a:t>
            </a:r>
            <a:r>
              <a:rPr lang="en-US" altLang="zh-CN"/>
              <a:t>2</a:t>
            </a:r>
            <a:r>
              <a:rPr lang="zh-CN" altLang="en-US"/>
              <a:t>）</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21</a:t>
            </a:fld>
            <a:endParaRPr lang="zh-CN" altLang="en-US" dirty="0"/>
          </a:p>
        </p:txBody>
      </p:sp>
      <p:sp>
        <p:nvSpPr>
          <p:cNvPr id="5" name="文本占位符 4">
            <a:extLst>
              <a:ext uri="{FF2B5EF4-FFF2-40B4-BE49-F238E27FC236}">
                <a16:creationId xmlns:a16="http://schemas.microsoft.com/office/drawing/2014/main" id="{CB49C061-554F-DDC2-175C-5442B501CF88}"/>
              </a:ext>
            </a:extLst>
          </p:cNvPr>
          <p:cNvSpPr>
            <a:spLocks noGrp="1"/>
          </p:cNvSpPr>
          <p:nvPr>
            <p:ph type="body" sz="quarter" idx="13"/>
          </p:nvPr>
        </p:nvSpPr>
        <p:spPr>
          <a:xfrm>
            <a:off x="660400" y="1266657"/>
            <a:ext cx="10858500" cy="328551"/>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a:lstStyle/>
          <a:p>
            <a:endParaRPr lang="zh-CN" altLang="en-US"/>
          </a:p>
        </p:txBody>
      </p:sp>
      <p:sp>
        <p:nvSpPr>
          <p:cNvPr id="8" name="矩形 7">
            <a:extLst>
              <a:ext uri="{FF2B5EF4-FFF2-40B4-BE49-F238E27FC236}">
                <a16:creationId xmlns:a16="http://schemas.microsoft.com/office/drawing/2014/main" id="{C9BAB463-ABA5-A814-F554-F32B1BC8DEFD}"/>
              </a:ext>
            </a:extLst>
          </p:cNvPr>
          <p:cNvSpPr/>
          <p:nvPr/>
        </p:nvSpPr>
        <p:spPr>
          <a:xfrm>
            <a:off x="571500" y="1162050"/>
            <a:ext cx="10763250" cy="3333750"/>
          </a:xfrm>
          <a:prstGeom prst="rect">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91F0EA3A-998F-553D-3D58-E7316EB2F258}"/>
              </a:ext>
            </a:extLst>
          </p:cNvPr>
          <p:cNvSpPr/>
          <p:nvPr/>
        </p:nvSpPr>
        <p:spPr>
          <a:xfrm>
            <a:off x="742950" y="13335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76FD40B-3C4C-E6C9-4380-BA65A1927D5F}"/>
              </a:ext>
            </a:extLst>
          </p:cNvPr>
          <p:cNvSpPr txBox="1"/>
          <p:nvPr/>
        </p:nvSpPr>
        <p:spPr>
          <a:xfrm>
            <a:off x="971550" y="1276350"/>
            <a:ext cx="10210800" cy="230832"/>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权益</a:t>
            </a:r>
            <a:r>
              <a:rPr lang="en-US" altLang="zh-CN" sz="1500">
                <a:solidFill>
                  <a:srgbClr val="111111"/>
                </a:solidFill>
                <a:latin typeface="Microsoft YaHei" panose="020B0503020204020204" pitchFamily="34" charset="-122"/>
                <a:ea typeface="Microsoft YaHei" panose="020B0503020204020204" pitchFamily="34" charset="-122"/>
              </a:rPr>
              <a:t>AI</a:t>
            </a:r>
            <a:r>
              <a:rPr lang="zh-CN" altLang="en-US" sz="1500">
                <a:solidFill>
                  <a:srgbClr val="111111"/>
                </a:solidFill>
                <a:latin typeface="Microsoft YaHei" panose="020B0503020204020204" pitchFamily="34" charset="-122"/>
                <a:ea typeface="Microsoft YaHei" panose="020B0503020204020204" pitchFamily="34" charset="-122"/>
              </a:rPr>
              <a:t>板块观点：分散配置光模块</a:t>
            </a:r>
            <a:r>
              <a:rPr lang="en-US" altLang="zh-CN" sz="1500">
                <a:solidFill>
                  <a:srgbClr val="111111"/>
                </a:solidFill>
                <a:latin typeface="Microsoft YaHei" panose="020B0503020204020204" pitchFamily="34" charset="-122"/>
                <a:ea typeface="Microsoft YaHei" panose="020B0503020204020204" pitchFamily="34" charset="-122"/>
              </a:rPr>
              <a:t>/PCB/</a:t>
            </a:r>
            <a:r>
              <a:rPr lang="zh-CN" altLang="en-US" sz="1500">
                <a:solidFill>
                  <a:srgbClr val="111111"/>
                </a:solidFill>
                <a:latin typeface="Microsoft YaHei" panose="020B0503020204020204" pitchFamily="34" charset="-122"/>
                <a:ea typeface="Microsoft YaHei" panose="020B0503020204020204" pitchFamily="34" charset="-122"/>
              </a:rPr>
              <a:t>服务器</a:t>
            </a:r>
            <a:r>
              <a:rPr lang="en-US" altLang="zh-CN" sz="1500">
                <a:solidFill>
                  <a:srgbClr val="111111"/>
                </a:solidFill>
                <a:latin typeface="Microsoft YaHei" panose="020B0503020204020204" pitchFamily="34" charset="-122"/>
                <a:ea typeface="Microsoft YaHei" panose="020B0503020204020204" pitchFamily="34" charset="-122"/>
              </a:rPr>
              <a:t>/</a:t>
            </a:r>
            <a:r>
              <a:rPr lang="zh-CN" altLang="en-US" sz="1500">
                <a:solidFill>
                  <a:srgbClr val="111111"/>
                </a:solidFill>
                <a:latin typeface="Microsoft YaHei" panose="020B0503020204020204" pitchFamily="34" charset="-122"/>
                <a:ea typeface="Microsoft YaHei" panose="020B0503020204020204" pitchFamily="34" charset="-122"/>
              </a:rPr>
              <a:t>燃气轮机等龙头，降低高估值二三线敞口，耐心等布局点。</a:t>
            </a:r>
          </a:p>
        </p:txBody>
      </p:sp>
      <p:sp>
        <p:nvSpPr>
          <p:cNvPr id="14" name="椭圆 13">
            <a:extLst>
              <a:ext uri="{FF2B5EF4-FFF2-40B4-BE49-F238E27FC236}">
                <a16:creationId xmlns:a16="http://schemas.microsoft.com/office/drawing/2014/main" id="{C6CEF29B-3A89-1821-1729-3D5CEB680555}"/>
              </a:ext>
            </a:extLst>
          </p:cNvPr>
          <p:cNvSpPr/>
          <p:nvPr/>
        </p:nvSpPr>
        <p:spPr>
          <a:xfrm>
            <a:off x="742950" y="165735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F1E6B2BE-FDA6-5992-5AE2-59843418DCE7}"/>
              </a:ext>
            </a:extLst>
          </p:cNvPr>
          <p:cNvSpPr txBox="1"/>
          <p:nvPr/>
        </p:nvSpPr>
        <p:spPr>
          <a:xfrm>
            <a:off x="971550" y="1600200"/>
            <a:ext cx="10210800" cy="230832"/>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权益红利观点：在市场结构化行情趋于极致的情况下，也建议可以考虑低估值因子的保险、券商以及小仓位的红利来降波。</a:t>
            </a:r>
          </a:p>
        </p:txBody>
      </p:sp>
      <p:sp>
        <p:nvSpPr>
          <p:cNvPr id="16" name="椭圆 15">
            <a:extLst>
              <a:ext uri="{FF2B5EF4-FFF2-40B4-BE49-F238E27FC236}">
                <a16:creationId xmlns:a16="http://schemas.microsoft.com/office/drawing/2014/main" id="{18125938-88BC-8961-3C92-18D6F0BAD473}"/>
              </a:ext>
            </a:extLst>
          </p:cNvPr>
          <p:cNvSpPr/>
          <p:nvPr/>
        </p:nvSpPr>
        <p:spPr>
          <a:xfrm>
            <a:off x="742950" y="1981200"/>
            <a:ext cx="114300" cy="114300"/>
          </a:xfrm>
          <a:prstGeom prst="ellipse">
            <a:avLst/>
          </a:prstGeom>
          <a:solidFill>
            <a:srgbClr val="B000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0CE0FA2-A4E1-641A-8274-048658EE4507}"/>
              </a:ext>
            </a:extLst>
          </p:cNvPr>
          <p:cNvSpPr txBox="1"/>
          <p:nvPr/>
        </p:nvSpPr>
        <p:spPr>
          <a:xfrm>
            <a:off x="971550" y="1924050"/>
            <a:ext cx="10210800" cy="461665"/>
          </a:xfrm>
          <a:prstGeom prst="rect">
            <a:avLst/>
          </a:prstGeom>
          <a:noFill/>
        </p:spPr>
        <p:txBody>
          <a:bodyPr vert="horz" wrap="square" lIns="0" tIns="0" rIns="0" bIns="0" rtlCol="0">
            <a:spAutoFit/>
          </a:bodyPr>
          <a:lstStyle/>
          <a:p>
            <a:r>
              <a:rPr lang="zh-CN" altLang="en-US" sz="1500">
                <a:solidFill>
                  <a:srgbClr val="111111"/>
                </a:solidFill>
                <a:latin typeface="Microsoft YaHei" panose="020B0503020204020204" pitchFamily="34" charset="-122"/>
                <a:ea typeface="Microsoft YaHei" panose="020B0503020204020204" pitchFamily="34" charset="-122"/>
              </a:rPr>
              <a:t>权益周期观点：在经济结构性复苏、制造业中上游率先进入新周期的背景下，新能源、有色、化工是后续能够受益于制造业供应链修复的行业。</a:t>
            </a:r>
          </a:p>
        </p:txBody>
      </p:sp>
    </p:spTree>
    <p:custDataLst>
      <p:tags r:id="rId1"/>
    </p:custDataLst>
    <p:extLst>
      <p:ext uri="{BB962C8B-B14F-4D97-AF65-F5344CB8AC3E}">
        <p14:creationId xmlns:p14="http://schemas.microsoft.com/office/powerpoint/2010/main" val="2686546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04</a:t>
            </a:r>
            <a:endParaRPr lang="zh-CN" altLang="en-US" dirty="0"/>
          </a:p>
        </p:txBody>
      </p:sp>
      <p:sp>
        <p:nvSpPr>
          <p:cNvPr id="11" name="标题 10"/>
          <p:cNvSpPr>
            <a:spLocks noGrp="1"/>
          </p:cNvSpPr>
          <p:nvPr>
            <p:ph type="title"/>
          </p:nvPr>
        </p:nvSpPr>
        <p:spPr/>
        <p:txBody>
          <a:bodyPr>
            <a:normAutofit/>
          </a:bodyPr>
          <a:lstStyle/>
          <a:p>
            <a:r>
              <a:rPr lang="zh-CN" altLang="en-US" sz="2400"/>
              <a:t>补充数据图表</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t>22</a:t>
            </a:fld>
            <a:endParaRPr lang="de-DE" dirty="0"/>
          </a:p>
        </p:txBody>
      </p:sp>
    </p:spTree>
    <p:custDataLst>
      <p:tags r:id="rId1"/>
    </p:custDataLst>
    <p:extLst>
      <p:ext uri="{BB962C8B-B14F-4D97-AF65-F5344CB8AC3E}">
        <p14:creationId xmlns:p14="http://schemas.microsoft.com/office/powerpoint/2010/main" val="1143403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养老金产品时序图</a:t>
            </a:r>
            <a:r>
              <a:rPr lang="en-US" altLang="zh-CN"/>
              <a:t>_</a:t>
            </a:r>
            <a:r>
              <a:rPr lang="zh-CN" altLang="en-US"/>
              <a:t>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23</a:t>
            </a:fld>
            <a:endParaRPr lang="zh-CN" altLang="en-US" dirty="0"/>
          </a:p>
        </p:txBody>
      </p:sp>
      <p:pic>
        <p:nvPicPr>
          <p:cNvPr id="10" name="图片 9">
            <a:extLst>
              <a:ext uri="{FF2B5EF4-FFF2-40B4-BE49-F238E27FC236}">
                <a16:creationId xmlns:a16="http://schemas.microsoft.com/office/drawing/2014/main" id="{66EFC008-E15A-0A13-E25B-175C4FF940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1913" y="1143000"/>
            <a:ext cx="6376673" cy="4333875"/>
          </a:xfrm>
          <a:prstGeom prst="rect">
            <a:avLst/>
          </a:prstGeom>
        </p:spPr>
      </p:pic>
    </p:spTree>
    <p:custDataLst>
      <p:tags r:id="rId1"/>
    </p:custDataLst>
    <p:extLst>
      <p:ext uri="{BB962C8B-B14F-4D97-AF65-F5344CB8AC3E}">
        <p14:creationId xmlns:p14="http://schemas.microsoft.com/office/powerpoint/2010/main" val="911803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组合可转债仓位变动情况（穿透后）</a:t>
            </a:r>
            <a:r>
              <a:rPr lang="en-US" altLang="zh-CN"/>
              <a:t>_</a:t>
            </a:r>
            <a:r>
              <a:rPr lang="zh-CN" altLang="en-US"/>
              <a:t>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24</a:t>
            </a:fld>
            <a:endParaRPr lang="zh-CN" altLang="en-US" dirty="0"/>
          </a:p>
        </p:txBody>
      </p:sp>
      <p:pic>
        <p:nvPicPr>
          <p:cNvPr id="10" name="图片 9">
            <a:extLst>
              <a:ext uri="{FF2B5EF4-FFF2-40B4-BE49-F238E27FC236}">
                <a16:creationId xmlns:a16="http://schemas.microsoft.com/office/drawing/2014/main" id="{723316F5-D834-C6A7-9141-BA17518346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638" y="1143000"/>
            <a:ext cx="6271224" cy="4333875"/>
          </a:xfrm>
          <a:prstGeom prst="rect">
            <a:avLst/>
          </a:prstGeom>
        </p:spPr>
      </p:pic>
    </p:spTree>
    <p:custDataLst>
      <p:tags r:id="rId1"/>
    </p:custDataLst>
    <p:extLst>
      <p:ext uri="{BB962C8B-B14F-4D97-AF65-F5344CB8AC3E}">
        <p14:creationId xmlns:p14="http://schemas.microsoft.com/office/powerpoint/2010/main" val="2463676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可转债正股行业时序图</a:t>
            </a:r>
            <a:r>
              <a:rPr lang="en-US" altLang="zh-CN"/>
              <a:t>(</a:t>
            </a:r>
            <a:r>
              <a:rPr lang="zh-CN" altLang="en-US"/>
              <a:t>不穿透</a:t>
            </a:r>
            <a:r>
              <a:rPr lang="en-US" altLang="zh-CN"/>
              <a:t>)_</a:t>
            </a:r>
            <a:r>
              <a:rPr lang="zh-CN" altLang="en-US"/>
              <a:t>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25</a:t>
            </a:fld>
            <a:endParaRPr lang="zh-CN" altLang="en-US" dirty="0"/>
          </a:p>
        </p:txBody>
      </p:sp>
      <p:pic>
        <p:nvPicPr>
          <p:cNvPr id="10" name="图片 9">
            <a:extLst>
              <a:ext uri="{FF2B5EF4-FFF2-40B4-BE49-F238E27FC236}">
                <a16:creationId xmlns:a16="http://schemas.microsoft.com/office/drawing/2014/main" id="{3BBFABA0-3E2F-77D2-54CD-2360163D3D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6538" y="1143000"/>
            <a:ext cx="6067425" cy="4333875"/>
          </a:xfrm>
          <a:prstGeom prst="rect">
            <a:avLst/>
          </a:prstGeom>
        </p:spPr>
      </p:pic>
    </p:spTree>
    <p:custDataLst>
      <p:tags r:id="rId1"/>
    </p:custDataLst>
    <p:extLst>
      <p:ext uri="{BB962C8B-B14F-4D97-AF65-F5344CB8AC3E}">
        <p14:creationId xmlns:p14="http://schemas.microsoft.com/office/powerpoint/2010/main" val="3772378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a:t>可转债正股行业时序图</a:t>
            </a:r>
            <a:r>
              <a:rPr lang="en-US" altLang="zh-CN"/>
              <a:t>(</a:t>
            </a:r>
            <a:r>
              <a:rPr lang="zh-CN" altLang="en-US"/>
              <a:t>穿透</a:t>
            </a:r>
            <a:r>
              <a:rPr lang="en-US" altLang="zh-CN"/>
              <a:t>)_</a:t>
            </a:r>
            <a:r>
              <a:rPr lang="zh-CN" altLang="en-US"/>
              <a:t>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26</a:t>
            </a:fld>
            <a:endParaRPr lang="zh-CN" altLang="en-US" dirty="0"/>
          </a:p>
        </p:txBody>
      </p:sp>
      <p:pic>
        <p:nvPicPr>
          <p:cNvPr id="10" name="图片 9">
            <a:extLst>
              <a:ext uri="{FF2B5EF4-FFF2-40B4-BE49-F238E27FC236}">
                <a16:creationId xmlns:a16="http://schemas.microsoft.com/office/drawing/2014/main" id="{B702D8D5-EB67-68A3-3BF2-4A7C1B33C5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 y="1933441"/>
            <a:ext cx="5238750" cy="2705367"/>
          </a:xfrm>
          <a:prstGeom prst="rect">
            <a:avLst/>
          </a:prstGeom>
        </p:spPr>
      </p:pic>
      <p:pic>
        <p:nvPicPr>
          <p:cNvPr id="14" name="图片 13">
            <a:extLst>
              <a:ext uri="{FF2B5EF4-FFF2-40B4-BE49-F238E27FC236}">
                <a16:creationId xmlns:a16="http://schemas.microsoft.com/office/drawing/2014/main" id="{42ECD045-471C-C6CD-4937-FF76B38457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349945"/>
            <a:ext cx="5238750" cy="3872360"/>
          </a:xfrm>
          <a:prstGeom prst="rect">
            <a:avLst/>
          </a:prstGeom>
        </p:spPr>
      </p:pic>
    </p:spTree>
    <p:custDataLst>
      <p:tags r:id="rId1"/>
    </p:custDataLst>
    <p:extLst>
      <p:ext uri="{BB962C8B-B14F-4D97-AF65-F5344CB8AC3E}">
        <p14:creationId xmlns:p14="http://schemas.microsoft.com/office/powerpoint/2010/main" val="1064466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000" y="2190750"/>
            <a:ext cx="8896350" cy="707886"/>
          </a:xfrm>
          <a:prstGeom prst="rect">
            <a:avLst/>
          </a:prstGeom>
          <a:noFill/>
        </p:spPr>
        <p:txBody>
          <a:bodyPr wrap="square" rtlCol="0">
            <a:spAutoFit/>
          </a:bodyPr>
          <a:lstStyle/>
          <a:p>
            <a:r>
              <a:rPr lang="zh-CN" altLang="en-US" sz="4000" dirty="0">
                <a:solidFill>
                  <a:srgbClr val="A30117"/>
                </a:solidFill>
              </a:rPr>
              <a:t>谋虑尽善 未来尽美 </a:t>
            </a:r>
          </a:p>
        </p:txBody>
      </p:sp>
    </p:spTree>
    <p:custDataLst>
      <p:tags r:id="rId1"/>
    </p:custDataLst>
    <p:extLst>
      <p:ext uri="{BB962C8B-B14F-4D97-AF65-F5344CB8AC3E}">
        <p14:creationId xmlns:p14="http://schemas.microsoft.com/office/powerpoint/2010/main" val="30367629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879686"/>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9.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9.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0.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2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国泰基金-16x9">
  <a:themeElements>
    <a:clrScheme name="国泰基金-红2">
      <a:dk1>
        <a:srgbClr val="000000"/>
      </a:dk1>
      <a:lt1>
        <a:srgbClr val="FFFFFF"/>
      </a:lt1>
      <a:dk2>
        <a:srgbClr val="6E6E6E"/>
      </a:dk2>
      <a:lt2>
        <a:srgbClr val="F4EDE5"/>
      </a:lt2>
      <a:accent1>
        <a:srgbClr val="9E0116"/>
      </a:accent1>
      <a:accent2>
        <a:srgbClr val="5D070C"/>
      </a:accent2>
      <a:accent3>
        <a:srgbClr val="706F71"/>
      </a:accent3>
      <a:accent4>
        <a:srgbClr val="A7A7A7"/>
      </a:accent4>
      <a:accent5>
        <a:srgbClr val="BF9D5A"/>
      </a:accent5>
      <a:accent6>
        <a:srgbClr val="D8C49B"/>
      </a:accent6>
      <a:hlink>
        <a:srgbClr val="A3B4DC"/>
      </a:hlink>
      <a:folHlink>
        <a:srgbClr val="C9C9CA"/>
      </a:folHlink>
    </a:clrScheme>
    <a:fontScheme name="主题标准">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3393</TotalTime>
  <Words>1870</Words>
  <Application>Microsoft Office PowerPoint</Application>
  <PresentationFormat>宽屏</PresentationFormat>
  <Paragraphs>108</Paragraphs>
  <Slides>27</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Microsoft YaHei</vt:lpstr>
      <vt:lpstr>Microsoft YaHei</vt:lpstr>
      <vt:lpstr>Arial</vt:lpstr>
      <vt:lpstr>国泰基金-16x9</vt:lpstr>
      <vt:lpstr>PowerPoint 演示文稿</vt:lpstr>
      <vt:lpstr>PowerPoint 演示文稿</vt:lpstr>
      <vt:lpstr>组合业绩分析</vt:lpstr>
      <vt:lpstr>组合业绩情况</vt:lpstr>
      <vt:lpstr>组合业绩归因</vt:lpstr>
      <vt:lpstr>组合资产配置</vt:lpstr>
      <vt:lpstr>今年以来资产配置回顾</vt:lpstr>
      <vt:lpstr>投资操作回顾</vt:lpstr>
      <vt:lpstr>组合固收投资回顾</vt:lpstr>
      <vt:lpstr>组合固收投资回顾（2）</vt:lpstr>
      <vt:lpstr>组合固收投资回顾（3）</vt:lpstr>
      <vt:lpstr>组合固收投资回顾（4）</vt:lpstr>
      <vt:lpstr>组合固收投资回顾（5）</vt:lpstr>
      <vt:lpstr>组合权益投资回顾</vt:lpstr>
      <vt:lpstr>组合权益投资回顾（2）</vt:lpstr>
      <vt:lpstr>组合权益投资回顾（3）</vt:lpstr>
      <vt:lpstr>下阶段市场研判及组合操作策略</vt:lpstr>
      <vt:lpstr>市场回顾</vt:lpstr>
      <vt:lpstr>市场回顾（2）</vt:lpstr>
      <vt:lpstr>投资策略</vt:lpstr>
      <vt:lpstr>投资策略（2）</vt:lpstr>
      <vt:lpstr>补充数据图表</vt:lpstr>
      <vt:lpstr>养老金产品时序图_数据</vt:lpstr>
      <vt:lpstr>组合可转债仓位变动情况（穿透后）_数据</vt:lpstr>
      <vt:lpstr>可转债正股行业时序图(不穿透)_数据</vt:lpstr>
      <vt:lpstr>可转债正股行业时序图(穿透)_数据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夏田儒</dc:creator>
  <cp:lastModifiedBy>jian xiao</cp:lastModifiedBy>
  <cp:revision>492</cp:revision>
  <cp:lastPrinted>2022-06-28T16:00:00Z</cp:lastPrinted>
  <dcterms:created xsi:type="dcterms:W3CDTF">2022-06-28T16:00:00Z</dcterms:created>
  <dcterms:modified xsi:type="dcterms:W3CDTF">2026-07-20T10:33:14Z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85ca73c1-eec4-4a33-8a9a-111dbd304963</vt:lpwstr>
  </property>
  <property fmtid="{D5CDD505-2E9C-101B-9397-08002B2CF9AE}" pid="3" name="ICV">
    <vt:lpwstr>E5F2C678CA0B4FAAB9FAC379F98CEED4</vt:lpwstr>
  </property>
  <property fmtid="{D5CDD505-2E9C-101B-9397-08002B2CF9AE}" pid="4" name="KSOProductBuildVer">
    <vt:lpwstr>2052-11.8.6.11719</vt:lpwstr>
  </property>
</Properties>
</file>